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36" r:id="rId1"/>
  </p:sldMasterIdLst>
  <p:notesMasterIdLst>
    <p:notesMasterId r:id="rId214"/>
  </p:notesMasterIdLst>
  <p:sldIdLst>
    <p:sldId id="256" r:id="rId2"/>
    <p:sldId id="257" r:id="rId3"/>
    <p:sldId id="258" r:id="rId4"/>
    <p:sldId id="259" r:id="rId5"/>
    <p:sldId id="488" r:id="rId6"/>
    <p:sldId id="326" r:id="rId7"/>
    <p:sldId id="261" r:id="rId8"/>
    <p:sldId id="260" r:id="rId9"/>
    <p:sldId id="262" r:id="rId10"/>
    <p:sldId id="263" r:id="rId11"/>
    <p:sldId id="264" r:id="rId12"/>
    <p:sldId id="265" r:id="rId13"/>
    <p:sldId id="266" r:id="rId14"/>
    <p:sldId id="267" r:id="rId15"/>
    <p:sldId id="268" r:id="rId16"/>
    <p:sldId id="486" r:id="rId17"/>
    <p:sldId id="269" r:id="rId18"/>
    <p:sldId id="487" r:id="rId19"/>
    <p:sldId id="270" r:id="rId20"/>
    <p:sldId id="271" r:id="rId21"/>
    <p:sldId id="272" r:id="rId22"/>
    <p:sldId id="273" r:id="rId23"/>
    <p:sldId id="274" r:id="rId24"/>
    <p:sldId id="275" r:id="rId25"/>
    <p:sldId id="389" r:id="rId26"/>
    <p:sldId id="276" r:id="rId27"/>
    <p:sldId id="344" r:id="rId28"/>
    <p:sldId id="345" r:id="rId29"/>
    <p:sldId id="277" r:id="rId30"/>
    <p:sldId id="278" r:id="rId31"/>
    <p:sldId id="279" r:id="rId32"/>
    <p:sldId id="281" r:id="rId33"/>
    <p:sldId id="282" r:id="rId34"/>
    <p:sldId id="283" r:id="rId35"/>
    <p:sldId id="362" r:id="rId36"/>
    <p:sldId id="364" r:id="rId37"/>
    <p:sldId id="363" r:id="rId38"/>
    <p:sldId id="284" r:id="rId39"/>
    <p:sldId id="285" r:id="rId40"/>
    <p:sldId id="286" r:id="rId41"/>
    <p:sldId id="287" r:id="rId42"/>
    <p:sldId id="288" r:id="rId43"/>
    <p:sldId id="365" r:id="rId44"/>
    <p:sldId id="370" r:id="rId45"/>
    <p:sldId id="371" r:id="rId46"/>
    <p:sldId id="394" r:id="rId47"/>
    <p:sldId id="289" r:id="rId48"/>
    <p:sldId id="290" r:id="rId49"/>
    <p:sldId id="291" r:id="rId50"/>
    <p:sldId id="346" r:id="rId51"/>
    <p:sldId id="347" r:id="rId52"/>
    <p:sldId id="348" r:id="rId53"/>
    <p:sldId id="349" r:id="rId54"/>
    <p:sldId id="350" r:id="rId55"/>
    <p:sldId id="351" r:id="rId56"/>
    <p:sldId id="352" r:id="rId57"/>
    <p:sldId id="354" r:id="rId58"/>
    <p:sldId id="355" r:id="rId59"/>
    <p:sldId id="356" r:id="rId60"/>
    <p:sldId id="292" r:id="rId61"/>
    <p:sldId id="293" r:id="rId62"/>
    <p:sldId id="295" r:id="rId63"/>
    <p:sldId id="360" r:id="rId64"/>
    <p:sldId id="376" r:id="rId65"/>
    <p:sldId id="358" r:id="rId66"/>
    <p:sldId id="359" r:id="rId67"/>
    <p:sldId id="353" r:id="rId68"/>
    <p:sldId id="357" r:id="rId69"/>
    <p:sldId id="361" r:id="rId70"/>
    <p:sldId id="502" r:id="rId71"/>
    <p:sldId id="503" r:id="rId72"/>
    <p:sldId id="504" r:id="rId73"/>
    <p:sldId id="505" r:id="rId74"/>
    <p:sldId id="506" r:id="rId75"/>
    <p:sldId id="489" r:id="rId76"/>
    <p:sldId id="490" r:id="rId77"/>
    <p:sldId id="491" r:id="rId78"/>
    <p:sldId id="492" r:id="rId79"/>
    <p:sldId id="387" r:id="rId80"/>
    <p:sldId id="390" r:id="rId81"/>
    <p:sldId id="391" r:id="rId82"/>
    <p:sldId id="392" r:id="rId83"/>
    <p:sldId id="393" r:id="rId84"/>
    <p:sldId id="395" r:id="rId85"/>
    <p:sldId id="388" r:id="rId86"/>
    <p:sldId id="396" r:id="rId87"/>
    <p:sldId id="397" r:id="rId88"/>
    <p:sldId id="398" r:id="rId89"/>
    <p:sldId id="399" r:id="rId90"/>
    <p:sldId id="416" r:id="rId91"/>
    <p:sldId id="375" r:id="rId92"/>
    <p:sldId id="377" r:id="rId93"/>
    <p:sldId id="378" r:id="rId94"/>
    <p:sldId id="379" r:id="rId95"/>
    <p:sldId id="380" r:id="rId96"/>
    <p:sldId id="381" r:id="rId97"/>
    <p:sldId id="382" r:id="rId98"/>
    <p:sldId id="383" r:id="rId99"/>
    <p:sldId id="384" r:id="rId100"/>
    <p:sldId id="385" r:id="rId101"/>
    <p:sldId id="386" r:id="rId102"/>
    <p:sldId id="493" r:id="rId103"/>
    <p:sldId id="366" r:id="rId104"/>
    <p:sldId id="367" r:id="rId105"/>
    <p:sldId id="368" r:id="rId106"/>
    <p:sldId id="369" r:id="rId107"/>
    <p:sldId id="372" r:id="rId108"/>
    <p:sldId id="373" r:id="rId109"/>
    <p:sldId id="425" r:id="rId110"/>
    <p:sldId id="426" r:id="rId111"/>
    <p:sldId id="374" r:id="rId112"/>
    <p:sldId id="400" r:id="rId113"/>
    <p:sldId id="453" r:id="rId114"/>
    <p:sldId id="454" r:id="rId115"/>
    <p:sldId id="455" r:id="rId116"/>
    <p:sldId id="456" r:id="rId117"/>
    <p:sldId id="496" r:id="rId118"/>
    <p:sldId id="497" r:id="rId119"/>
    <p:sldId id="498" r:id="rId120"/>
    <p:sldId id="499" r:id="rId121"/>
    <p:sldId id="500" r:id="rId122"/>
    <p:sldId id="508" r:id="rId123"/>
    <p:sldId id="501" r:id="rId124"/>
    <p:sldId id="494" r:id="rId125"/>
    <p:sldId id="495" r:id="rId126"/>
    <p:sldId id="404" r:id="rId127"/>
    <p:sldId id="405" r:id="rId128"/>
    <p:sldId id="419" r:id="rId129"/>
    <p:sldId id="406" r:id="rId130"/>
    <p:sldId id="417" r:id="rId131"/>
    <p:sldId id="460" r:id="rId132"/>
    <p:sldId id="461" r:id="rId133"/>
    <p:sldId id="462" r:id="rId134"/>
    <p:sldId id="458" r:id="rId135"/>
    <p:sldId id="459" r:id="rId136"/>
    <p:sldId id="463" r:id="rId137"/>
    <p:sldId id="464" r:id="rId138"/>
    <p:sldId id="465" r:id="rId139"/>
    <p:sldId id="466" r:id="rId140"/>
    <p:sldId id="467" r:id="rId141"/>
    <p:sldId id="418" r:id="rId142"/>
    <p:sldId id="469" r:id="rId143"/>
    <p:sldId id="468" r:id="rId144"/>
    <p:sldId id="420" r:id="rId145"/>
    <p:sldId id="421" r:id="rId146"/>
    <p:sldId id="422" r:id="rId147"/>
    <p:sldId id="423" r:id="rId148"/>
    <p:sldId id="424" r:id="rId149"/>
    <p:sldId id="470" r:id="rId150"/>
    <p:sldId id="471" r:id="rId151"/>
    <p:sldId id="472" r:id="rId152"/>
    <p:sldId id="457" r:id="rId153"/>
    <p:sldId id="401" r:id="rId154"/>
    <p:sldId id="402" r:id="rId155"/>
    <p:sldId id="403" r:id="rId156"/>
    <p:sldId id="407" r:id="rId157"/>
    <p:sldId id="408" r:id="rId158"/>
    <p:sldId id="409" r:id="rId159"/>
    <p:sldId id="410" r:id="rId160"/>
    <p:sldId id="411" r:id="rId161"/>
    <p:sldId id="427" r:id="rId162"/>
    <p:sldId id="428" r:id="rId163"/>
    <p:sldId id="429" r:id="rId164"/>
    <p:sldId id="430" r:id="rId165"/>
    <p:sldId id="431" r:id="rId166"/>
    <p:sldId id="432" r:id="rId167"/>
    <p:sldId id="433" r:id="rId168"/>
    <p:sldId id="412" r:id="rId169"/>
    <p:sldId id="413" r:id="rId170"/>
    <p:sldId id="473" r:id="rId171"/>
    <p:sldId id="474" r:id="rId172"/>
    <p:sldId id="434" r:id="rId173"/>
    <p:sldId id="435" r:id="rId174"/>
    <p:sldId id="415" r:id="rId175"/>
    <p:sldId id="436" r:id="rId176"/>
    <p:sldId id="452" r:id="rId177"/>
    <p:sldId id="482" r:id="rId178"/>
    <p:sldId id="483" r:id="rId179"/>
    <p:sldId id="451" r:id="rId180"/>
    <p:sldId id="438" r:id="rId181"/>
    <p:sldId id="439" r:id="rId182"/>
    <p:sldId id="440" r:id="rId183"/>
    <p:sldId id="441" r:id="rId184"/>
    <p:sldId id="442" r:id="rId185"/>
    <p:sldId id="443" r:id="rId186"/>
    <p:sldId id="445" r:id="rId187"/>
    <p:sldId id="446" r:id="rId188"/>
    <p:sldId id="447" r:id="rId189"/>
    <p:sldId id="448" r:id="rId190"/>
    <p:sldId id="449" r:id="rId191"/>
    <p:sldId id="475" r:id="rId192"/>
    <p:sldId id="476" r:id="rId193"/>
    <p:sldId id="477" r:id="rId194"/>
    <p:sldId id="478" r:id="rId195"/>
    <p:sldId id="484" r:id="rId196"/>
    <p:sldId id="479" r:id="rId197"/>
    <p:sldId id="480" r:id="rId198"/>
    <p:sldId id="485" r:id="rId199"/>
    <p:sldId id="509" r:id="rId200"/>
    <p:sldId id="510" r:id="rId201"/>
    <p:sldId id="511" r:id="rId202"/>
    <p:sldId id="512" r:id="rId203"/>
    <p:sldId id="513" r:id="rId204"/>
    <p:sldId id="514" r:id="rId205"/>
    <p:sldId id="515" r:id="rId206"/>
    <p:sldId id="516" r:id="rId207"/>
    <p:sldId id="517" r:id="rId208"/>
    <p:sldId id="518" r:id="rId209"/>
    <p:sldId id="519" r:id="rId210"/>
    <p:sldId id="520" r:id="rId211"/>
    <p:sldId id="521" r:id="rId212"/>
    <p:sldId id="522" r:id="rId213"/>
  </p:sldIdLst>
  <p:sldSz cx="9144000" cy="6858000" type="screen4x3"/>
  <p:notesSz cx="6858000" cy="9144000"/>
  <p:defaultTextStyle>
    <a:defPPr>
      <a:defRPr lang="fr-FR"/>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Section par défaut" id="{68F92C1A-D60C-4CB4-9138-7584F19E9DF7}">
          <p14:sldIdLst>
            <p14:sldId id="256"/>
            <p14:sldId id="257"/>
            <p14:sldId id="258"/>
            <p14:sldId id="259"/>
            <p14:sldId id="488"/>
            <p14:sldId id="326"/>
            <p14:sldId id="261"/>
            <p14:sldId id="260"/>
            <p14:sldId id="262"/>
            <p14:sldId id="263"/>
            <p14:sldId id="264"/>
            <p14:sldId id="265"/>
            <p14:sldId id="266"/>
            <p14:sldId id="267"/>
            <p14:sldId id="268"/>
            <p14:sldId id="486"/>
            <p14:sldId id="269"/>
            <p14:sldId id="487"/>
            <p14:sldId id="270"/>
            <p14:sldId id="271"/>
            <p14:sldId id="272"/>
            <p14:sldId id="273"/>
            <p14:sldId id="274"/>
            <p14:sldId id="275"/>
            <p14:sldId id="389"/>
            <p14:sldId id="276"/>
            <p14:sldId id="344"/>
            <p14:sldId id="345"/>
            <p14:sldId id="277"/>
            <p14:sldId id="278"/>
            <p14:sldId id="279"/>
            <p14:sldId id="281"/>
            <p14:sldId id="282"/>
            <p14:sldId id="283"/>
            <p14:sldId id="362"/>
            <p14:sldId id="364"/>
            <p14:sldId id="363"/>
            <p14:sldId id="284"/>
            <p14:sldId id="285"/>
            <p14:sldId id="286"/>
            <p14:sldId id="287"/>
            <p14:sldId id="288"/>
            <p14:sldId id="365"/>
            <p14:sldId id="370"/>
            <p14:sldId id="371"/>
            <p14:sldId id="394"/>
            <p14:sldId id="289"/>
            <p14:sldId id="290"/>
            <p14:sldId id="291"/>
            <p14:sldId id="346"/>
            <p14:sldId id="347"/>
            <p14:sldId id="348"/>
            <p14:sldId id="349"/>
            <p14:sldId id="350"/>
            <p14:sldId id="351"/>
            <p14:sldId id="352"/>
            <p14:sldId id="354"/>
            <p14:sldId id="355"/>
            <p14:sldId id="356"/>
            <p14:sldId id="292"/>
            <p14:sldId id="293"/>
            <p14:sldId id="295"/>
            <p14:sldId id="360"/>
            <p14:sldId id="376"/>
            <p14:sldId id="358"/>
            <p14:sldId id="359"/>
            <p14:sldId id="353"/>
            <p14:sldId id="357"/>
            <p14:sldId id="361"/>
            <p14:sldId id="502"/>
            <p14:sldId id="503"/>
            <p14:sldId id="504"/>
            <p14:sldId id="505"/>
            <p14:sldId id="506"/>
            <p14:sldId id="489"/>
            <p14:sldId id="490"/>
            <p14:sldId id="491"/>
            <p14:sldId id="492"/>
            <p14:sldId id="387"/>
            <p14:sldId id="390"/>
            <p14:sldId id="391"/>
            <p14:sldId id="392"/>
            <p14:sldId id="393"/>
            <p14:sldId id="395"/>
            <p14:sldId id="388"/>
            <p14:sldId id="396"/>
            <p14:sldId id="397"/>
            <p14:sldId id="398"/>
            <p14:sldId id="399"/>
            <p14:sldId id="416"/>
            <p14:sldId id="375"/>
            <p14:sldId id="377"/>
            <p14:sldId id="378"/>
            <p14:sldId id="379"/>
            <p14:sldId id="380"/>
            <p14:sldId id="381"/>
            <p14:sldId id="382"/>
            <p14:sldId id="383"/>
            <p14:sldId id="384"/>
            <p14:sldId id="385"/>
            <p14:sldId id="386"/>
            <p14:sldId id="493"/>
            <p14:sldId id="366"/>
            <p14:sldId id="367"/>
            <p14:sldId id="368"/>
            <p14:sldId id="369"/>
            <p14:sldId id="372"/>
            <p14:sldId id="373"/>
            <p14:sldId id="425"/>
            <p14:sldId id="426"/>
            <p14:sldId id="374"/>
            <p14:sldId id="400"/>
            <p14:sldId id="453"/>
            <p14:sldId id="454"/>
            <p14:sldId id="455"/>
            <p14:sldId id="456"/>
            <p14:sldId id="496"/>
            <p14:sldId id="497"/>
            <p14:sldId id="498"/>
            <p14:sldId id="499"/>
            <p14:sldId id="500"/>
            <p14:sldId id="508"/>
            <p14:sldId id="501"/>
            <p14:sldId id="494"/>
            <p14:sldId id="495"/>
            <p14:sldId id="404"/>
            <p14:sldId id="405"/>
            <p14:sldId id="419"/>
            <p14:sldId id="406"/>
            <p14:sldId id="417"/>
            <p14:sldId id="460"/>
            <p14:sldId id="461"/>
            <p14:sldId id="462"/>
            <p14:sldId id="458"/>
            <p14:sldId id="459"/>
            <p14:sldId id="463"/>
            <p14:sldId id="464"/>
            <p14:sldId id="465"/>
            <p14:sldId id="466"/>
            <p14:sldId id="467"/>
            <p14:sldId id="418"/>
            <p14:sldId id="469"/>
            <p14:sldId id="468"/>
            <p14:sldId id="420"/>
            <p14:sldId id="421"/>
            <p14:sldId id="422"/>
            <p14:sldId id="423"/>
            <p14:sldId id="424"/>
            <p14:sldId id="470"/>
            <p14:sldId id="471"/>
            <p14:sldId id="472"/>
            <p14:sldId id="457"/>
            <p14:sldId id="401"/>
            <p14:sldId id="402"/>
            <p14:sldId id="403"/>
            <p14:sldId id="407"/>
            <p14:sldId id="408"/>
            <p14:sldId id="409"/>
            <p14:sldId id="410"/>
            <p14:sldId id="411"/>
            <p14:sldId id="427"/>
            <p14:sldId id="428"/>
            <p14:sldId id="429"/>
            <p14:sldId id="430"/>
            <p14:sldId id="431"/>
            <p14:sldId id="432"/>
            <p14:sldId id="433"/>
            <p14:sldId id="412"/>
            <p14:sldId id="413"/>
            <p14:sldId id="473"/>
            <p14:sldId id="474"/>
            <p14:sldId id="434"/>
            <p14:sldId id="435"/>
            <p14:sldId id="415"/>
            <p14:sldId id="436"/>
            <p14:sldId id="452"/>
            <p14:sldId id="482"/>
            <p14:sldId id="483"/>
            <p14:sldId id="451"/>
            <p14:sldId id="438"/>
            <p14:sldId id="439"/>
            <p14:sldId id="440"/>
            <p14:sldId id="441"/>
            <p14:sldId id="442"/>
            <p14:sldId id="443"/>
            <p14:sldId id="445"/>
            <p14:sldId id="446"/>
            <p14:sldId id="447"/>
            <p14:sldId id="448"/>
            <p14:sldId id="449"/>
            <p14:sldId id="475"/>
            <p14:sldId id="476"/>
            <p14:sldId id="477"/>
            <p14:sldId id="478"/>
            <p14:sldId id="484"/>
            <p14:sldId id="479"/>
            <p14:sldId id="480"/>
            <p14:sldId id="485"/>
            <p14:sldId id="509"/>
            <p14:sldId id="510"/>
            <p14:sldId id="511"/>
            <p14:sldId id="512"/>
            <p14:sldId id="513"/>
            <p14:sldId id="514"/>
            <p14:sldId id="515"/>
            <p14:sldId id="516"/>
            <p14:sldId id="517"/>
            <p14:sldId id="518"/>
            <p14:sldId id="519"/>
            <p14:sldId id="520"/>
            <p14:sldId id="521"/>
            <p14:sldId id="52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61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slide" Target="slides/slide180.xml"/><Relationship Id="rId186" Type="http://schemas.openxmlformats.org/officeDocument/2006/relationships/slide" Target="slides/slide185.xml"/><Relationship Id="rId216" Type="http://schemas.openxmlformats.org/officeDocument/2006/relationships/viewProps" Target="viewProps.xml"/><Relationship Id="rId211" Type="http://schemas.openxmlformats.org/officeDocument/2006/relationships/slide" Target="slides/slide210.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slide" Target="slides/slide191.xml"/><Relationship Id="rId197" Type="http://schemas.openxmlformats.org/officeDocument/2006/relationships/slide" Target="slides/slide196.xml"/><Relationship Id="rId206" Type="http://schemas.openxmlformats.org/officeDocument/2006/relationships/slide" Target="slides/slide205.xml"/><Relationship Id="rId201" Type="http://schemas.openxmlformats.org/officeDocument/2006/relationships/slide" Target="slides/slide200.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217"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12" Type="http://schemas.openxmlformats.org/officeDocument/2006/relationships/slide" Target="slides/slide211.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notesMaster" Target="notesMasters/notesMaster1.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presProps" Target="presProp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fr-FR"/>
          </a:p>
        </p:txBody>
      </p:sp>
      <p:sp>
        <p:nvSpPr>
          <p:cNvPr id="4403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fr-FR"/>
          </a:p>
        </p:txBody>
      </p:sp>
      <p:sp>
        <p:nvSpPr>
          <p:cNvPr id="10342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403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fr-FR" noProof="0" smtClean="0"/>
              <a:t>Cliquez pour modifier les styles du texte du masque</a:t>
            </a:r>
          </a:p>
          <a:p>
            <a:pPr lvl="1"/>
            <a:r>
              <a:rPr lang="fr-FR" noProof="0" smtClean="0"/>
              <a:t>Deuxième niveau</a:t>
            </a:r>
          </a:p>
          <a:p>
            <a:pPr lvl="2"/>
            <a:r>
              <a:rPr lang="fr-FR" noProof="0" smtClean="0"/>
              <a:t>Troisième niveau</a:t>
            </a:r>
          </a:p>
          <a:p>
            <a:pPr lvl="3"/>
            <a:r>
              <a:rPr lang="fr-FR" noProof="0" smtClean="0"/>
              <a:t>Quatrième niveau</a:t>
            </a:r>
          </a:p>
          <a:p>
            <a:pPr lvl="4"/>
            <a:r>
              <a:rPr lang="fr-FR" noProof="0" smtClean="0"/>
              <a:t>Cinquième niveau</a:t>
            </a:r>
          </a:p>
        </p:txBody>
      </p:sp>
      <p:sp>
        <p:nvSpPr>
          <p:cNvPr id="4403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fr-FR"/>
          </a:p>
        </p:txBody>
      </p:sp>
      <p:sp>
        <p:nvSpPr>
          <p:cNvPr id="4403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58E23D1E-64D2-460A-9B32-68D19D8A6D8A}" type="slidenum">
              <a:rPr lang="fr-FR"/>
              <a:pPr>
                <a:defRPr/>
              </a:pPr>
              <a:t>‹N°›</a:t>
            </a:fld>
            <a:endParaRPr lang="fr-FR"/>
          </a:p>
        </p:txBody>
      </p:sp>
    </p:spTree>
    <p:extLst>
      <p:ext uri="{BB962C8B-B14F-4D97-AF65-F5344CB8AC3E}">
        <p14:creationId xmlns:p14="http://schemas.microsoft.com/office/powerpoint/2010/main" val="27530346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5f391192_07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5f391192_0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5f391192_0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5f391192_0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5f391192_0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
        <p:cNvGrpSpPr/>
        <p:nvPr/>
      </p:nvGrpSpPr>
      <p:grpSpPr>
        <a:xfrm>
          <a:off x="0" y="0"/>
          <a:ext cx="0" cy="0"/>
          <a:chOff x="0" y="0"/>
          <a:chExt cx="0" cy="0"/>
        </a:xfrm>
      </p:grpSpPr>
      <p:sp>
        <p:nvSpPr>
          <p:cNvPr id="861" name="Google Shape;861;g65a9b7b9e6_6_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2" name="Google Shape;862;g65a9b7b9e6_6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5f391192_07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5f391192_0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5f391192_0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5f391192_0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5f391192_0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5f391192_0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
        <p:cNvGrpSpPr/>
        <p:nvPr/>
      </p:nvGrpSpPr>
      <p:grpSpPr>
        <a:xfrm>
          <a:off x="0" y="0"/>
          <a:ext cx="0" cy="0"/>
          <a:chOff x="0" y="0"/>
          <a:chExt cx="0" cy="0"/>
        </a:xfrm>
      </p:grpSpPr>
      <p:sp>
        <p:nvSpPr>
          <p:cNvPr id="861" name="Google Shape;861;g65a9b7b9e6_6_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2" name="Google Shape;862;g65a9b7b9e6_6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ectangle à coins arrondis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ous-titr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Modifiez le style des sous-titres du masque</a:t>
            </a:r>
            <a:endParaRPr kumimoji="0" lang="en-US"/>
          </a:p>
        </p:txBody>
      </p:sp>
      <p:sp>
        <p:nvSpPr>
          <p:cNvPr id="28" name="Espace réservé de la date 27"/>
          <p:cNvSpPr>
            <a:spLocks noGrp="1"/>
          </p:cNvSpPr>
          <p:nvPr>
            <p:ph type="dt" sz="half" idx="10"/>
          </p:nvPr>
        </p:nvSpPr>
        <p:spPr/>
        <p:txBody>
          <a:bodyPr/>
          <a:lstStyle/>
          <a:p>
            <a:pPr>
              <a:defRPr/>
            </a:pPr>
            <a:endParaRPr lang="fr-FR"/>
          </a:p>
        </p:txBody>
      </p:sp>
      <p:sp>
        <p:nvSpPr>
          <p:cNvPr id="17" name="Espace réservé du pied de page 16"/>
          <p:cNvSpPr>
            <a:spLocks noGrp="1"/>
          </p:cNvSpPr>
          <p:nvPr>
            <p:ph type="ftr" sz="quarter" idx="11"/>
          </p:nvPr>
        </p:nvSpPr>
        <p:spPr/>
        <p:txBody>
          <a:bodyPr/>
          <a:lstStyle/>
          <a:p>
            <a:pPr>
              <a:defRPr/>
            </a:pPr>
            <a:endParaRPr lang="fr-FR"/>
          </a:p>
        </p:txBody>
      </p:sp>
      <p:sp>
        <p:nvSpPr>
          <p:cNvPr id="29" name="Espace réservé du numéro de diapositive 28"/>
          <p:cNvSpPr>
            <a:spLocks noGrp="1"/>
          </p:cNvSpPr>
          <p:nvPr>
            <p:ph type="sldNum" sz="quarter" idx="12"/>
          </p:nvPr>
        </p:nvSpPr>
        <p:spPr/>
        <p:txBody>
          <a:bodyPr lIns="0" tIns="0" rIns="0" bIns="0">
            <a:noAutofit/>
          </a:bodyPr>
          <a:lstStyle>
            <a:lvl1pPr>
              <a:defRPr sz="1400">
                <a:solidFill>
                  <a:srgbClr val="FFFFFF"/>
                </a:solidFill>
              </a:defRPr>
            </a:lvl1pPr>
          </a:lstStyle>
          <a:p>
            <a:pPr>
              <a:defRPr/>
            </a:pPr>
            <a:fld id="{352A779B-25ED-4EB8-A9DF-40B14511DE92}" type="slidenum">
              <a:rPr lang="fr-FR" smtClean="0"/>
              <a:pPr>
                <a:defRPr/>
              </a:pPr>
              <a:t>‹N°›</a:t>
            </a:fld>
            <a:endParaRPr lang="fr-FR"/>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r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fr-FR" smtClean="0"/>
              <a:t>Modifiez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Modifiez le style du titre</a:t>
            </a:r>
            <a:endParaRPr kumimoji="0" lang="en-US"/>
          </a:p>
        </p:txBody>
      </p:sp>
      <p:sp>
        <p:nvSpPr>
          <p:cNvPr id="4" name="Espace réservé de la date 3"/>
          <p:cNvSpPr>
            <a:spLocks noGrp="1"/>
          </p:cNvSpPr>
          <p:nvPr>
            <p:ph type="dt" sz="half"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endParaRPr lang="fr-FR"/>
          </a:p>
        </p:txBody>
      </p:sp>
      <p:sp>
        <p:nvSpPr>
          <p:cNvPr id="6" name="Espace réservé du numéro de diapositive 5"/>
          <p:cNvSpPr>
            <a:spLocks noGrp="1"/>
          </p:cNvSpPr>
          <p:nvPr>
            <p:ph type="sldNum" sz="quarter" idx="12"/>
          </p:nvPr>
        </p:nvSpPr>
        <p:spPr/>
        <p:txBody>
          <a:bodyPr/>
          <a:lstStyle/>
          <a:p>
            <a:pPr>
              <a:defRPr/>
            </a:pPr>
            <a:fld id="{2587FB62-00FB-47AF-8468-6E513D457B45}" type="slidenum">
              <a:rPr lang="fr-FR" smtClean="0"/>
              <a:pPr>
                <a:defRPr/>
              </a:pPr>
              <a:t>‹N°›</a:t>
            </a:fld>
            <a:endParaRPr lang="fr-FR"/>
          </a:p>
        </p:txBody>
      </p:sp>
      <p:sp>
        <p:nvSpPr>
          <p:cNvPr id="8" name="Espace réservé du contenu 7"/>
          <p:cNvSpPr>
            <a:spLocks noGrp="1"/>
          </p:cNvSpPr>
          <p:nvPr>
            <p:ph sz="quarter" idx="1"/>
          </p:nvPr>
        </p:nvSpPr>
        <p:spPr>
          <a:xfrm>
            <a:off x="914400" y="1447800"/>
            <a:ext cx="7772400" cy="4572000"/>
          </a:xfrm>
        </p:spPr>
        <p:txBody>
          <a:bodyPr vert="horz"/>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ectangle à coins arrondis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fr-FR" smtClean="0"/>
              <a:t>Modifiez le style du titre</a:t>
            </a:r>
            <a:endParaRPr kumimoji="0" lang="en-US"/>
          </a:p>
        </p:txBody>
      </p:sp>
      <p:sp>
        <p:nvSpPr>
          <p:cNvPr id="3" name="Espace réservé du texte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Modifiez les styles du texte du masque</a:t>
            </a:r>
          </a:p>
        </p:txBody>
      </p:sp>
      <p:sp>
        <p:nvSpPr>
          <p:cNvPr id="4" name="Espace réservé de la date 3"/>
          <p:cNvSpPr>
            <a:spLocks noGrp="1"/>
          </p:cNvSpPr>
          <p:nvPr>
            <p:ph type="dt" sz="half" idx="10"/>
          </p:nvPr>
        </p:nvSpPr>
        <p:spPr/>
        <p:txBody>
          <a:bodyPr/>
          <a:lstStyle/>
          <a:p>
            <a:pPr>
              <a:defRPr/>
            </a:pPr>
            <a:endParaRPr lang="fr-FR"/>
          </a:p>
        </p:txBody>
      </p:sp>
      <p:sp>
        <p:nvSpPr>
          <p:cNvPr id="5" name="Espace réservé du pied de page 4"/>
          <p:cNvSpPr>
            <a:spLocks noGrp="1"/>
          </p:cNvSpPr>
          <p:nvPr>
            <p:ph type="ftr" sz="quarter" idx="11"/>
          </p:nvPr>
        </p:nvSpPr>
        <p:spPr>
          <a:xfrm>
            <a:off x="800100" y="6172200"/>
            <a:ext cx="4000500" cy="457200"/>
          </a:xfrm>
        </p:spPr>
        <p:txBody>
          <a:bodyPr/>
          <a:lstStyle/>
          <a:p>
            <a:pPr>
              <a:defRPr/>
            </a:pPr>
            <a:endParaRPr lang="fr-FR"/>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146304" y="6208776"/>
            <a:ext cx="457200" cy="457200"/>
          </a:xfrm>
        </p:spPr>
        <p:txBody>
          <a:bodyPr/>
          <a:lstStyle/>
          <a:p>
            <a:pPr>
              <a:defRPr/>
            </a:pPr>
            <a:fld id="{A9288C6A-816D-4315-ABEC-F927C9FE9EDB}" type="slidenum">
              <a:rPr lang="fr-FR" smtClean="0"/>
              <a:pPr>
                <a:defRPr/>
              </a:pPr>
              <a:t>‹N°›</a:t>
            </a:fld>
            <a:endParaRPr lang="fr-F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Modifiez le style du titre</a:t>
            </a:r>
            <a:endParaRPr kumimoji="0" lang="en-US"/>
          </a:p>
        </p:txBody>
      </p:sp>
      <p:sp>
        <p:nvSpPr>
          <p:cNvPr id="5" name="Espace réservé de la date 4"/>
          <p:cNvSpPr>
            <a:spLocks noGrp="1"/>
          </p:cNvSpPr>
          <p:nvPr>
            <p:ph type="dt" sz="half" idx="10"/>
          </p:nvPr>
        </p:nvSpPr>
        <p:spPr/>
        <p:txBody>
          <a:bodyPr/>
          <a:lstStyle/>
          <a:p>
            <a:pPr>
              <a:defRPr/>
            </a:pPr>
            <a:endParaRPr lang="fr-FR"/>
          </a:p>
        </p:txBody>
      </p:sp>
      <p:sp>
        <p:nvSpPr>
          <p:cNvPr id="6" name="Espace réservé du pied de page 5"/>
          <p:cNvSpPr>
            <a:spLocks noGrp="1"/>
          </p:cNvSpPr>
          <p:nvPr>
            <p:ph type="ftr" sz="quarter" idx="11"/>
          </p:nvPr>
        </p:nvSpPr>
        <p:spPr/>
        <p:txBody>
          <a:bodyPr/>
          <a:lstStyle/>
          <a:p>
            <a:pPr>
              <a:defRPr/>
            </a:pPr>
            <a:endParaRPr lang="fr-FR"/>
          </a:p>
        </p:txBody>
      </p:sp>
      <p:sp>
        <p:nvSpPr>
          <p:cNvPr id="7" name="Espace réservé du numéro de diapositive 6"/>
          <p:cNvSpPr>
            <a:spLocks noGrp="1"/>
          </p:cNvSpPr>
          <p:nvPr>
            <p:ph type="sldNum" sz="quarter" idx="12"/>
          </p:nvPr>
        </p:nvSpPr>
        <p:spPr/>
        <p:txBody>
          <a:bodyPr/>
          <a:lstStyle/>
          <a:p>
            <a:pPr>
              <a:defRPr/>
            </a:pPr>
            <a:fld id="{2C44869E-E76C-473A-9F69-CC8C587764DD}" type="slidenum">
              <a:rPr lang="fr-FR" smtClean="0"/>
              <a:pPr>
                <a:defRPr/>
              </a:pPr>
              <a:t>‹N°›</a:t>
            </a:fld>
            <a:endParaRPr lang="fr-FR"/>
          </a:p>
        </p:txBody>
      </p:sp>
      <p:sp>
        <p:nvSpPr>
          <p:cNvPr id="9" name="Espace réservé du contenu 8"/>
          <p:cNvSpPr>
            <a:spLocks noGrp="1"/>
          </p:cNvSpPr>
          <p:nvPr>
            <p:ph sz="quarter" idx="1"/>
          </p:nvPr>
        </p:nvSpPr>
        <p:spPr>
          <a:xfrm>
            <a:off x="914400" y="1447800"/>
            <a:ext cx="3749040" cy="4572000"/>
          </a:xfrm>
        </p:spPr>
        <p:txBody>
          <a:bodyPr vert="horz"/>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1" name="Espace réservé du contenu 10"/>
          <p:cNvSpPr>
            <a:spLocks noGrp="1"/>
          </p:cNvSpPr>
          <p:nvPr>
            <p:ph sz="quarter" idx="2"/>
          </p:nvPr>
        </p:nvSpPr>
        <p:spPr>
          <a:xfrm>
            <a:off x="4933950" y="1447800"/>
            <a:ext cx="3749040" cy="4572000"/>
          </a:xfrm>
        </p:spPr>
        <p:txBody>
          <a:bodyPr vert="horz"/>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914400" y="273050"/>
            <a:ext cx="7772400" cy="1143000"/>
          </a:xfrm>
        </p:spPr>
        <p:txBody>
          <a:bodyPr anchor="b" anchorCtr="0"/>
          <a:lstStyle>
            <a:lvl1pPr>
              <a:defRPr/>
            </a:lvl1pPr>
          </a:lstStyle>
          <a:p>
            <a:r>
              <a:rPr kumimoji="0" lang="fr-FR" smtClean="0"/>
              <a:t>Modifiez le style du titre</a:t>
            </a:r>
            <a:endParaRPr kumimoji="0" lang="en-US"/>
          </a:p>
        </p:txBody>
      </p:sp>
      <p:sp>
        <p:nvSpPr>
          <p:cNvPr id="3" name="Espace réservé du texte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Modifiez les styles du texte du masque</a:t>
            </a:r>
          </a:p>
        </p:txBody>
      </p:sp>
      <p:sp>
        <p:nvSpPr>
          <p:cNvPr id="4" name="Espace réservé du texte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Modifiez les styles du texte du masque</a:t>
            </a:r>
          </a:p>
        </p:txBody>
      </p:sp>
      <p:sp>
        <p:nvSpPr>
          <p:cNvPr id="7" name="Espace réservé de la date 6"/>
          <p:cNvSpPr>
            <a:spLocks noGrp="1"/>
          </p:cNvSpPr>
          <p:nvPr>
            <p:ph type="dt" sz="half" idx="10"/>
          </p:nvPr>
        </p:nvSpPr>
        <p:spPr/>
        <p:txBody>
          <a:bodyPr/>
          <a:lstStyle/>
          <a:p>
            <a:pPr>
              <a:defRPr/>
            </a:pPr>
            <a:endParaRPr lang="fr-FR"/>
          </a:p>
        </p:txBody>
      </p:sp>
      <p:sp>
        <p:nvSpPr>
          <p:cNvPr id="8" name="Espace réservé du pied de page 7"/>
          <p:cNvSpPr>
            <a:spLocks noGrp="1"/>
          </p:cNvSpPr>
          <p:nvPr>
            <p:ph type="ftr" sz="quarter" idx="11"/>
          </p:nvPr>
        </p:nvSpPr>
        <p:spPr/>
        <p:txBody>
          <a:bodyPr/>
          <a:lstStyle/>
          <a:p>
            <a:pPr>
              <a:defRPr/>
            </a:pPr>
            <a:endParaRPr lang="fr-FR"/>
          </a:p>
        </p:txBody>
      </p:sp>
      <p:sp>
        <p:nvSpPr>
          <p:cNvPr id="9" name="Espace réservé du numéro de diapositive 8"/>
          <p:cNvSpPr>
            <a:spLocks noGrp="1"/>
          </p:cNvSpPr>
          <p:nvPr>
            <p:ph type="sldNum" sz="quarter" idx="12"/>
          </p:nvPr>
        </p:nvSpPr>
        <p:spPr/>
        <p:txBody>
          <a:bodyPr/>
          <a:lstStyle/>
          <a:p>
            <a:pPr>
              <a:defRPr/>
            </a:pPr>
            <a:fld id="{181038DB-4641-4710-B87C-10B3F046BEF7}" type="slidenum">
              <a:rPr lang="fr-FR" smtClean="0"/>
              <a:pPr>
                <a:defRPr/>
              </a:pPr>
              <a:t>‹N°›</a:t>
            </a:fld>
            <a:endParaRPr lang="fr-FR"/>
          </a:p>
        </p:txBody>
      </p:sp>
      <p:sp>
        <p:nvSpPr>
          <p:cNvPr id="11" name="Espace réservé du contenu 10"/>
          <p:cNvSpPr>
            <a:spLocks noGrp="1"/>
          </p:cNvSpPr>
          <p:nvPr>
            <p:ph sz="half" idx="2"/>
          </p:nvPr>
        </p:nvSpPr>
        <p:spPr>
          <a:xfrm>
            <a:off x="914400" y="2247900"/>
            <a:ext cx="3733800" cy="3886200"/>
          </a:xfrm>
        </p:spPr>
        <p:txBody>
          <a:bodyPr vert="horz"/>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3" name="Espace réservé du contenu 12"/>
          <p:cNvSpPr>
            <a:spLocks noGrp="1"/>
          </p:cNvSpPr>
          <p:nvPr>
            <p:ph sz="half" idx="4"/>
          </p:nvPr>
        </p:nvSpPr>
        <p:spPr>
          <a:xfrm>
            <a:off x="4953000" y="2247900"/>
            <a:ext cx="3733800" cy="3886200"/>
          </a:xfrm>
        </p:spPr>
        <p:txBody>
          <a:bodyPr vert="horz"/>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Modifiez le style du titre</a:t>
            </a:r>
            <a:endParaRPr kumimoji="0" lang="en-US"/>
          </a:p>
        </p:txBody>
      </p:sp>
      <p:sp>
        <p:nvSpPr>
          <p:cNvPr id="3" name="Espace réservé de la date 2"/>
          <p:cNvSpPr>
            <a:spLocks noGrp="1"/>
          </p:cNvSpPr>
          <p:nvPr>
            <p:ph type="dt" sz="half" idx="10"/>
          </p:nvPr>
        </p:nvSpPr>
        <p:spPr/>
        <p:txBody>
          <a:bodyPr/>
          <a:lstStyle/>
          <a:p>
            <a:pPr>
              <a:defRPr/>
            </a:pPr>
            <a:endParaRPr lang="fr-FR"/>
          </a:p>
        </p:txBody>
      </p:sp>
      <p:sp>
        <p:nvSpPr>
          <p:cNvPr id="4" name="Espace réservé du pied de page 3"/>
          <p:cNvSpPr>
            <a:spLocks noGrp="1"/>
          </p:cNvSpPr>
          <p:nvPr>
            <p:ph type="ftr" sz="quarter" idx="11"/>
          </p:nvPr>
        </p:nvSpPr>
        <p:spPr/>
        <p:txBody>
          <a:bodyPr/>
          <a:lstStyle/>
          <a:p>
            <a:pPr>
              <a:defRPr/>
            </a:pPr>
            <a:endParaRPr lang="fr-FR"/>
          </a:p>
        </p:txBody>
      </p:sp>
      <p:sp>
        <p:nvSpPr>
          <p:cNvPr id="5" name="Espace réservé du numéro de diapositive 4"/>
          <p:cNvSpPr>
            <a:spLocks noGrp="1"/>
          </p:cNvSpPr>
          <p:nvPr>
            <p:ph type="sldNum" sz="quarter" idx="12"/>
          </p:nvPr>
        </p:nvSpPr>
        <p:spPr/>
        <p:txBody>
          <a:bodyPr/>
          <a:lstStyle/>
          <a:p>
            <a:pPr>
              <a:defRPr/>
            </a:pPr>
            <a:fld id="{AAAE4D1E-9A57-4724-88C0-7A69C2163C5C}" type="slidenum">
              <a:rPr lang="fr-FR" smtClean="0"/>
              <a:pPr>
                <a:defRPr/>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pPr>
              <a:defRPr/>
            </a:pPr>
            <a:endParaRPr lang="fr-FR"/>
          </a:p>
        </p:txBody>
      </p:sp>
      <p:sp>
        <p:nvSpPr>
          <p:cNvPr id="3" name="Espace réservé du pied de page 2"/>
          <p:cNvSpPr>
            <a:spLocks noGrp="1"/>
          </p:cNvSpPr>
          <p:nvPr>
            <p:ph type="ftr" sz="quarter" idx="11"/>
          </p:nvPr>
        </p:nvSpPr>
        <p:spPr/>
        <p:txBody>
          <a:bodyPr/>
          <a:lstStyle/>
          <a:p>
            <a:pPr>
              <a:defRPr/>
            </a:pPr>
            <a:endParaRPr lang="fr-FR"/>
          </a:p>
        </p:txBody>
      </p:sp>
      <p:sp>
        <p:nvSpPr>
          <p:cNvPr id="4" name="Espace réservé du numéro de diapositive 3"/>
          <p:cNvSpPr>
            <a:spLocks noGrp="1"/>
          </p:cNvSpPr>
          <p:nvPr>
            <p:ph type="sldNum" sz="quarter" idx="12"/>
          </p:nvPr>
        </p:nvSpPr>
        <p:spPr/>
        <p:txBody>
          <a:bodyPr/>
          <a:lstStyle/>
          <a:p>
            <a:pPr>
              <a:defRPr/>
            </a:pPr>
            <a:fld id="{27A802A2-F6F2-40FB-A1A0-19ABC3B267FE}" type="slidenum">
              <a:rPr lang="fr-FR" smtClean="0"/>
              <a:pPr>
                <a:defRPr/>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ectangle à coins arrondis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914400" y="273050"/>
            <a:ext cx="7772400" cy="1143000"/>
          </a:xfrm>
        </p:spPr>
        <p:txBody>
          <a:bodyPr anchor="b" anchorCtr="0"/>
          <a:lstStyle>
            <a:lvl1pPr algn="l">
              <a:buNone/>
              <a:defRPr sz="4000" b="0"/>
            </a:lvl1pPr>
          </a:lstStyle>
          <a:p>
            <a:r>
              <a:rPr kumimoji="0" lang="fr-FR" smtClean="0"/>
              <a:t>Modifiez le style du titre</a:t>
            </a:r>
            <a:endParaRPr kumimoji="0" lang="en-US"/>
          </a:p>
        </p:txBody>
      </p:sp>
      <p:sp>
        <p:nvSpPr>
          <p:cNvPr id="3" name="Espace réservé du texte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fr-FR" smtClean="0"/>
              <a:t>Modifiez les styles du texte du masque</a:t>
            </a:r>
          </a:p>
        </p:txBody>
      </p:sp>
      <p:sp>
        <p:nvSpPr>
          <p:cNvPr id="5" name="Espace réservé de la date 4"/>
          <p:cNvSpPr>
            <a:spLocks noGrp="1"/>
          </p:cNvSpPr>
          <p:nvPr>
            <p:ph type="dt" sz="half" idx="10"/>
          </p:nvPr>
        </p:nvSpPr>
        <p:spPr/>
        <p:txBody>
          <a:bodyPr/>
          <a:lstStyle/>
          <a:p>
            <a:pPr>
              <a:defRPr/>
            </a:pPr>
            <a:endParaRPr lang="fr-FR"/>
          </a:p>
        </p:txBody>
      </p:sp>
      <p:sp>
        <p:nvSpPr>
          <p:cNvPr id="6" name="Espace réservé du pied de page 5"/>
          <p:cNvSpPr>
            <a:spLocks noGrp="1"/>
          </p:cNvSpPr>
          <p:nvPr>
            <p:ph type="ftr" sz="quarter" idx="11"/>
          </p:nvPr>
        </p:nvSpPr>
        <p:spPr/>
        <p:txBody>
          <a:bodyPr/>
          <a:lstStyle/>
          <a:p>
            <a:pPr>
              <a:defRPr/>
            </a:pPr>
            <a:endParaRPr lang="fr-FR"/>
          </a:p>
        </p:txBody>
      </p:sp>
      <p:sp>
        <p:nvSpPr>
          <p:cNvPr id="7" name="Espace réservé du numéro de diapositive 6"/>
          <p:cNvSpPr>
            <a:spLocks noGrp="1"/>
          </p:cNvSpPr>
          <p:nvPr>
            <p:ph type="sldNum" sz="quarter" idx="12"/>
          </p:nvPr>
        </p:nvSpPr>
        <p:spPr/>
        <p:txBody>
          <a:bodyPr/>
          <a:lstStyle/>
          <a:p>
            <a:pPr>
              <a:defRPr/>
            </a:pPr>
            <a:fld id="{333226F2-908D-4C6B-8025-1B5E108D524D}" type="slidenum">
              <a:rPr lang="fr-FR" smtClean="0"/>
              <a:pPr>
                <a:defRPr/>
              </a:pPr>
              <a:t>‹N°›</a:t>
            </a:fld>
            <a:endParaRPr lang="fr-FR"/>
          </a:p>
        </p:txBody>
      </p:sp>
      <p:sp>
        <p:nvSpPr>
          <p:cNvPr id="11" name="Espace réservé du contenu 10"/>
          <p:cNvSpPr>
            <a:spLocks noGrp="1"/>
          </p:cNvSpPr>
          <p:nvPr>
            <p:ph sz="quarter" idx="1"/>
          </p:nvPr>
        </p:nvSpPr>
        <p:spPr>
          <a:xfrm>
            <a:off x="2971800" y="1600200"/>
            <a:ext cx="5715000" cy="4495800"/>
          </a:xfrm>
        </p:spPr>
        <p:txBody>
          <a:bodyPr vert="horz"/>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fr-FR" smtClean="0"/>
              <a:t>Modifiez le style du titre</a:t>
            </a:r>
            <a:endParaRPr kumimoji="0" lang="en-US"/>
          </a:p>
        </p:txBody>
      </p:sp>
      <p:sp>
        <p:nvSpPr>
          <p:cNvPr id="4" name="Espace réservé du texte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fr-FR" smtClean="0"/>
              <a:t>Modifiez les styles du texte du masque</a:t>
            </a:r>
          </a:p>
        </p:txBody>
      </p:sp>
      <p:sp>
        <p:nvSpPr>
          <p:cNvPr id="5" name="Espace réservé de la date 4"/>
          <p:cNvSpPr>
            <a:spLocks noGrp="1"/>
          </p:cNvSpPr>
          <p:nvPr>
            <p:ph type="dt" sz="half" idx="10"/>
          </p:nvPr>
        </p:nvSpPr>
        <p:spPr/>
        <p:txBody>
          <a:bodyPr/>
          <a:lstStyle/>
          <a:p>
            <a:pPr>
              <a:defRPr/>
            </a:pPr>
            <a:endParaRPr lang="fr-FR"/>
          </a:p>
        </p:txBody>
      </p:sp>
      <p:sp>
        <p:nvSpPr>
          <p:cNvPr id="6" name="Espace réservé du pied de page 5"/>
          <p:cNvSpPr>
            <a:spLocks noGrp="1"/>
          </p:cNvSpPr>
          <p:nvPr>
            <p:ph type="ftr" sz="quarter" idx="11"/>
          </p:nvPr>
        </p:nvSpPr>
        <p:spPr>
          <a:xfrm>
            <a:off x="914400" y="6172200"/>
            <a:ext cx="3886200" cy="457200"/>
          </a:xfrm>
        </p:spPr>
        <p:txBody>
          <a:bodyPr/>
          <a:lstStyle/>
          <a:p>
            <a:pPr>
              <a:defRPr/>
            </a:pPr>
            <a:endParaRPr lang="fr-FR"/>
          </a:p>
        </p:txBody>
      </p:sp>
      <p:sp>
        <p:nvSpPr>
          <p:cNvPr id="7" name="Espace réservé du numéro de diapositive 6"/>
          <p:cNvSpPr>
            <a:spLocks noGrp="1"/>
          </p:cNvSpPr>
          <p:nvPr>
            <p:ph type="sldNum" sz="quarter" idx="12"/>
          </p:nvPr>
        </p:nvSpPr>
        <p:spPr>
          <a:xfrm>
            <a:off x="146304" y="6208776"/>
            <a:ext cx="457200" cy="457200"/>
          </a:xfrm>
        </p:spPr>
        <p:txBody>
          <a:bodyPr/>
          <a:lstStyle/>
          <a:p>
            <a:pPr>
              <a:defRPr/>
            </a:pPr>
            <a:fld id="{A9BF726A-2A4C-4C9A-BE27-7764A1AFD8ED}" type="slidenum">
              <a:rPr lang="fr-FR" smtClean="0"/>
              <a:pPr>
                <a:defRPr/>
              </a:pPr>
              <a:t>‹N°›</a:t>
            </a:fld>
            <a:endParaRPr lang="fr-FR"/>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Espace réservé pour une image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fr-FR" smtClean="0"/>
              <a:t>Cliquez sur l'icône pour ajouter une image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Modifiez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endParaRPr lang="fr-FR"/>
          </a:p>
        </p:txBody>
      </p:sp>
      <p:sp>
        <p:nvSpPr>
          <p:cNvPr id="6" name="Espace réservé du numéro de diapositive 5"/>
          <p:cNvSpPr>
            <a:spLocks noGrp="1"/>
          </p:cNvSpPr>
          <p:nvPr>
            <p:ph type="sldNum" sz="quarter" idx="12"/>
          </p:nvPr>
        </p:nvSpPr>
        <p:spPr/>
        <p:txBody>
          <a:bodyPr/>
          <a:lstStyle/>
          <a:p>
            <a:pPr>
              <a:defRPr/>
            </a:pPr>
            <a:fld id="{832C4745-C549-4AFC-948C-68B2DA741AE5}" type="slidenum">
              <a:rPr lang="fr-FR" smtClean="0"/>
              <a:pPr>
                <a:defRPr/>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41"/>
            <a:ext cx="2011680" cy="5851525"/>
          </a:xfrm>
        </p:spPr>
        <p:txBody>
          <a:bodyPr vert="eaVert"/>
          <a:lstStyle/>
          <a:p>
            <a:r>
              <a:rPr kumimoji="0" lang="fr-FR" smtClean="0"/>
              <a:t>Modifiez le style du titre</a:t>
            </a:r>
            <a:endParaRPr kumimoji="0" lang="en-US"/>
          </a:p>
        </p:txBody>
      </p:sp>
      <p:sp>
        <p:nvSpPr>
          <p:cNvPr id="3" name="Espace réservé du texte vertical 2"/>
          <p:cNvSpPr>
            <a:spLocks noGrp="1"/>
          </p:cNvSpPr>
          <p:nvPr>
            <p:ph type="body" orient="vert" idx="1"/>
          </p:nvPr>
        </p:nvSpPr>
        <p:spPr>
          <a:xfrm>
            <a:off x="914400" y="274640"/>
            <a:ext cx="5562600" cy="5851525"/>
          </a:xfrm>
        </p:spPr>
        <p:txBody>
          <a:bodyPr vert="eaVert"/>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endParaRPr lang="fr-FR"/>
          </a:p>
        </p:txBody>
      </p:sp>
      <p:sp>
        <p:nvSpPr>
          <p:cNvPr id="6" name="Espace réservé du numéro de diapositive 5"/>
          <p:cNvSpPr>
            <a:spLocks noGrp="1"/>
          </p:cNvSpPr>
          <p:nvPr>
            <p:ph type="sldNum" sz="quarter" idx="12"/>
          </p:nvPr>
        </p:nvSpPr>
        <p:spPr/>
        <p:txBody>
          <a:bodyPr/>
          <a:lstStyle/>
          <a:p>
            <a:pPr>
              <a:defRPr/>
            </a:pPr>
            <a:fld id="{D86C2754-0A89-4072-93A2-50A9E647AD2C}" type="slidenum">
              <a:rPr lang="fr-FR" smtClean="0"/>
              <a:pPr>
                <a:defRPr/>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ectangle à coins arrondis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Espace réservé du titre 21"/>
          <p:cNvSpPr>
            <a:spLocks noGrp="1"/>
          </p:cNvSpPr>
          <p:nvPr>
            <p:ph type="title"/>
          </p:nvPr>
        </p:nvSpPr>
        <p:spPr>
          <a:xfrm>
            <a:off x="914400" y="274638"/>
            <a:ext cx="7772400" cy="1143000"/>
          </a:xfrm>
          <a:prstGeom prst="rect">
            <a:avLst/>
          </a:prstGeom>
        </p:spPr>
        <p:txBody>
          <a:bodyPr bIns="91440" anchor="b" anchorCtr="0">
            <a:normAutofit/>
          </a:bodyPr>
          <a:lstStyle/>
          <a:p>
            <a:r>
              <a:rPr kumimoji="0" lang="fr-FR" smtClean="0"/>
              <a:t>Modifiez le style du titre</a:t>
            </a:r>
            <a:endParaRPr kumimoji="0" lang="en-US"/>
          </a:p>
        </p:txBody>
      </p:sp>
      <p:sp>
        <p:nvSpPr>
          <p:cNvPr id="13" name="Espace réservé du texte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fr-FR" smtClean="0"/>
              <a:t>Modifiez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
        <p:nvSpPr>
          <p:cNvPr id="14" name="Espace réservé de la date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pPr>
              <a:defRPr/>
            </a:pPr>
            <a:endParaRPr lang="fr-FR"/>
          </a:p>
        </p:txBody>
      </p:sp>
      <p:sp>
        <p:nvSpPr>
          <p:cNvPr id="3" name="Espace réservé du pied de page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pPr>
              <a:defRPr/>
            </a:pPr>
            <a:endParaRPr lang="fr-FR"/>
          </a:p>
        </p:txBody>
      </p:sp>
      <p:sp>
        <p:nvSpPr>
          <p:cNvPr id="23" name="Espace réservé du numéro de diapositive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pPr>
              <a:defRPr/>
            </a:pPr>
            <a:fld id="{75325BD7-B71C-4933-ADA9-92F09BC10A74}" type="slidenum">
              <a:rPr lang="fr-FR" smtClean="0"/>
              <a:pPr>
                <a:defRPr/>
              </a:pPr>
              <a:t>‹N°›</a:t>
            </a:fld>
            <a:endParaRPr lang="fr-FR"/>
          </a:p>
        </p:txBody>
      </p:sp>
    </p:spTree>
  </p:cSld>
  <p:clrMap bg1="lt1" tx1="dk1" bg2="lt2" tx2="dk2" accent1="accent1" accent2="accent2" accent3="accent3" accent4="accent4" accent5="accent5" accent6="accent6" hlink="hlink" folHlink="folHlink"/>
  <p:sldLayoutIdLst>
    <p:sldLayoutId id="2147484037" r:id="rId1"/>
    <p:sldLayoutId id="2147484038" r:id="rId2"/>
    <p:sldLayoutId id="2147484039" r:id="rId3"/>
    <p:sldLayoutId id="2147484040" r:id="rId4"/>
    <p:sldLayoutId id="2147484041" r:id="rId5"/>
    <p:sldLayoutId id="2147484042" r:id="rId6"/>
    <p:sldLayoutId id="2147484043" r:id="rId7"/>
    <p:sldLayoutId id="2147484044" r:id="rId8"/>
    <p:sldLayoutId id="2147484045" r:id="rId9"/>
    <p:sldLayoutId id="2147484046" r:id="rId10"/>
    <p:sldLayoutId id="2147484047" r:id="rId11"/>
  </p:sldLayoutIdLst>
  <p:hf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hyperlink" Target="../cible.php?cle1=bonjour&amp;cle2=bonsoir" TargetMode="Externa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7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7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2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2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2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hyperlink" Target="http://www.artichow.org/" TargetMode="Externa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image" Target="../media/image66.emf"/><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hyperlink" Target="mailto:safi@gmail.com" TargetMode="Externa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
          <p:cNvSpPr>
            <a:spLocks noGrp="1" noChangeArrowheads="1"/>
          </p:cNvSpPr>
          <p:nvPr>
            <p:ph type="subTitle" idx="1"/>
          </p:nvPr>
        </p:nvSpPr>
        <p:spPr/>
        <p:txBody>
          <a:bodyPr/>
          <a:lstStyle/>
          <a:p>
            <a:pPr eaLnBrk="1" hangingPunct="1"/>
            <a:r>
              <a:rPr lang="fr-FR" dirty="0" err="1" smtClean="0"/>
              <a:t>A.Karim</a:t>
            </a:r>
            <a:endParaRPr lang="fr-FR" smtClean="0"/>
          </a:p>
        </p:txBody>
      </p:sp>
      <p:sp>
        <p:nvSpPr>
          <p:cNvPr id="3074" name="Rectangle 11"/>
          <p:cNvSpPr>
            <a:spLocks noGrp="1" noChangeArrowheads="1"/>
          </p:cNvSpPr>
          <p:nvPr>
            <p:ph type="sldNum" sz="quarter" idx="12"/>
          </p:nvPr>
        </p:nvSpPr>
        <p:spPr>
          <a:noFill/>
        </p:spPr>
        <p:txBody>
          <a:bodyPr/>
          <a:lstStyle/>
          <a:p>
            <a:pPr>
              <a:defRPr/>
            </a:pPr>
            <a:fld id="{7A796A76-FFEC-4757-BB91-5B9364090A03}" type="slidenum">
              <a:rPr lang="fr-FR"/>
              <a:pPr>
                <a:defRPr/>
              </a:pPr>
              <a:t>1</a:t>
            </a:fld>
            <a:endParaRPr lang="fr-FR"/>
          </a:p>
        </p:txBody>
      </p:sp>
      <p:sp>
        <p:nvSpPr>
          <p:cNvPr id="6148" name="AutoShape 2"/>
          <p:cNvSpPr>
            <a:spLocks noGrp="1" noChangeArrowheads="1"/>
          </p:cNvSpPr>
          <p:nvPr>
            <p:ph type="ctrTitle"/>
          </p:nvPr>
        </p:nvSpPr>
        <p:spPr/>
        <p:txBody>
          <a:bodyPr/>
          <a:lstStyle/>
          <a:p>
            <a:pPr eaLnBrk="1" hangingPunct="1"/>
            <a:r>
              <a:rPr lang="fr-CA" sz="3200" dirty="0" smtClean="0"/>
              <a:t>Programmation Web coté Serveur</a:t>
            </a:r>
            <a:br>
              <a:rPr lang="fr-CA" sz="3200" dirty="0" smtClean="0"/>
            </a:br>
            <a:r>
              <a:rPr lang="fr-CA" sz="3200" dirty="0" smtClean="0"/>
              <a:t>(PHP MySQL)</a:t>
            </a:r>
            <a:endParaRPr lang="fr-FR" sz="32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AutoShape 2"/>
          <p:cNvSpPr>
            <a:spLocks noGrp="1" noChangeArrowheads="1"/>
          </p:cNvSpPr>
          <p:nvPr>
            <p:ph type="title"/>
          </p:nvPr>
        </p:nvSpPr>
        <p:spPr/>
        <p:txBody>
          <a:bodyPr/>
          <a:lstStyle/>
          <a:p>
            <a:pPr eaLnBrk="1" hangingPunct="1"/>
            <a:r>
              <a:rPr lang="fr-FR" smtClean="0"/>
              <a:t>Web statique </a:t>
            </a:r>
          </a:p>
        </p:txBody>
      </p:sp>
      <p:sp>
        <p:nvSpPr>
          <p:cNvPr id="4098" name="Espace réservé du numéro de diapositive 5"/>
          <p:cNvSpPr>
            <a:spLocks noGrp="1"/>
          </p:cNvSpPr>
          <p:nvPr>
            <p:ph type="sldNum" sz="quarter" idx="12"/>
          </p:nvPr>
        </p:nvSpPr>
        <p:spPr>
          <a:noFill/>
        </p:spPr>
        <p:txBody>
          <a:bodyPr/>
          <a:lstStyle/>
          <a:p>
            <a:pPr>
              <a:defRPr/>
            </a:pPr>
            <a:fld id="{FB83045A-6BC2-467B-8B6F-9DAD49388901}" type="slidenum">
              <a:rPr lang="fr-FR"/>
              <a:pPr>
                <a:defRPr/>
              </a:pPr>
              <a:t>2</a:t>
            </a:fld>
            <a:endParaRPr lang="fr-FR"/>
          </a:p>
        </p:txBody>
      </p:sp>
      <p:sp>
        <p:nvSpPr>
          <p:cNvPr id="7172" name="Rectangle 3"/>
          <p:cNvSpPr>
            <a:spLocks noGrp="1" noChangeArrowheads="1"/>
          </p:cNvSpPr>
          <p:nvPr>
            <p:ph sz="quarter" idx="1"/>
          </p:nvPr>
        </p:nvSpPr>
        <p:spPr/>
        <p:txBody>
          <a:bodyPr/>
          <a:lstStyle/>
          <a:p>
            <a:pPr eaLnBrk="1" hangingPunct="1"/>
            <a:endParaRPr lang="fr-FR" smtClean="0"/>
          </a:p>
          <a:p>
            <a:pPr eaLnBrk="1" hangingPunct="1"/>
            <a:endParaRPr lang="fr-FR" smtClean="0"/>
          </a:p>
          <a:p>
            <a:pPr eaLnBrk="1" hangingPunct="1"/>
            <a:endParaRPr lang="fr-FR" smtClean="0"/>
          </a:p>
          <a:p>
            <a:pPr eaLnBrk="1" hangingPunct="1"/>
            <a:endParaRPr lang="fr-FR" smtClean="0"/>
          </a:p>
          <a:p>
            <a:pPr eaLnBrk="1" hangingPunct="1"/>
            <a:endParaRPr lang="fr-FR" smtClean="0"/>
          </a:p>
          <a:p>
            <a:pPr eaLnBrk="1" hangingPunct="1"/>
            <a:endParaRPr lang="fr-FR" smtClean="0"/>
          </a:p>
          <a:p>
            <a:pPr eaLnBrk="1" hangingPunct="1"/>
            <a:endParaRPr lang="fr-FR" smtClean="0"/>
          </a:p>
        </p:txBody>
      </p:sp>
      <p:sp>
        <p:nvSpPr>
          <p:cNvPr id="7173" name="Rectangle 4"/>
          <p:cNvSpPr>
            <a:spLocks noChangeArrowheads="1"/>
          </p:cNvSpPr>
          <p:nvPr/>
        </p:nvSpPr>
        <p:spPr bwMode="auto">
          <a:xfrm>
            <a:off x="1042988" y="3068638"/>
            <a:ext cx="936625" cy="1439862"/>
          </a:xfrm>
          <a:prstGeom prst="rect">
            <a:avLst/>
          </a:prstGeom>
          <a:solidFill>
            <a:schemeClr val="tx2">
              <a:lumMod val="60000"/>
              <a:lumOff val="40000"/>
            </a:schemeClr>
          </a:solidFill>
          <a:ln w="9525">
            <a:solidFill>
              <a:schemeClr val="tx1"/>
            </a:solidFill>
            <a:miter lim="800000"/>
            <a:headEnd/>
            <a:tailEnd/>
          </a:ln>
        </p:spPr>
        <p:txBody>
          <a:bodyPr wrap="none" anchor="ctr"/>
          <a:lstStyle/>
          <a:p>
            <a:pPr algn="ctr">
              <a:defRPr/>
            </a:pPr>
            <a:r>
              <a:rPr lang="fr-FR"/>
              <a:t>client</a:t>
            </a:r>
          </a:p>
        </p:txBody>
      </p:sp>
      <p:sp>
        <p:nvSpPr>
          <p:cNvPr id="7174" name="Rectangle 5"/>
          <p:cNvSpPr>
            <a:spLocks noChangeArrowheads="1"/>
          </p:cNvSpPr>
          <p:nvPr/>
        </p:nvSpPr>
        <p:spPr bwMode="auto">
          <a:xfrm>
            <a:off x="6732588" y="2924175"/>
            <a:ext cx="1511300" cy="2017713"/>
          </a:xfrm>
          <a:prstGeom prst="rect">
            <a:avLst/>
          </a:prstGeom>
          <a:solidFill>
            <a:schemeClr val="tx2">
              <a:lumMod val="60000"/>
              <a:lumOff val="40000"/>
            </a:schemeClr>
          </a:solidFill>
          <a:ln w="9525">
            <a:solidFill>
              <a:schemeClr val="tx1"/>
            </a:solidFill>
            <a:miter lim="800000"/>
            <a:headEnd/>
            <a:tailEnd/>
          </a:ln>
        </p:spPr>
        <p:txBody>
          <a:bodyPr wrap="none" anchor="ctr"/>
          <a:lstStyle/>
          <a:p>
            <a:pPr algn="ctr">
              <a:defRPr/>
            </a:pPr>
            <a:r>
              <a:rPr lang="fr-FR"/>
              <a:t>Serveur</a:t>
            </a:r>
          </a:p>
        </p:txBody>
      </p:sp>
      <p:sp>
        <p:nvSpPr>
          <p:cNvPr id="7175" name="Line 6"/>
          <p:cNvSpPr>
            <a:spLocks noChangeShapeType="1"/>
          </p:cNvSpPr>
          <p:nvPr/>
        </p:nvSpPr>
        <p:spPr bwMode="auto">
          <a:xfrm flipV="1">
            <a:off x="2051050" y="3429000"/>
            <a:ext cx="4608513" cy="0"/>
          </a:xfrm>
          <a:prstGeom prst="line">
            <a:avLst/>
          </a:prstGeom>
          <a:noFill/>
          <a:ln w="9525">
            <a:solidFill>
              <a:schemeClr val="tx1"/>
            </a:solidFill>
            <a:round/>
            <a:headEnd/>
            <a:tailEnd type="triangle" w="med" len="med"/>
          </a:ln>
        </p:spPr>
        <p:txBody>
          <a:bodyPr/>
          <a:lstStyle/>
          <a:p>
            <a:endParaRPr lang="fr-FR"/>
          </a:p>
        </p:txBody>
      </p:sp>
      <p:sp>
        <p:nvSpPr>
          <p:cNvPr id="7176" name="Line 7"/>
          <p:cNvSpPr>
            <a:spLocks noChangeShapeType="1"/>
          </p:cNvSpPr>
          <p:nvPr/>
        </p:nvSpPr>
        <p:spPr bwMode="auto">
          <a:xfrm flipH="1" flipV="1">
            <a:off x="2051050" y="4149725"/>
            <a:ext cx="4608513" cy="0"/>
          </a:xfrm>
          <a:prstGeom prst="line">
            <a:avLst/>
          </a:prstGeom>
          <a:noFill/>
          <a:ln w="9525">
            <a:solidFill>
              <a:schemeClr val="tx1"/>
            </a:solidFill>
            <a:round/>
            <a:headEnd/>
            <a:tailEnd type="triangle" w="med" len="med"/>
          </a:ln>
        </p:spPr>
        <p:txBody>
          <a:bodyPr/>
          <a:lstStyle/>
          <a:p>
            <a:endParaRPr lang="fr-FR"/>
          </a:p>
        </p:txBody>
      </p:sp>
      <p:sp>
        <p:nvSpPr>
          <p:cNvPr id="7177" name="Rectangle 8"/>
          <p:cNvSpPr>
            <a:spLocks noChangeArrowheads="1"/>
          </p:cNvSpPr>
          <p:nvPr/>
        </p:nvSpPr>
        <p:spPr bwMode="auto">
          <a:xfrm>
            <a:off x="2195513" y="3068638"/>
            <a:ext cx="215900" cy="287337"/>
          </a:xfrm>
          <a:prstGeom prst="rect">
            <a:avLst/>
          </a:prstGeom>
          <a:solidFill>
            <a:schemeClr val="bg1"/>
          </a:solidFill>
          <a:ln w="9525">
            <a:solidFill>
              <a:schemeClr val="tx1"/>
            </a:solidFill>
            <a:miter lim="800000"/>
            <a:headEnd/>
            <a:tailEnd/>
          </a:ln>
        </p:spPr>
        <p:txBody>
          <a:bodyPr wrap="none" anchor="ctr"/>
          <a:lstStyle/>
          <a:p>
            <a:pPr algn="ctr"/>
            <a:r>
              <a:rPr lang="fr-FR"/>
              <a:t>1</a:t>
            </a:r>
          </a:p>
        </p:txBody>
      </p:sp>
      <p:sp>
        <p:nvSpPr>
          <p:cNvPr id="7178" name="Rectangle 9"/>
          <p:cNvSpPr>
            <a:spLocks noChangeArrowheads="1"/>
          </p:cNvSpPr>
          <p:nvPr/>
        </p:nvSpPr>
        <p:spPr bwMode="auto">
          <a:xfrm>
            <a:off x="6084888" y="3789363"/>
            <a:ext cx="215900" cy="287337"/>
          </a:xfrm>
          <a:prstGeom prst="rect">
            <a:avLst/>
          </a:prstGeom>
          <a:solidFill>
            <a:schemeClr val="bg1"/>
          </a:solidFill>
          <a:ln w="9525">
            <a:solidFill>
              <a:schemeClr val="tx1"/>
            </a:solidFill>
            <a:miter lim="800000"/>
            <a:headEnd/>
            <a:tailEnd/>
          </a:ln>
        </p:spPr>
        <p:txBody>
          <a:bodyPr wrap="none" anchor="ctr"/>
          <a:lstStyle/>
          <a:p>
            <a:pPr algn="ctr"/>
            <a:r>
              <a:rPr lang="fr-FR"/>
              <a:t>2</a:t>
            </a:r>
          </a:p>
        </p:txBody>
      </p:sp>
      <p:sp>
        <p:nvSpPr>
          <p:cNvPr id="7179" name="Rectangle 10"/>
          <p:cNvSpPr>
            <a:spLocks noChangeArrowheads="1"/>
          </p:cNvSpPr>
          <p:nvPr/>
        </p:nvSpPr>
        <p:spPr bwMode="auto">
          <a:xfrm>
            <a:off x="1547813" y="4076700"/>
            <a:ext cx="215900" cy="287338"/>
          </a:xfrm>
          <a:prstGeom prst="rect">
            <a:avLst/>
          </a:prstGeom>
          <a:solidFill>
            <a:schemeClr val="bg1"/>
          </a:solidFill>
          <a:ln w="9525">
            <a:solidFill>
              <a:schemeClr val="tx1"/>
            </a:solidFill>
            <a:miter lim="800000"/>
            <a:headEnd/>
            <a:tailEnd/>
          </a:ln>
        </p:spPr>
        <p:txBody>
          <a:bodyPr wrap="none" anchor="ctr"/>
          <a:lstStyle/>
          <a:p>
            <a:pPr algn="ctr"/>
            <a:r>
              <a:rPr lang="fr-FR"/>
              <a:t>3</a:t>
            </a:r>
          </a:p>
        </p:txBody>
      </p:sp>
      <p:sp>
        <p:nvSpPr>
          <p:cNvPr id="7180" name="Rectangle 11"/>
          <p:cNvSpPr>
            <a:spLocks noChangeArrowheads="1"/>
          </p:cNvSpPr>
          <p:nvPr/>
        </p:nvSpPr>
        <p:spPr bwMode="auto">
          <a:xfrm>
            <a:off x="1116013" y="5157788"/>
            <a:ext cx="7489825" cy="1557337"/>
          </a:xfrm>
          <a:prstGeom prst="rect">
            <a:avLst/>
          </a:prstGeom>
          <a:solidFill>
            <a:schemeClr val="tx2">
              <a:lumMod val="60000"/>
              <a:lumOff val="40000"/>
            </a:schemeClr>
          </a:solidFill>
          <a:ln w="9525">
            <a:solidFill>
              <a:schemeClr val="tx1"/>
            </a:solidFill>
            <a:miter lim="800000"/>
            <a:headEnd/>
            <a:tailEnd/>
          </a:ln>
        </p:spPr>
        <p:txBody>
          <a:bodyPr wrap="none" anchor="ctr"/>
          <a:lstStyle/>
          <a:p>
            <a:pPr algn="ctr">
              <a:defRPr/>
            </a:pPr>
            <a:r>
              <a:rPr lang="fr-FR"/>
              <a:t>1-le navigateur envoie une requête http au serveur</a:t>
            </a:r>
          </a:p>
          <a:p>
            <a:pPr algn="ctr">
              <a:defRPr/>
            </a:pPr>
            <a:endParaRPr lang="fr-FR"/>
          </a:p>
          <a:p>
            <a:pPr algn="ctr">
              <a:defRPr/>
            </a:pPr>
            <a:r>
              <a:rPr lang="fr-FR"/>
              <a:t>2-le serveur renvoie le code html</a:t>
            </a:r>
          </a:p>
          <a:p>
            <a:pPr algn="ctr">
              <a:defRPr/>
            </a:pPr>
            <a:endParaRPr lang="fr-FR"/>
          </a:p>
          <a:p>
            <a:pPr algn="ctr">
              <a:defRPr/>
            </a:pPr>
            <a:r>
              <a:rPr lang="fr-FR"/>
              <a:t>3-le navigateur interprète le code html.</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AutoShape 2"/>
          <p:cNvSpPr>
            <a:spLocks noGrp="1" noChangeArrowheads="1"/>
          </p:cNvSpPr>
          <p:nvPr>
            <p:ph type="title"/>
          </p:nvPr>
        </p:nvSpPr>
        <p:spPr/>
        <p:txBody>
          <a:bodyPr/>
          <a:lstStyle/>
          <a:p>
            <a:pPr eaLnBrk="1" hangingPunct="1"/>
            <a:r>
              <a:rPr lang="fr-FR" smtClean="0"/>
              <a:t>Client dynamique </a:t>
            </a:r>
          </a:p>
        </p:txBody>
      </p:sp>
      <p:sp>
        <p:nvSpPr>
          <p:cNvPr id="5122" name="Espace réservé du numéro de diapositive 5"/>
          <p:cNvSpPr>
            <a:spLocks noGrp="1"/>
          </p:cNvSpPr>
          <p:nvPr>
            <p:ph type="sldNum" sz="quarter" idx="12"/>
          </p:nvPr>
        </p:nvSpPr>
        <p:spPr>
          <a:noFill/>
        </p:spPr>
        <p:txBody>
          <a:bodyPr/>
          <a:lstStyle/>
          <a:p>
            <a:pPr>
              <a:defRPr/>
            </a:pPr>
            <a:fld id="{C5D97472-48D0-4A49-B1E1-AEF0340181CB}" type="slidenum">
              <a:rPr lang="fr-FR"/>
              <a:pPr>
                <a:defRPr/>
              </a:pPr>
              <a:t>3</a:t>
            </a:fld>
            <a:endParaRPr lang="fr-FR"/>
          </a:p>
        </p:txBody>
      </p:sp>
      <p:sp>
        <p:nvSpPr>
          <p:cNvPr id="8196" name="Rectangle 3"/>
          <p:cNvSpPr>
            <a:spLocks noGrp="1" noChangeArrowheads="1"/>
          </p:cNvSpPr>
          <p:nvPr>
            <p:ph sz="quarter" idx="1"/>
          </p:nvPr>
        </p:nvSpPr>
        <p:spPr/>
        <p:txBody>
          <a:bodyPr/>
          <a:lstStyle/>
          <a:p>
            <a:pPr eaLnBrk="1" hangingPunct="1"/>
            <a:endParaRPr lang="fr-FR" smtClean="0"/>
          </a:p>
          <a:p>
            <a:pPr eaLnBrk="1" hangingPunct="1"/>
            <a:endParaRPr lang="fr-FR" smtClean="0"/>
          </a:p>
          <a:p>
            <a:pPr eaLnBrk="1" hangingPunct="1"/>
            <a:endParaRPr lang="fr-FR" smtClean="0"/>
          </a:p>
          <a:p>
            <a:pPr eaLnBrk="1" hangingPunct="1"/>
            <a:endParaRPr lang="fr-FR" smtClean="0"/>
          </a:p>
          <a:p>
            <a:pPr eaLnBrk="1" hangingPunct="1"/>
            <a:endParaRPr lang="fr-FR" smtClean="0"/>
          </a:p>
          <a:p>
            <a:pPr eaLnBrk="1" hangingPunct="1"/>
            <a:endParaRPr lang="fr-FR" smtClean="0"/>
          </a:p>
          <a:p>
            <a:pPr eaLnBrk="1" hangingPunct="1"/>
            <a:endParaRPr lang="fr-FR" smtClean="0"/>
          </a:p>
        </p:txBody>
      </p:sp>
      <p:sp>
        <p:nvSpPr>
          <p:cNvPr id="8197" name="Rectangle 4"/>
          <p:cNvSpPr>
            <a:spLocks noChangeArrowheads="1"/>
          </p:cNvSpPr>
          <p:nvPr/>
        </p:nvSpPr>
        <p:spPr bwMode="auto">
          <a:xfrm>
            <a:off x="1042988" y="3068638"/>
            <a:ext cx="936625" cy="1439862"/>
          </a:xfrm>
          <a:prstGeom prst="rect">
            <a:avLst/>
          </a:prstGeom>
          <a:solidFill>
            <a:schemeClr val="accent5">
              <a:lumMod val="60000"/>
              <a:lumOff val="40000"/>
            </a:schemeClr>
          </a:solidFill>
          <a:ln w="9525">
            <a:solidFill>
              <a:schemeClr val="tx1"/>
            </a:solidFill>
            <a:miter lim="800000"/>
            <a:headEnd/>
            <a:tailEnd/>
          </a:ln>
        </p:spPr>
        <p:txBody>
          <a:bodyPr wrap="none" anchor="ctr"/>
          <a:lstStyle/>
          <a:p>
            <a:pPr algn="ctr">
              <a:defRPr/>
            </a:pPr>
            <a:r>
              <a:rPr lang="fr-FR"/>
              <a:t>client</a:t>
            </a:r>
          </a:p>
        </p:txBody>
      </p:sp>
      <p:sp>
        <p:nvSpPr>
          <p:cNvPr id="8198" name="Rectangle 5"/>
          <p:cNvSpPr>
            <a:spLocks noChangeArrowheads="1"/>
          </p:cNvSpPr>
          <p:nvPr/>
        </p:nvSpPr>
        <p:spPr bwMode="auto">
          <a:xfrm>
            <a:off x="6732588" y="2924175"/>
            <a:ext cx="1511300" cy="1800225"/>
          </a:xfrm>
          <a:prstGeom prst="rect">
            <a:avLst/>
          </a:prstGeom>
          <a:solidFill>
            <a:schemeClr val="tx2">
              <a:lumMod val="40000"/>
              <a:lumOff val="60000"/>
            </a:schemeClr>
          </a:solidFill>
          <a:ln w="9525">
            <a:solidFill>
              <a:schemeClr val="tx1"/>
            </a:solidFill>
            <a:miter lim="800000"/>
            <a:headEnd/>
            <a:tailEnd/>
          </a:ln>
        </p:spPr>
        <p:txBody>
          <a:bodyPr wrap="none" anchor="ctr"/>
          <a:lstStyle/>
          <a:p>
            <a:pPr algn="ctr">
              <a:defRPr/>
            </a:pPr>
            <a:r>
              <a:rPr lang="fr-FR"/>
              <a:t>Serveur</a:t>
            </a:r>
          </a:p>
        </p:txBody>
      </p:sp>
      <p:sp>
        <p:nvSpPr>
          <p:cNvPr id="8199" name="Line 6"/>
          <p:cNvSpPr>
            <a:spLocks noChangeShapeType="1"/>
          </p:cNvSpPr>
          <p:nvPr/>
        </p:nvSpPr>
        <p:spPr bwMode="auto">
          <a:xfrm flipV="1">
            <a:off x="2051050" y="3429000"/>
            <a:ext cx="4608513" cy="0"/>
          </a:xfrm>
          <a:prstGeom prst="line">
            <a:avLst/>
          </a:prstGeom>
          <a:noFill/>
          <a:ln w="9525">
            <a:solidFill>
              <a:schemeClr val="tx1"/>
            </a:solidFill>
            <a:round/>
            <a:headEnd/>
            <a:tailEnd type="triangle" w="med" len="med"/>
          </a:ln>
        </p:spPr>
        <p:txBody>
          <a:bodyPr/>
          <a:lstStyle/>
          <a:p>
            <a:endParaRPr lang="fr-FR"/>
          </a:p>
        </p:txBody>
      </p:sp>
      <p:sp>
        <p:nvSpPr>
          <p:cNvPr id="8200" name="Line 7"/>
          <p:cNvSpPr>
            <a:spLocks noChangeShapeType="1"/>
          </p:cNvSpPr>
          <p:nvPr/>
        </p:nvSpPr>
        <p:spPr bwMode="auto">
          <a:xfrm flipH="1" flipV="1">
            <a:off x="2051050" y="4149725"/>
            <a:ext cx="4608513" cy="0"/>
          </a:xfrm>
          <a:prstGeom prst="line">
            <a:avLst/>
          </a:prstGeom>
          <a:noFill/>
          <a:ln w="9525">
            <a:solidFill>
              <a:schemeClr val="tx1"/>
            </a:solidFill>
            <a:round/>
            <a:headEnd/>
            <a:tailEnd type="triangle" w="med" len="med"/>
          </a:ln>
        </p:spPr>
        <p:txBody>
          <a:bodyPr/>
          <a:lstStyle/>
          <a:p>
            <a:endParaRPr lang="fr-FR"/>
          </a:p>
        </p:txBody>
      </p:sp>
      <p:sp>
        <p:nvSpPr>
          <p:cNvPr id="8201" name="Rectangle 8"/>
          <p:cNvSpPr>
            <a:spLocks noChangeArrowheads="1"/>
          </p:cNvSpPr>
          <p:nvPr/>
        </p:nvSpPr>
        <p:spPr bwMode="auto">
          <a:xfrm>
            <a:off x="2195513" y="3068638"/>
            <a:ext cx="215900" cy="287337"/>
          </a:xfrm>
          <a:prstGeom prst="rect">
            <a:avLst/>
          </a:prstGeom>
          <a:solidFill>
            <a:schemeClr val="bg1"/>
          </a:solidFill>
          <a:ln w="9525">
            <a:solidFill>
              <a:schemeClr val="tx1"/>
            </a:solidFill>
            <a:miter lim="800000"/>
            <a:headEnd/>
            <a:tailEnd/>
          </a:ln>
        </p:spPr>
        <p:txBody>
          <a:bodyPr wrap="none" anchor="ctr"/>
          <a:lstStyle/>
          <a:p>
            <a:pPr algn="ctr"/>
            <a:r>
              <a:rPr lang="fr-FR"/>
              <a:t>1</a:t>
            </a:r>
          </a:p>
        </p:txBody>
      </p:sp>
      <p:sp>
        <p:nvSpPr>
          <p:cNvPr id="8202" name="Rectangle 9"/>
          <p:cNvSpPr>
            <a:spLocks noChangeArrowheads="1"/>
          </p:cNvSpPr>
          <p:nvPr/>
        </p:nvSpPr>
        <p:spPr bwMode="auto">
          <a:xfrm>
            <a:off x="6084888" y="3789363"/>
            <a:ext cx="215900" cy="287337"/>
          </a:xfrm>
          <a:prstGeom prst="rect">
            <a:avLst/>
          </a:prstGeom>
          <a:solidFill>
            <a:schemeClr val="bg1"/>
          </a:solidFill>
          <a:ln w="9525">
            <a:solidFill>
              <a:schemeClr val="tx1"/>
            </a:solidFill>
            <a:miter lim="800000"/>
            <a:headEnd/>
            <a:tailEnd/>
          </a:ln>
        </p:spPr>
        <p:txBody>
          <a:bodyPr wrap="none" anchor="ctr"/>
          <a:lstStyle/>
          <a:p>
            <a:pPr algn="ctr"/>
            <a:r>
              <a:rPr lang="fr-FR"/>
              <a:t>2</a:t>
            </a:r>
          </a:p>
        </p:txBody>
      </p:sp>
      <p:sp>
        <p:nvSpPr>
          <p:cNvPr id="8203" name="Rectangle 10"/>
          <p:cNvSpPr>
            <a:spLocks noChangeArrowheads="1"/>
          </p:cNvSpPr>
          <p:nvPr/>
        </p:nvSpPr>
        <p:spPr bwMode="auto">
          <a:xfrm>
            <a:off x="1258888" y="4076700"/>
            <a:ext cx="288925" cy="431800"/>
          </a:xfrm>
          <a:prstGeom prst="rect">
            <a:avLst/>
          </a:prstGeom>
          <a:solidFill>
            <a:schemeClr val="accent1"/>
          </a:solidFill>
          <a:ln w="9525">
            <a:miter lim="800000"/>
            <a:headEnd/>
            <a:tailEnd/>
          </a:ln>
          <a:scene3d>
            <a:camera prst="legacyObliqueTopRight"/>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lgn="ctr"/>
            <a:r>
              <a:rPr lang="fr-FR"/>
              <a:t>3</a:t>
            </a:r>
          </a:p>
        </p:txBody>
      </p:sp>
      <p:sp>
        <p:nvSpPr>
          <p:cNvPr id="8204" name="Rectangle 11"/>
          <p:cNvSpPr>
            <a:spLocks noChangeArrowheads="1"/>
          </p:cNvSpPr>
          <p:nvPr/>
        </p:nvSpPr>
        <p:spPr bwMode="auto">
          <a:xfrm>
            <a:off x="1057276" y="4797152"/>
            <a:ext cx="7200900" cy="1727200"/>
          </a:xfrm>
          <a:prstGeom prst="rect">
            <a:avLst/>
          </a:prstGeom>
          <a:solidFill>
            <a:schemeClr val="tx2">
              <a:lumMod val="20000"/>
              <a:lumOff val="80000"/>
            </a:schemeClr>
          </a:solidFill>
          <a:ln w="9525">
            <a:solidFill>
              <a:schemeClr val="tx1"/>
            </a:solidFill>
            <a:miter lim="800000"/>
            <a:headEnd/>
            <a:tailEnd/>
          </a:ln>
        </p:spPr>
        <p:txBody>
          <a:bodyPr wrap="none" anchor="ctr"/>
          <a:lstStyle/>
          <a:p>
            <a:pPr algn="ctr">
              <a:defRPr/>
            </a:pPr>
            <a:r>
              <a:rPr lang="fr-FR" dirty="0"/>
              <a:t>1-le navigateur envoie une requête http au serveur</a:t>
            </a:r>
          </a:p>
          <a:p>
            <a:pPr algn="ctr">
              <a:defRPr/>
            </a:pPr>
            <a:endParaRPr lang="fr-FR" dirty="0"/>
          </a:p>
          <a:p>
            <a:pPr algn="ctr">
              <a:defRPr/>
            </a:pPr>
            <a:r>
              <a:rPr lang="fr-FR" dirty="0"/>
              <a:t>2-le serveur renvoie le code html+</a:t>
            </a:r>
            <a:r>
              <a:rPr lang="fr-FR" dirty="0" err="1"/>
              <a:t>sc</a:t>
            </a:r>
            <a:r>
              <a:rPr lang="fr-FR" dirty="0"/>
              <a:t> </a:t>
            </a:r>
            <a:r>
              <a:rPr lang="fr-FR" dirty="0" err="1"/>
              <a:t>javascript</a:t>
            </a:r>
            <a:endParaRPr lang="fr-FR" dirty="0"/>
          </a:p>
          <a:p>
            <a:pPr algn="ctr">
              <a:defRPr/>
            </a:pPr>
            <a:endParaRPr lang="fr-FR" dirty="0"/>
          </a:p>
          <a:p>
            <a:pPr algn="ctr">
              <a:defRPr/>
            </a:pPr>
            <a:r>
              <a:rPr lang="fr-FR" dirty="0"/>
              <a:t>3-le navigateur interprète le code html.qui contient un script </a:t>
            </a:r>
          </a:p>
          <a:p>
            <a:pPr algn="ctr">
              <a:defRPr/>
            </a:pPr>
            <a:r>
              <a:rPr lang="fr-FR" dirty="0"/>
              <a:t>Le navigateur interagit avec ce script</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AutoShape 2"/>
          <p:cNvSpPr>
            <a:spLocks noGrp="1" noChangeArrowheads="1"/>
          </p:cNvSpPr>
          <p:nvPr>
            <p:ph type="title"/>
          </p:nvPr>
        </p:nvSpPr>
        <p:spPr/>
        <p:txBody>
          <a:bodyPr/>
          <a:lstStyle/>
          <a:p>
            <a:pPr eaLnBrk="1" hangingPunct="1"/>
            <a:r>
              <a:rPr lang="fr-FR" smtClean="0"/>
              <a:t>Serveur dynamique </a:t>
            </a:r>
          </a:p>
        </p:txBody>
      </p:sp>
      <p:sp>
        <p:nvSpPr>
          <p:cNvPr id="6146" name="Espace réservé du numéro de diapositive 5"/>
          <p:cNvSpPr>
            <a:spLocks noGrp="1"/>
          </p:cNvSpPr>
          <p:nvPr>
            <p:ph type="sldNum" sz="quarter" idx="12"/>
          </p:nvPr>
        </p:nvSpPr>
        <p:spPr>
          <a:noFill/>
        </p:spPr>
        <p:txBody>
          <a:bodyPr/>
          <a:lstStyle/>
          <a:p>
            <a:pPr>
              <a:defRPr/>
            </a:pPr>
            <a:fld id="{093C1376-E6C4-42B5-BE5D-191DA68C86A0}" type="slidenum">
              <a:rPr lang="fr-FR"/>
              <a:pPr>
                <a:defRPr/>
              </a:pPr>
              <a:t>4</a:t>
            </a:fld>
            <a:endParaRPr lang="fr-FR"/>
          </a:p>
        </p:txBody>
      </p:sp>
      <p:sp>
        <p:nvSpPr>
          <p:cNvPr id="9220" name="Rectangle 3"/>
          <p:cNvSpPr>
            <a:spLocks noGrp="1" noChangeArrowheads="1"/>
          </p:cNvSpPr>
          <p:nvPr>
            <p:ph sz="quarter" idx="1"/>
          </p:nvPr>
        </p:nvSpPr>
        <p:spPr/>
        <p:txBody>
          <a:bodyPr/>
          <a:lstStyle/>
          <a:p>
            <a:pPr eaLnBrk="1" hangingPunct="1"/>
            <a:endParaRPr lang="fr-FR" smtClean="0"/>
          </a:p>
          <a:p>
            <a:pPr eaLnBrk="1" hangingPunct="1"/>
            <a:endParaRPr lang="fr-FR" smtClean="0"/>
          </a:p>
          <a:p>
            <a:pPr eaLnBrk="1" hangingPunct="1"/>
            <a:endParaRPr lang="fr-FR" smtClean="0"/>
          </a:p>
          <a:p>
            <a:pPr eaLnBrk="1" hangingPunct="1"/>
            <a:endParaRPr lang="fr-FR" smtClean="0"/>
          </a:p>
          <a:p>
            <a:pPr eaLnBrk="1" hangingPunct="1"/>
            <a:endParaRPr lang="fr-FR" smtClean="0"/>
          </a:p>
          <a:p>
            <a:pPr eaLnBrk="1" hangingPunct="1"/>
            <a:endParaRPr lang="fr-FR" smtClean="0"/>
          </a:p>
          <a:p>
            <a:pPr eaLnBrk="1" hangingPunct="1"/>
            <a:endParaRPr lang="fr-FR" smtClean="0"/>
          </a:p>
        </p:txBody>
      </p:sp>
      <p:sp>
        <p:nvSpPr>
          <p:cNvPr id="9221" name="Rectangle 4"/>
          <p:cNvSpPr>
            <a:spLocks noChangeArrowheads="1"/>
          </p:cNvSpPr>
          <p:nvPr/>
        </p:nvSpPr>
        <p:spPr bwMode="auto">
          <a:xfrm>
            <a:off x="1042988" y="2565400"/>
            <a:ext cx="936625" cy="1439863"/>
          </a:xfrm>
          <a:prstGeom prst="rect">
            <a:avLst/>
          </a:prstGeom>
          <a:solidFill>
            <a:schemeClr val="tx2">
              <a:lumMod val="60000"/>
              <a:lumOff val="40000"/>
            </a:schemeClr>
          </a:solidFill>
          <a:ln w="9525">
            <a:solidFill>
              <a:schemeClr val="tx1"/>
            </a:solidFill>
            <a:miter lim="800000"/>
            <a:headEnd/>
            <a:tailEnd/>
          </a:ln>
        </p:spPr>
        <p:txBody>
          <a:bodyPr wrap="none" anchor="ctr"/>
          <a:lstStyle/>
          <a:p>
            <a:pPr algn="ctr">
              <a:defRPr/>
            </a:pPr>
            <a:r>
              <a:rPr lang="fr-FR"/>
              <a:t>client</a:t>
            </a:r>
          </a:p>
        </p:txBody>
      </p:sp>
      <p:sp>
        <p:nvSpPr>
          <p:cNvPr id="9222" name="Rectangle 5"/>
          <p:cNvSpPr>
            <a:spLocks noChangeArrowheads="1"/>
          </p:cNvSpPr>
          <p:nvPr/>
        </p:nvSpPr>
        <p:spPr bwMode="auto">
          <a:xfrm>
            <a:off x="4643438" y="2924175"/>
            <a:ext cx="1511300" cy="1441450"/>
          </a:xfrm>
          <a:prstGeom prst="rect">
            <a:avLst/>
          </a:prstGeom>
          <a:solidFill>
            <a:schemeClr val="tx2">
              <a:lumMod val="60000"/>
              <a:lumOff val="40000"/>
            </a:schemeClr>
          </a:solidFill>
          <a:ln w="9525">
            <a:solidFill>
              <a:schemeClr val="tx1"/>
            </a:solidFill>
            <a:miter lim="800000"/>
            <a:headEnd/>
            <a:tailEnd/>
          </a:ln>
        </p:spPr>
        <p:txBody>
          <a:bodyPr wrap="none" anchor="ctr"/>
          <a:lstStyle/>
          <a:p>
            <a:pPr algn="ctr">
              <a:defRPr/>
            </a:pPr>
            <a:r>
              <a:rPr lang="fr-FR"/>
              <a:t>Serveur</a:t>
            </a:r>
          </a:p>
        </p:txBody>
      </p:sp>
      <p:sp>
        <p:nvSpPr>
          <p:cNvPr id="9223" name="Line 6"/>
          <p:cNvSpPr>
            <a:spLocks noChangeShapeType="1"/>
          </p:cNvSpPr>
          <p:nvPr/>
        </p:nvSpPr>
        <p:spPr bwMode="auto">
          <a:xfrm flipV="1">
            <a:off x="2143125" y="3265488"/>
            <a:ext cx="2143125" cy="46037"/>
          </a:xfrm>
          <a:prstGeom prst="line">
            <a:avLst/>
          </a:prstGeom>
          <a:noFill/>
          <a:ln w="9525">
            <a:solidFill>
              <a:schemeClr val="tx1"/>
            </a:solidFill>
            <a:round/>
            <a:headEnd/>
            <a:tailEnd type="triangle" w="med" len="med"/>
          </a:ln>
        </p:spPr>
        <p:txBody>
          <a:bodyPr/>
          <a:lstStyle/>
          <a:p>
            <a:endParaRPr lang="fr-FR"/>
          </a:p>
        </p:txBody>
      </p:sp>
      <p:sp>
        <p:nvSpPr>
          <p:cNvPr id="9224" name="Line 7"/>
          <p:cNvSpPr>
            <a:spLocks noChangeShapeType="1"/>
          </p:cNvSpPr>
          <p:nvPr/>
        </p:nvSpPr>
        <p:spPr bwMode="auto">
          <a:xfrm flipH="1">
            <a:off x="2071688" y="4000500"/>
            <a:ext cx="1857375" cy="46038"/>
          </a:xfrm>
          <a:prstGeom prst="line">
            <a:avLst/>
          </a:prstGeom>
          <a:noFill/>
          <a:ln w="9525">
            <a:solidFill>
              <a:schemeClr val="tx1"/>
            </a:solidFill>
            <a:round/>
            <a:headEnd/>
            <a:tailEnd type="triangle" w="med" len="med"/>
          </a:ln>
        </p:spPr>
        <p:txBody>
          <a:bodyPr/>
          <a:lstStyle/>
          <a:p>
            <a:endParaRPr lang="fr-FR"/>
          </a:p>
        </p:txBody>
      </p:sp>
      <p:sp>
        <p:nvSpPr>
          <p:cNvPr id="9225" name="Rectangle 8"/>
          <p:cNvSpPr>
            <a:spLocks noChangeArrowheads="1"/>
          </p:cNvSpPr>
          <p:nvPr/>
        </p:nvSpPr>
        <p:spPr bwMode="auto">
          <a:xfrm>
            <a:off x="2195513" y="2928938"/>
            <a:ext cx="215900" cy="287337"/>
          </a:xfrm>
          <a:prstGeom prst="rect">
            <a:avLst/>
          </a:prstGeom>
          <a:solidFill>
            <a:schemeClr val="bg1"/>
          </a:solidFill>
          <a:ln w="9525">
            <a:solidFill>
              <a:schemeClr val="tx1"/>
            </a:solidFill>
            <a:miter lim="800000"/>
            <a:headEnd/>
            <a:tailEnd/>
          </a:ln>
        </p:spPr>
        <p:txBody>
          <a:bodyPr wrap="none" anchor="ctr"/>
          <a:lstStyle/>
          <a:p>
            <a:pPr algn="ctr"/>
            <a:r>
              <a:rPr lang="fr-FR"/>
              <a:t>1</a:t>
            </a:r>
          </a:p>
        </p:txBody>
      </p:sp>
      <p:sp>
        <p:nvSpPr>
          <p:cNvPr id="9226" name="Rectangle 9"/>
          <p:cNvSpPr>
            <a:spLocks noChangeArrowheads="1"/>
          </p:cNvSpPr>
          <p:nvPr/>
        </p:nvSpPr>
        <p:spPr bwMode="auto">
          <a:xfrm>
            <a:off x="4000500" y="4070350"/>
            <a:ext cx="215900" cy="287338"/>
          </a:xfrm>
          <a:prstGeom prst="rect">
            <a:avLst/>
          </a:prstGeom>
          <a:solidFill>
            <a:schemeClr val="bg1"/>
          </a:solidFill>
          <a:ln w="9525">
            <a:solidFill>
              <a:schemeClr val="tx1"/>
            </a:solidFill>
            <a:miter lim="800000"/>
            <a:headEnd/>
            <a:tailEnd/>
          </a:ln>
        </p:spPr>
        <p:txBody>
          <a:bodyPr wrap="none" anchor="ctr"/>
          <a:lstStyle/>
          <a:p>
            <a:pPr algn="ctr"/>
            <a:r>
              <a:rPr lang="fr-FR"/>
              <a:t>3</a:t>
            </a:r>
          </a:p>
        </p:txBody>
      </p:sp>
      <p:sp>
        <p:nvSpPr>
          <p:cNvPr id="9227" name="Rectangle 10"/>
          <p:cNvSpPr>
            <a:spLocks noChangeArrowheads="1"/>
          </p:cNvSpPr>
          <p:nvPr/>
        </p:nvSpPr>
        <p:spPr bwMode="auto">
          <a:xfrm>
            <a:off x="1042988" y="4581525"/>
            <a:ext cx="7200900" cy="2016125"/>
          </a:xfrm>
          <a:prstGeom prst="rect">
            <a:avLst/>
          </a:prstGeom>
          <a:solidFill>
            <a:schemeClr val="tx2">
              <a:lumMod val="60000"/>
              <a:lumOff val="40000"/>
            </a:schemeClr>
          </a:solidFill>
          <a:ln w="9525">
            <a:solidFill>
              <a:schemeClr val="tx1"/>
            </a:solidFill>
            <a:miter lim="800000"/>
            <a:headEnd/>
            <a:tailEnd/>
          </a:ln>
        </p:spPr>
        <p:txBody>
          <a:bodyPr wrap="none" anchor="ctr"/>
          <a:lstStyle/>
          <a:p>
            <a:pPr algn="ctr">
              <a:defRPr/>
            </a:pPr>
            <a:r>
              <a:rPr lang="fr-FR" dirty="0"/>
              <a:t>1-le navigateur envoie une requête http au serveur</a:t>
            </a:r>
          </a:p>
          <a:p>
            <a:pPr algn="ctr">
              <a:defRPr/>
            </a:pPr>
            <a:endParaRPr lang="fr-FR" dirty="0"/>
          </a:p>
          <a:p>
            <a:pPr algn="ctr">
              <a:defRPr/>
            </a:pPr>
            <a:r>
              <a:rPr lang="fr-FR" dirty="0"/>
              <a:t>2-le serveur confie le traitement à un script(PHP) et constitue le code HTML</a:t>
            </a:r>
          </a:p>
          <a:p>
            <a:pPr algn="ctr">
              <a:defRPr/>
            </a:pPr>
            <a:r>
              <a:rPr lang="fr-FR" dirty="0"/>
              <a:t>3-Le serveur renvoie ce code html</a:t>
            </a:r>
          </a:p>
          <a:p>
            <a:pPr algn="ctr">
              <a:defRPr/>
            </a:pPr>
            <a:endParaRPr lang="fr-FR" dirty="0"/>
          </a:p>
          <a:p>
            <a:pPr algn="ctr">
              <a:defRPr/>
            </a:pPr>
            <a:r>
              <a:rPr lang="fr-FR" dirty="0"/>
              <a:t>4-le navigateur interprète le code html</a:t>
            </a:r>
          </a:p>
        </p:txBody>
      </p:sp>
      <p:sp>
        <p:nvSpPr>
          <p:cNvPr id="9228" name="Rectangle 11"/>
          <p:cNvSpPr>
            <a:spLocks noChangeArrowheads="1"/>
          </p:cNvSpPr>
          <p:nvPr/>
        </p:nvSpPr>
        <p:spPr bwMode="auto">
          <a:xfrm>
            <a:off x="1476375" y="3573463"/>
            <a:ext cx="215900" cy="287337"/>
          </a:xfrm>
          <a:prstGeom prst="rect">
            <a:avLst/>
          </a:prstGeom>
          <a:solidFill>
            <a:schemeClr val="bg1"/>
          </a:solidFill>
          <a:ln w="9525">
            <a:solidFill>
              <a:schemeClr val="tx1"/>
            </a:solidFill>
            <a:miter lim="800000"/>
            <a:headEnd/>
            <a:tailEnd/>
          </a:ln>
        </p:spPr>
        <p:txBody>
          <a:bodyPr wrap="none" anchor="ctr"/>
          <a:lstStyle/>
          <a:p>
            <a:pPr algn="ctr"/>
            <a:r>
              <a:rPr lang="fr-FR"/>
              <a:t>4</a:t>
            </a:r>
          </a:p>
        </p:txBody>
      </p:sp>
      <p:sp>
        <p:nvSpPr>
          <p:cNvPr id="9229" name="Rectangle 12"/>
          <p:cNvSpPr>
            <a:spLocks noChangeArrowheads="1"/>
          </p:cNvSpPr>
          <p:nvPr/>
        </p:nvSpPr>
        <p:spPr bwMode="auto">
          <a:xfrm>
            <a:off x="6572250" y="3357563"/>
            <a:ext cx="530225" cy="428625"/>
          </a:xfrm>
          <a:prstGeom prst="rect">
            <a:avLst/>
          </a:prstGeom>
          <a:solidFill>
            <a:schemeClr val="accent1"/>
          </a:solidFill>
          <a:ln w="9525">
            <a:miter lim="800000"/>
            <a:headEnd/>
            <a:tailEnd/>
          </a:ln>
          <a:scene3d>
            <a:camera prst="legacyPerspectiveFront">
              <a:rot lat="20099958" lon="20099958" rev="0"/>
            </a:camera>
            <a:lightRig rig="legacyFlat2" dir="t"/>
          </a:scene3d>
          <a:sp3d extrusionH="887400" prstMaterial="legacyMatte">
            <a:bevelT w="13500" h="13500" prst="angle"/>
            <a:bevelB w="13500" h="13500" prst="angle"/>
            <a:extrusionClr>
              <a:srgbClr val="33CCCC"/>
            </a:extrusionClr>
          </a:sp3d>
        </p:spPr>
        <p:txBody>
          <a:bodyPr wrap="none" anchor="ctr">
            <a:flatTx/>
          </a:bodyPr>
          <a:lstStyle/>
          <a:p>
            <a:pPr algn="ctr"/>
            <a:r>
              <a:rPr lang="fr-FR"/>
              <a:t>2</a:t>
            </a:r>
          </a:p>
        </p:txBody>
      </p:sp>
      <p:sp>
        <p:nvSpPr>
          <p:cNvPr id="9230" name="Cylindre 13"/>
          <p:cNvSpPr>
            <a:spLocks noChangeArrowheads="1"/>
          </p:cNvSpPr>
          <p:nvPr/>
        </p:nvSpPr>
        <p:spPr bwMode="auto">
          <a:xfrm>
            <a:off x="7572375" y="2786063"/>
            <a:ext cx="1571625" cy="1500187"/>
          </a:xfrm>
          <a:prstGeom prst="can">
            <a:avLst>
              <a:gd name="adj" fmla="val 25000"/>
            </a:avLst>
          </a:prstGeom>
          <a:solidFill>
            <a:schemeClr val="tx2">
              <a:lumMod val="60000"/>
              <a:lumOff val="40000"/>
            </a:schemeClr>
          </a:solidFill>
          <a:ln w="9525">
            <a:solidFill>
              <a:schemeClr val="tx1"/>
            </a:solidFill>
            <a:miter lim="800000"/>
            <a:headEnd/>
            <a:tailEnd/>
          </a:ln>
        </p:spPr>
        <p:txBody>
          <a:bodyPr wrap="none" anchor="ctr"/>
          <a:lstStyle/>
          <a:p>
            <a:pPr algn="ctr">
              <a:defRPr/>
            </a:pPr>
            <a:r>
              <a:rPr lang="fr-FR"/>
              <a:t>BDD</a:t>
            </a:r>
          </a:p>
          <a:p>
            <a:pPr algn="ctr">
              <a:defRPr/>
            </a:pPr>
            <a:r>
              <a:rPr lang="fr-FR"/>
              <a:t>(MySQL)</a:t>
            </a:r>
          </a:p>
        </p:txBody>
      </p:sp>
      <p:cxnSp>
        <p:nvCxnSpPr>
          <p:cNvPr id="9231" name="Connecteur droit avec flèche 15"/>
          <p:cNvCxnSpPr>
            <a:cxnSpLocks noChangeShapeType="1"/>
          </p:cNvCxnSpPr>
          <p:nvPr/>
        </p:nvCxnSpPr>
        <p:spPr bwMode="auto">
          <a:xfrm>
            <a:off x="7072313" y="3571875"/>
            <a:ext cx="857250" cy="1588"/>
          </a:xfrm>
          <a:prstGeom prst="straightConnector1">
            <a:avLst/>
          </a:prstGeom>
          <a:noFill/>
          <a:ln w="9525">
            <a:solidFill>
              <a:schemeClr val="tx1"/>
            </a:solidFill>
            <a:round/>
            <a:headEnd/>
            <a:tailEnd type="triangle" w="med" len="med"/>
          </a:ln>
        </p:spPr>
      </p:cxnSp>
      <p:cxnSp>
        <p:nvCxnSpPr>
          <p:cNvPr id="17" name="Connecteur droit avec flèche 16"/>
          <p:cNvCxnSpPr/>
          <p:nvPr/>
        </p:nvCxnSpPr>
        <p:spPr>
          <a:xfrm rot="16200000" flipH="1">
            <a:off x="6107907" y="2750344"/>
            <a:ext cx="571500" cy="3571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Connecteur droit avec flèche 18"/>
          <p:cNvCxnSpPr/>
          <p:nvPr/>
        </p:nvCxnSpPr>
        <p:spPr>
          <a:xfrm rot="5400000">
            <a:off x="6626225" y="2160588"/>
            <a:ext cx="2035175" cy="7143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7429500" y="1071563"/>
            <a:ext cx="1285875" cy="5000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dirty="0"/>
              <a:t>SQL</a:t>
            </a:r>
          </a:p>
        </p:txBody>
      </p:sp>
      <p:sp>
        <p:nvSpPr>
          <p:cNvPr id="21" name="Rectangle 20"/>
          <p:cNvSpPr/>
          <p:nvPr/>
        </p:nvSpPr>
        <p:spPr>
          <a:xfrm>
            <a:off x="5715000" y="2286000"/>
            <a:ext cx="857250" cy="3571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dirty="0"/>
              <a:t>PHP</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err="1" smtClean="0"/>
              <a:t>Dev</a:t>
            </a:r>
            <a:r>
              <a:rPr lang="fr-CA" dirty="0" smtClean="0"/>
              <a:t> Web</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5</a:t>
            </a:fld>
            <a:endParaRPr lang="fr-F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1916832"/>
            <a:ext cx="8096200" cy="3610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94443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a:spLocks noGrp="1" noChangeArrowheads="1"/>
          </p:cNvSpPr>
          <p:nvPr>
            <p:ph type="title"/>
          </p:nvPr>
        </p:nvSpPr>
        <p:spPr/>
        <p:txBody>
          <a:bodyPr/>
          <a:lstStyle/>
          <a:p>
            <a:pPr eaLnBrk="1" hangingPunct="1"/>
            <a:r>
              <a:rPr lang="fr-FR" smtClean="0"/>
              <a:t>Exercice </a:t>
            </a:r>
          </a:p>
        </p:txBody>
      </p:sp>
      <p:sp>
        <p:nvSpPr>
          <p:cNvPr id="7170" name="Espace réservé du numéro de diapositive 5"/>
          <p:cNvSpPr>
            <a:spLocks noGrp="1"/>
          </p:cNvSpPr>
          <p:nvPr>
            <p:ph type="sldNum" sz="quarter" idx="12"/>
          </p:nvPr>
        </p:nvSpPr>
        <p:spPr>
          <a:noFill/>
        </p:spPr>
        <p:txBody>
          <a:bodyPr/>
          <a:lstStyle/>
          <a:p>
            <a:pPr>
              <a:defRPr/>
            </a:pPr>
            <a:fld id="{33997EF2-64C1-4885-A6E0-2E33CF03056C}" type="slidenum">
              <a:rPr lang="fr-FR"/>
              <a:pPr>
                <a:defRPr/>
              </a:pPr>
              <a:t>6</a:t>
            </a:fld>
            <a:endParaRPr lang="fr-FR"/>
          </a:p>
        </p:txBody>
      </p:sp>
      <p:sp>
        <p:nvSpPr>
          <p:cNvPr id="10244" name="Rectangle 3"/>
          <p:cNvSpPr>
            <a:spLocks noGrp="1" noChangeArrowheads="1"/>
          </p:cNvSpPr>
          <p:nvPr>
            <p:ph sz="quarter" idx="1"/>
          </p:nvPr>
        </p:nvSpPr>
        <p:spPr/>
        <p:txBody>
          <a:bodyPr/>
          <a:lstStyle/>
          <a:p>
            <a:pPr eaLnBrk="1" hangingPunct="1"/>
            <a:r>
              <a:rPr lang="fr-FR" smtClean="0"/>
              <a:t>Mettre en œuvre les trois scenarios à travers des exemples.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AutoShape 2"/>
          <p:cNvSpPr>
            <a:spLocks noGrp="1" noChangeArrowheads="1"/>
          </p:cNvSpPr>
          <p:nvPr>
            <p:ph type="title"/>
          </p:nvPr>
        </p:nvSpPr>
        <p:spPr/>
        <p:txBody>
          <a:bodyPr/>
          <a:lstStyle/>
          <a:p>
            <a:pPr eaLnBrk="1" hangingPunct="1"/>
            <a:r>
              <a:rPr lang="fr-FR" smtClean="0"/>
              <a:t>LE LANGAGE PHP</a:t>
            </a:r>
          </a:p>
        </p:txBody>
      </p:sp>
      <p:sp>
        <p:nvSpPr>
          <p:cNvPr id="8194" name="Espace réservé du numéro de diapositive 5"/>
          <p:cNvSpPr>
            <a:spLocks noGrp="1"/>
          </p:cNvSpPr>
          <p:nvPr>
            <p:ph type="sldNum" sz="quarter" idx="12"/>
          </p:nvPr>
        </p:nvSpPr>
        <p:spPr>
          <a:noFill/>
        </p:spPr>
        <p:txBody>
          <a:bodyPr/>
          <a:lstStyle/>
          <a:p>
            <a:pPr>
              <a:defRPr/>
            </a:pPr>
            <a:fld id="{D5264BA9-9AAE-402D-89F0-DE3472C69984}" type="slidenum">
              <a:rPr lang="fr-FR"/>
              <a:pPr>
                <a:defRPr/>
              </a:pPr>
              <a:t>7</a:t>
            </a:fld>
            <a:endParaRPr lang="fr-FR"/>
          </a:p>
        </p:txBody>
      </p:sp>
      <p:sp>
        <p:nvSpPr>
          <p:cNvPr id="11268" name="Rectangle 3"/>
          <p:cNvSpPr>
            <a:spLocks noGrp="1" noChangeArrowheads="1"/>
          </p:cNvSpPr>
          <p:nvPr>
            <p:ph sz="quarter" idx="1"/>
          </p:nvPr>
        </p:nvSpPr>
        <p:spPr/>
        <p:txBody>
          <a:bodyPr/>
          <a:lstStyle/>
          <a:p>
            <a:pPr eaLnBrk="1" hangingPunct="1"/>
            <a:r>
              <a:rPr lang="fr-FR" smtClean="0"/>
              <a:t>Il permet de créer des pages Web dynamiques et interactives( c’est un langage de traitement coté serveur).</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AutoShape 2"/>
          <p:cNvSpPr>
            <a:spLocks noGrp="1" noChangeArrowheads="1"/>
          </p:cNvSpPr>
          <p:nvPr>
            <p:ph type="title"/>
          </p:nvPr>
        </p:nvSpPr>
        <p:spPr>
          <a:xfrm>
            <a:off x="755650" y="620713"/>
            <a:ext cx="7920038" cy="1647825"/>
          </a:xfrm>
        </p:spPr>
        <p:txBody>
          <a:bodyPr/>
          <a:lstStyle/>
          <a:p>
            <a:pPr eaLnBrk="1" hangingPunct="1"/>
            <a:r>
              <a:rPr lang="fr-FR" sz="3200" smtClean="0"/>
              <a:t>WampServer : plateforme de développement web</a:t>
            </a:r>
            <a:br>
              <a:rPr lang="fr-FR" sz="3200" smtClean="0"/>
            </a:br>
            <a:endParaRPr lang="fr-FR" sz="3200" smtClean="0"/>
          </a:p>
        </p:txBody>
      </p:sp>
      <p:sp>
        <p:nvSpPr>
          <p:cNvPr id="9218" name="Espace réservé du numéro de diapositive 5"/>
          <p:cNvSpPr>
            <a:spLocks noGrp="1"/>
          </p:cNvSpPr>
          <p:nvPr>
            <p:ph type="sldNum" sz="quarter" idx="12"/>
          </p:nvPr>
        </p:nvSpPr>
        <p:spPr>
          <a:noFill/>
        </p:spPr>
        <p:txBody>
          <a:bodyPr/>
          <a:lstStyle/>
          <a:p>
            <a:pPr>
              <a:defRPr/>
            </a:pPr>
            <a:fld id="{35B2429A-1955-440A-9423-ACF2821EF298}" type="slidenum">
              <a:rPr lang="fr-FR"/>
              <a:pPr>
                <a:defRPr/>
              </a:pPr>
              <a:t>8</a:t>
            </a:fld>
            <a:endParaRPr lang="fr-FR"/>
          </a:p>
        </p:txBody>
      </p:sp>
      <p:sp>
        <p:nvSpPr>
          <p:cNvPr id="12292" name="Rectangle 3"/>
          <p:cNvSpPr>
            <a:spLocks noGrp="1" noChangeArrowheads="1"/>
          </p:cNvSpPr>
          <p:nvPr>
            <p:ph sz="quarter" idx="1"/>
          </p:nvPr>
        </p:nvSpPr>
        <p:spPr/>
        <p:txBody>
          <a:bodyPr/>
          <a:lstStyle/>
          <a:p>
            <a:pPr eaLnBrk="1" hangingPunct="1"/>
            <a:r>
              <a:rPr lang="fr-FR" b="1" smtClean="0"/>
              <a:t>Apache, MySQL, PHP pour Windows</a:t>
            </a:r>
          </a:p>
          <a:p>
            <a:pPr eaLnBrk="1" hangingPunct="1"/>
            <a:r>
              <a:rPr lang="fr-FR" sz="1600" b="1" smtClean="0"/>
              <a:t>WampServer est une plate-forme de développement Web sous Windows. Il permet de développer des applications Web dynamiques à l'aide du serveur Apache2, du langage de scripts PHP et d'une base de données MySQL. Il possède également PHPMyAdmin pour gérer plus facilement vos bases de données.</a:t>
            </a:r>
            <a:r>
              <a:rPr lang="fr-FR" sz="1600" smtClean="0"/>
              <a:t> </a:t>
            </a:r>
            <a:endParaRPr lang="fr-FR" sz="1600" b="1" smtClean="0"/>
          </a:p>
          <a:p>
            <a:pPr eaLnBrk="1" hangingPunct="1">
              <a:buFont typeface="Wingdings" pitchFamily="2" charset="2"/>
              <a:buNone/>
            </a:pPr>
            <a:r>
              <a:rPr lang="fr-FR" smtClean="0"/>
              <a:t/>
            </a:r>
            <a:br>
              <a:rPr lang="fr-FR" smtClean="0"/>
            </a:br>
            <a:r>
              <a:rPr lang="fr-FR" smtClean="0"/>
              <a:t> </a:t>
            </a:r>
          </a:p>
        </p:txBody>
      </p:sp>
      <p:pic>
        <p:nvPicPr>
          <p:cNvPr id="12293" name="Picture 7"/>
          <p:cNvPicPr>
            <a:picLocks noChangeAspect="1" noChangeArrowheads="1"/>
          </p:cNvPicPr>
          <p:nvPr/>
        </p:nvPicPr>
        <p:blipFill>
          <a:blip r:embed="rId2"/>
          <a:srcRect/>
          <a:stretch>
            <a:fillRect/>
          </a:stretch>
        </p:blipFill>
        <p:spPr bwMode="auto">
          <a:xfrm>
            <a:off x="3071813" y="3071813"/>
            <a:ext cx="2133600" cy="29241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AutoShape 2"/>
          <p:cNvSpPr>
            <a:spLocks noGrp="1" noChangeArrowheads="1"/>
          </p:cNvSpPr>
          <p:nvPr>
            <p:ph type="title"/>
          </p:nvPr>
        </p:nvSpPr>
        <p:spPr/>
        <p:txBody>
          <a:bodyPr/>
          <a:lstStyle/>
          <a:p>
            <a:pPr eaLnBrk="1" hangingPunct="1"/>
            <a:r>
              <a:rPr lang="fr-FR" smtClean="0"/>
              <a:t>Première Page PHP</a:t>
            </a:r>
          </a:p>
        </p:txBody>
      </p:sp>
      <p:sp>
        <p:nvSpPr>
          <p:cNvPr id="10242" name="Espace réservé du numéro de diapositive 5"/>
          <p:cNvSpPr>
            <a:spLocks noGrp="1"/>
          </p:cNvSpPr>
          <p:nvPr>
            <p:ph type="sldNum" sz="quarter" idx="12"/>
          </p:nvPr>
        </p:nvSpPr>
        <p:spPr>
          <a:noFill/>
        </p:spPr>
        <p:txBody>
          <a:bodyPr/>
          <a:lstStyle/>
          <a:p>
            <a:pPr>
              <a:defRPr/>
            </a:pPr>
            <a:fld id="{021D15FD-A023-471B-8E85-CB7873F2BE4C}" type="slidenum">
              <a:rPr lang="fr-FR"/>
              <a:pPr>
                <a:defRPr/>
              </a:pPr>
              <a:t>9</a:t>
            </a:fld>
            <a:endParaRPr lang="fr-FR"/>
          </a:p>
        </p:txBody>
      </p:sp>
      <p:sp>
        <p:nvSpPr>
          <p:cNvPr id="13316" name="Rectangle 3"/>
          <p:cNvSpPr>
            <a:spLocks noGrp="1" noChangeArrowheads="1"/>
          </p:cNvSpPr>
          <p:nvPr>
            <p:ph sz="quarter" idx="1"/>
          </p:nvPr>
        </p:nvSpPr>
        <p:spPr/>
        <p:txBody>
          <a:bodyPr/>
          <a:lstStyle/>
          <a:p>
            <a:pPr eaLnBrk="1" hangingPunct="1">
              <a:lnSpc>
                <a:spcPct val="90000"/>
              </a:lnSpc>
            </a:pPr>
            <a:r>
              <a:rPr lang="fr-FR" dirty="0" smtClean="0"/>
              <a:t>Une page </a:t>
            </a:r>
            <a:r>
              <a:rPr lang="fr-FR" dirty="0" err="1" smtClean="0"/>
              <a:t>php</a:t>
            </a:r>
            <a:r>
              <a:rPr lang="fr-FR" dirty="0" smtClean="0"/>
              <a:t> :est une page html qui contient du script </a:t>
            </a:r>
            <a:r>
              <a:rPr lang="fr-FR" dirty="0" err="1" smtClean="0"/>
              <a:t>php</a:t>
            </a:r>
            <a:r>
              <a:rPr lang="fr-FR" dirty="0" smtClean="0"/>
              <a:t> et ayant l’extension .</a:t>
            </a:r>
            <a:r>
              <a:rPr lang="fr-FR" dirty="0" err="1" smtClean="0"/>
              <a:t>php</a:t>
            </a:r>
            <a:endParaRPr lang="fr-FR" dirty="0" smtClean="0"/>
          </a:p>
          <a:p>
            <a:pPr eaLnBrk="1" hangingPunct="1">
              <a:lnSpc>
                <a:spcPct val="90000"/>
              </a:lnSpc>
            </a:pPr>
            <a:r>
              <a:rPr lang="fr-FR" dirty="0" smtClean="0"/>
              <a:t>Pour </a:t>
            </a:r>
            <a:r>
              <a:rPr lang="fr-FR" dirty="0" err="1" smtClean="0"/>
              <a:t>inserer</a:t>
            </a:r>
            <a:r>
              <a:rPr lang="fr-FR" dirty="0" smtClean="0"/>
              <a:t> du code </a:t>
            </a:r>
            <a:r>
              <a:rPr lang="fr-FR" dirty="0" err="1" smtClean="0"/>
              <a:t>php</a:t>
            </a:r>
            <a:r>
              <a:rPr lang="fr-FR" dirty="0" smtClean="0"/>
              <a:t> , on utilise la balise</a:t>
            </a:r>
          </a:p>
          <a:p>
            <a:pPr eaLnBrk="1" hangingPunct="1">
              <a:lnSpc>
                <a:spcPct val="90000"/>
              </a:lnSpc>
              <a:buFont typeface="Wingdings" pitchFamily="2" charset="2"/>
              <a:buNone/>
            </a:pPr>
            <a:r>
              <a:rPr lang="fr-FR" dirty="0" smtClean="0"/>
              <a:t>&lt;?</a:t>
            </a:r>
            <a:r>
              <a:rPr lang="fr-FR" dirty="0" err="1" smtClean="0"/>
              <a:t>php</a:t>
            </a:r>
            <a:r>
              <a:rPr lang="fr-FR" dirty="0" smtClean="0"/>
              <a:t>: balise ouvrante</a:t>
            </a:r>
          </a:p>
          <a:p>
            <a:pPr eaLnBrk="1" hangingPunct="1">
              <a:lnSpc>
                <a:spcPct val="90000"/>
              </a:lnSpc>
              <a:buFont typeface="Wingdings" pitchFamily="2" charset="2"/>
              <a:buNone/>
            </a:pPr>
            <a:endParaRPr lang="fr-FR" dirty="0" smtClean="0"/>
          </a:p>
          <a:p>
            <a:pPr eaLnBrk="1" hangingPunct="1">
              <a:lnSpc>
                <a:spcPct val="90000"/>
              </a:lnSpc>
              <a:buFont typeface="Wingdings" pitchFamily="2" charset="2"/>
              <a:buNone/>
            </a:pPr>
            <a:r>
              <a:rPr lang="fr-FR" dirty="0" smtClean="0"/>
              <a:t> ?&gt;:balise fermante</a:t>
            </a:r>
          </a:p>
          <a:p>
            <a:pPr eaLnBrk="1" hangingPunct="1">
              <a:lnSpc>
                <a:spcPct val="90000"/>
              </a:lnSpc>
              <a:buFont typeface="Wingdings" pitchFamily="2" charset="2"/>
              <a:buNone/>
            </a:pPr>
            <a:r>
              <a:rPr lang="fr-FR" dirty="0" smtClean="0"/>
              <a:t>&lt;?</a:t>
            </a:r>
            <a:r>
              <a:rPr lang="fr-FR" dirty="0" err="1" smtClean="0"/>
              <a:t>php</a:t>
            </a:r>
            <a:r>
              <a:rPr lang="fr-FR" dirty="0" smtClean="0"/>
              <a:t> /* Insérer du code PHP ici */ ?&gt;  </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AutoShape 2"/>
          <p:cNvSpPr>
            <a:spLocks noGrp="1" noChangeArrowheads="1"/>
          </p:cNvSpPr>
          <p:nvPr>
            <p:ph type="title"/>
          </p:nvPr>
        </p:nvSpPr>
        <p:spPr/>
        <p:txBody>
          <a:bodyPr/>
          <a:lstStyle/>
          <a:p>
            <a:pPr eaLnBrk="1" hangingPunct="1"/>
            <a:r>
              <a:rPr lang="fr-FR" sz="3200" smtClean="0"/>
              <a:t>Afficher du texte</a:t>
            </a:r>
            <a:br>
              <a:rPr lang="fr-FR" sz="3200" smtClean="0"/>
            </a:br>
            <a:endParaRPr lang="fr-FR" sz="3200" smtClean="0"/>
          </a:p>
        </p:txBody>
      </p:sp>
      <p:sp>
        <p:nvSpPr>
          <p:cNvPr id="11266" name="Espace réservé du numéro de diapositive 5"/>
          <p:cNvSpPr>
            <a:spLocks noGrp="1"/>
          </p:cNvSpPr>
          <p:nvPr>
            <p:ph type="sldNum" sz="quarter" idx="12"/>
          </p:nvPr>
        </p:nvSpPr>
        <p:spPr>
          <a:noFill/>
        </p:spPr>
        <p:txBody>
          <a:bodyPr/>
          <a:lstStyle/>
          <a:p>
            <a:pPr>
              <a:defRPr/>
            </a:pPr>
            <a:fld id="{FEE25BF7-B176-4C9D-B9B9-75AE33168EDF}" type="slidenum">
              <a:rPr lang="fr-FR"/>
              <a:pPr>
                <a:defRPr/>
              </a:pPr>
              <a:t>10</a:t>
            </a:fld>
            <a:endParaRPr lang="fr-FR"/>
          </a:p>
        </p:txBody>
      </p:sp>
      <p:sp>
        <p:nvSpPr>
          <p:cNvPr id="14340" name="Rectangle 3"/>
          <p:cNvSpPr>
            <a:spLocks noGrp="1" noChangeArrowheads="1"/>
          </p:cNvSpPr>
          <p:nvPr>
            <p:ph sz="quarter" idx="1"/>
          </p:nvPr>
        </p:nvSpPr>
        <p:spPr/>
        <p:txBody>
          <a:bodyPr/>
          <a:lstStyle/>
          <a:p>
            <a:pPr eaLnBrk="1" hangingPunct="1"/>
            <a:r>
              <a:rPr lang="fr-FR" b="1" dirty="0" smtClean="0"/>
              <a:t>L'instruction </a:t>
            </a:r>
            <a:r>
              <a:rPr lang="fr-FR" b="1" dirty="0" err="1" smtClean="0"/>
              <a:t>echo</a:t>
            </a:r>
            <a:r>
              <a:rPr lang="fr-FR" b="1" dirty="0" smtClean="0"/>
              <a:t>:</a:t>
            </a:r>
          </a:p>
          <a:p>
            <a:pPr eaLnBrk="1" hangingPunct="1"/>
            <a:r>
              <a:rPr lang="fr-FR" b="1" dirty="0" smtClean="0"/>
              <a:t>Exemple:</a:t>
            </a:r>
          </a:p>
          <a:p>
            <a:pPr eaLnBrk="1" hangingPunct="1"/>
            <a:endParaRPr lang="fr-FR" b="1" dirty="0" smtClean="0"/>
          </a:p>
          <a:p>
            <a:pPr eaLnBrk="1" hangingPunct="1"/>
            <a:r>
              <a:rPr lang="fr-FR" sz="2000" b="1" dirty="0" smtClean="0"/>
              <a:t>       &lt;?</a:t>
            </a:r>
            <a:r>
              <a:rPr lang="fr-FR" sz="2000" b="1" dirty="0" err="1" smtClean="0"/>
              <a:t>php</a:t>
            </a:r>
            <a:r>
              <a:rPr lang="fr-FR" sz="2000" b="1" dirty="0" smtClean="0"/>
              <a:t> </a:t>
            </a:r>
            <a:r>
              <a:rPr lang="fr-FR" sz="2000" b="1" dirty="0" err="1" smtClean="0"/>
              <a:t>echo</a:t>
            </a:r>
            <a:r>
              <a:rPr lang="fr-FR" sz="2000" b="1" dirty="0" smtClean="0"/>
              <a:t> </a:t>
            </a:r>
            <a:r>
              <a:rPr lang="fr-FR" sz="2000" b="1" dirty="0" smtClean="0"/>
              <a:t>"&lt;H1&gt;Ceci </a:t>
            </a:r>
            <a:r>
              <a:rPr lang="fr-FR" sz="2000" b="1" dirty="0" smtClean="0"/>
              <a:t>est du texte &lt;/H1&gt;"; ?&gt;</a:t>
            </a:r>
            <a:r>
              <a:rPr lang="fr-FR" sz="2000" dirty="0" smtClean="0"/>
              <a:t> </a:t>
            </a:r>
          </a:p>
          <a:p>
            <a:pPr eaLnBrk="1" hangingPunct="1"/>
            <a:r>
              <a:rPr lang="fr-FR" sz="2000" b="1" dirty="0" smtClean="0"/>
              <a:t>       &lt;?</a:t>
            </a:r>
            <a:r>
              <a:rPr lang="fr-FR" sz="2000" b="1" dirty="0" err="1" smtClean="0"/>
              <a:t>php</a:t>
            </a:r>
            <a:r>
              <a:rPr lang="fr-FR" sz="2000" b="1" dirty="0" smtClean="0"/>
              <a:t> </a:t>
            </a:r>
            <a:r>
              <a:rPr lang="fr-FR" sz="2000" b="1" dirty="0" err="1" smtClean="0"/>
              <a:t>echo</a:t>
            </a:r>
            <a:r>
              <a:rPr lang="fr-FR" sz="2000" b="1" dirty="0" smtClean="0"/>
              <a:t> ‘&lt;H1&gt;Ceci est du texte &lt;/H1&gt;’; ?&gt;</a:t>
            </a:r>
            <a:r>
              <a:rPr lang="fr-FR" sz="2000" dirty="0" smtClean="0"/>
              <a:t> </a:t>
            </a:r>
            <a:endParaRPr lang="fr-FR" sz="2000" b="1" dirty="0" smtClean="0"/>
          </a:p>
          <a:p>
            <a:pPr eaLnBrk="1" hangingPunct="1"/>
            <a:endParaRPr lang="fr-FR" sz="2000" b="1" dirty="0" smtClean="0"/>
          </a:p>
          <a:p>
            <a:pPr eaLnBrk="1" hangingPunct="1"/>
            <a:endParaRPr lang="fr-FR" sz="2000" dirty="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AutoShape 2"/>
          <p:cNvSpPr>
            <a:spLocks noGrp="1" noChangeArrowheads="1"/>
          </p:cNvSpPr>
          <p:nvPr>
            <p:ph type="title"/>
          </p:nvPr>
        </p:nvSpPr>
        <p:spPr/>
        <p:txBody>
          <a:bodyPr/>
          <a:lstStyle/>
          <a:p>
            <a:pPr eaLnBrk="1" hangingPunct="1"/>
            <a:r>
              <a:rPr lang="fr-FR" sz="3200" smtClean="0"/>
              <a:t>Les commentaires</a:t>
            </a:r>
            <a:br>
              <a:rPr lang="fr-FR" sz="3200" smtClean="0"/>
            </a:br>
            <a:endParaRPr lang="fr-FR" sz="3200" smtClean="0"/>
          </a:p>
        </p:txBody>
      </p:sp>
      <p:sp>
        <p:nvSpPr>
          <p:cNvPr id="12290" name="Espace réservé du numéro de diapositive 5"/>
          <p:cNvSpPr>
            <a:spLocks noGrp="1"/>
          </p:cNvSpPr>
          <p:nvPr>
            <p:ph type="sldNum" sz="quarter" idx="12"/>
          </p:nvPr>
        </p:nvSpPr>
        <p:spPr>
          <a:noFill/>
        </p:spPr>
        <p:txBody>
          <a:bodyPr/>
          <a:lstStyle/>
          <a:p>
            <a:pPr>
              <a:defRPr/>
            </a:pPr>
            <a:fld id="{8928A2A1-EF7E-481C-9606-7CDDAB3A06BA}" type="slidenum">
              <a:rPr lang="fr-FR"/>
              <a:pPr>
                <a:defRPr/>
              </a:pPr>
              <a:t>11</a:t>
            </a:fld>
            <a:endParaRPr lang="fr-FR"/>
          </a:p>
        </p:txBody>
      </p:sp>
      <p:sp>
        <p:nvSpPr>
          <p:cNvPr id="15364" name="Rectangle 3"/>
          <p:cNvSpPr>
            <a:spLocks noGrp="1" noChangeArrowheads="1"/>
          </p:cNvSpPr>
          <p:nvPr>
            <p:ph sz="quarter" idx="1"/>
          </p:nvPr>
        </p:nvSpPr>
        <p:spPr/>
        <p:txBody>
          <a:bodyPr/>
          <a:lstStyle/>
          <a:p>
            <a:pPr eaLnBrk="1" hangingPunct="1"/>
            <a:r>
              <a:rPr lang="fr-FR" b="1" smtClean="0"/>
              <a:t>Les commentaires mono ligne</a:t>
            </a:r>
          </a:p>
          <a:p>
            <a:pPr eaLnBrk="1" hangingPunct="1">
              <a:buFont typeface="Wingdings" pitchFamily="2" charset="2"/>
              <a:buNone/>
            </a:pPr>
            <a:r>
              <a:rPr lang="fr-FR" smtClean="0"/>
              <a:t>          // commentaire sur une ligne</a:t>
            </a:r>
          </a:p>
          <a:p>
            <a:pPr eaLnBrk="1" hangingPunct="1">
              <a:buFont typeface="Wingdings" pitchFamily="2" charset="2"/>
              <a:buNone/>
            </a:pPr>
            <a:r>
              <a:rPr lang="fr-FR" b="1" smtClean="0"/>
              <a:t>Les commentaires multi lignes</a:t>
            </a:r>
          </a:p>
          <a:p>
            <a:pPr eaLnBrk="1" hangingPunct="1">
              <a:buFont typeface="Wingdings" pitchFamily="2" charset="2"/>
              <a:buNone/>
            </a:pPr>
            <a:r>
              <a:rPr lang="fr-FR" smtClean="0"/>
              <a:t>         /*</a:t>
            </a:r>
          </a:p>
          <a:p>
            <a:pPr eaLnBrk="1" hangingPunct="1">
              <a:buFont typeface="Wingdings" pitchFamily="2" charset="2"/>
              <a:buNone/>
            </a:pPr>
            <a:r>
              <a:rPr lang="fr-FR" smtClean="0"/>
              <a:t>Commentaire sur plusieurs lignes</a:t>
            </a:r>
          </a:p>
          <a:p>
            <a:pPr eaLnBrk="1" hangingPunct="1">
              <a:buFont typeface="Wingdings" pitchFamily="2" charset="2"/>
              <a:buNone/>
            </a:pPr>
            <a:r>
              <a:rPr lang="fr-FR" smtClean="0"/>
              <a:t>         */</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AutoShape 2"/>
          <p:cNvSpPr>
            <a:spLocks noGrp="1" noChangeArrowheads="1"/>
          </p:cNvSpPr>
          <p:nvPr>
            <p:ph type="title"/>
          </p:nvPr>
        </p:nvSpPr>
        <p:spPr/>
        <p:txBody>
          <a:bodyPr/>
          <a:lstStyle/>
          <a:p>
            <a:pPr eaLnBrk="1" hangingPunct="1"/>
            <a:r>
              <a:rPr lang="fr-FR" sz="3200" smtClean="0"/>
              <a:t>Les variables </a:t>
            </a:r>
            <a:br>
              <a:rPr lang="fr-FR" sz="3200" smtClean="0"/>
            </a:br>
            <a:endParaRPr lang="fr-FR" sz="3200" smtClean="0"/>
          </a:p>
        </p:txBody>
      </p:sp>
      <p:sp>
        <p:nvSpPr>
          <p:cNvPr id="13314" name="Espace réservé du numéro de diapositive 5"/>
          <p:cNvSpPr>
            <a:spLocks noGrp="1"/>
          </p:cNvSpPr>
          <p:nvPr>
            <p:ph type="sldNum" sz="quarter" idx="12"/>
          </p:nvPr>
        </p:nvSpPr>
        <p:spPr>
          <a:noFill/>
        </p:spPr>
        <p:txBody>
          <a:bodyPr/>
          <a:lstStyle/>
          <a:p>
            <a:pPr>
              <a:defRPr/>
            </a:pPr>
            <a:fld id="{BA171460-ED05-424B-9E35-5B9FCFF936F8}" type="slidenum">
              <a:rPr lang="fr-FR"/>
              <a:pPr>
                <a:defRPr/>
              </a:pPr>
              <a:t>12</a:t>
            </a:fld>
            <a:endParaRPr lang="fr-FR"/>
          </a:p>
        </p:txBody>
      </p:sp>
      <p:sp>
        <p:nvSpPr>
          <p:cNvPr id="16388" name="Rectangle 3"/>
          <p:cNvSpPr>
            <a:spLocks noGrp="1" noChangeArrowheads="1"/>
          </p:cNvSpPr>
          <p:nvPr>
            <p:ph sz="quarter" idx="1"/>
          </p:nvPr>
        </p:nvSpPr>
        <p:spPr/>
        <p:txBody>
          <a:bodyPr/>
          <a:lstStyle/>
          <a:p>
            <a:pPr eaLnBrk="1" hangingPunct="1">
              <a:lnSpc>
                <a:spcPct val="80000"/>
              </a:lnSpc>
            </a:pPr>
            <a:r>
              <a:rPr lang="fr-FR" sz="1800" b="1" smtClean="0"/>
              <a:t>Une variable</a:t>
            </a:r>
            <a:r>
              <a:rPr lang="fr-FR" sz="1800" smtClean="0"/>
              <a:t>, c'est une information stockée en mémoire temporairement. </a:t>
            </a:r>
          </a:p>
          <a:p>
            <a:pPr eaLnBrk="1" hangingPunct="1">
              <a:lnSpc>
                <a:spcPct val="80000"/>
              </a:lnSpc>
            </a:pPr>
            <a:r>
              <a:rPr lang="fr-FR" sz="1800" smtClean="0"/>
              <a:t>Chaque variable est caractérisée par son </a:t>
            </a:r>
            <a:r>
              <a:rPr lang="fr-FR" sz="1800" b="1" smtClean="0"/>
              <a:t>nom</a:t>
            </a:r>
            <a:r>
              <a:rPr lang="fr-FR" sz="1800" smtClean="0"/>
              <a:t> et sa </a:t>
            </a:r>
            <a:r>
              <a:rPr lang="fr-FR" sz="1800" b="1" smtClean="0"/>
              <a:t>valeur</a:t>
            </a:r>
            <a:r>
              <a:rPr lang="fr-FR" sz="1800" smtClean="0"/>
              <a:t>.</a:t>
            </a:r>
          </a:p>
          <a:p>
            <a:pPr eaLnBrk="1" hangingPunct="1">
              <a:lnSpc>
                <a:spcPct val="80000"/>
              </a:lnSpc>
            </a:pPr>
            <a:r>
              <a:rPr lang="fr-FR" sz="1800" smtClean="0"/>
              <a:t>Chaque variable possède un identifiant particulier, qui commence toujours par le caractère dollar ($) suivi du nom de la variable. Les règles de création des noms de variable sont les suivantes :</a:t>
            </a:r>
          </a:p>
          <a:p>
            <a:pPr eaLnBrk="1" hangingPunct="1">
              <a:lnSpc>
                <a:spcPct val="80000"/>
              </a:lnSpc>
            </a:pPr>
            <a:r>
              <a:rPr lang="fr-FR" sz="1800" smtClean="0"/>
              <a:t>• Le nom commence par un caractère alphabétique, pris dans les ensembles [a-z], [A-Z] ou par le caractère de soulignement (_).</a:t>
            </a:r>
          </a:p>
          <a:p>
            <a:pPr eaLnBrk="1" hangingPunct="1">
              <a:lnSpc>
                <a:spcPct val="80000"/>
              </a:lnSpc>
            </a:pPr>
            <a:r>
              <a:rPr lang="fr-FR" sz="1800" smtClean="0"/>
              <a:t>• Les caractères suivants peuvent être les mêmes plus des chiffres</a:t>
            </a:r>
          </a:p>
          <a:p>
            <a:pPr eaLnBrk="1" hangingPunct="1">
              <a:lnSpc>
                <a:spcPct val="80000"/>
              </a:lnSpc>
            </a:pPr>
            <a:r>
              <a:rPr lang="fr-FR" sz="1800" smtClean="0"/>
              <a:t>Les noms des variables sont sensibles à la casse (majuscules et minuscules).</a:t>
            </a:r>
          </a:p>
          <a:p>
            <a:pPr eaLnBrk="1" hangingPunct="1">
              <a:lnSpc>
                <a:spcPct val="80000"/>
              </a:lnSpc>
            </a:pPr>
            <a:r>
              <a:rPr lang="fr-FR" sz="1800" smtClean="0"/>
              <a:t>L’initialisation des variables n’est pas non plus obligatoire et une variable non initialisée n’a pas de type précis.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AutoShape 2"/>
          <p:cNvSpPr>
            <a:spLocks noGrp="1" noChangeArrowheads="1"/>
          </p:cNvSpPr>
          <p:nvPr>
            <p:ph type="title"/>
          </p:nvPr>
        </p:nvSpPr>
        <p:spPr/>
        <p:txBody>
          <a:bodyPr/>
          <a:lstStyle/>
          <a:p>
            <a:pPr eaLnBrk="1" hangingPunct="1"/>
            <a:r>
              <a:rPr lang="fr-FR" sz="3200" smtClean="0"/>
              <a:t>les types de données</a:t>
            </a:r>
            <a:br>
              <a:rPr lang="fr-FR" sz="3200" smtClean="0"/>
            </a:br>
            <a:endParaRPr lang="fr-FR" sz="3200" smtClean="0"/>
          </a:p>
        </p:txBody>
      </p:sp>
      <p:sp>
        <p:nvSpPr>
          <p:cNvPr id="14338" name="Espace réservé du numéro de diapositive 5"/>
          <p:cNvSpPr>
            <a:spLocks noGrp="1"/>
          </p:cNvSpPr>
          <p:nvPr>
            <p:ph type="sldNum" sz="quarter" idx="12"/>
          </p:nvPr>
        </p:nvSpPr>
        <p:spPr>
          <a:noFill/>
        </p:spPr>
        <p:txBody>
          <a:bodyPr/>
          <a:lstStyle/>
          <a:p>
            <a:pPr>
              <a:defRPr/>
            </a:pPr>
            <a:fld id="{5E963DF3-B128-41D3-81E8-18DF3B0C49D2}" type="slidenum">
              <a:rPr lang="fr-FR"/>
              <a:pPr>
                <a:defRPr/>
              </a:pPr>
              <a:t>13</a:t>
            </a:fld>
            <a:endParaRPr lang="fr-FR"/>
          </a:p>
        </p:txBody>
      </p:sp>
      <p:sp>
        <p:nvSpPr>
          <p:cNvPr id="17412" name="Rectangle 3"/>
          <p:cNvSpPr>
            <a:spLocks noGrp="1" noChangeArrowheads="1"/>
          </p:cNvSpPr>
          <p:nvPr>
            <p:ph sz="quarter" idx="1"/>
          </p:nvPr>
        </p:nvSpPr>
        <p:spPr/>
        <p:txBody>
          <a:bodyPr/>
          <a:lstStyle/>
          <a:p>
            <a:pPr eaLnBrk="1" hangingPunct="1"/>
            <a:r>
              <a:rPr lang="fr-FR" sz="3600" b="1" dirty="0" smtClean="0"/>
              <a:t>Le type string (chaîne de caractères)</a:t>
            </a:r>
          </a:p>
          <a:p>
            <a:pPr eaLnBrk="1" hangingPunct="1">
              <a:buFont typeface="Wingdings" pitchFamily="2" charset="2"/>
              <a:buNone/>
            </a:pPr>
            <a:r>
              <a:rPr lang="fr-FR" sz="3600" dirty="0" smtClean="0"/>
              <a:t>           </a:t>
            </a:r>
            <a:r>
              <a:rPr lang="fr-FR" dirty="0" smtClean="0"/>
              <a:t>exemple:</a:t>
            </a:r>
          </a:p>
          <a:p>
            <a:pPr eaLnBrk="1" hangingPunct="1">
              <a:buFont typeface="Wingdings" pitchFamily="2" charset="2"/>
              <a:buNone/>
            </a:pPr>
            <a:r>
              <a:rPr lang="fr-FR" dirty="0" smtClean="0"/>
              <a:t>       &lt;?</a:t>
            </a:r>
            <a:r>
              <a:rPr lang="fr-FR" dirty="0" err="1" smtClean="0"/>
              <a:t>php</a:t>
            </a:r>
            <a:r>
              <a:rPr lang="fr-FR" dirty="0" smtClean="0"/>
              <a:t> $nom =  "</a:t>
            </a:r>
            <a:r>
              <a:rPr lang="fr-FR" dirty="0" err="1" smtClean="0"/>
              <a:t>ahmad</a:t>
            </a:r>
            <a:r>
              <a:rPr lang="fr-FR" dirty="0" smtClean="0"/>
              <a:t>"; </a:t>
            </a:r>
          </a:p>
          <a:p>
            <a:pPr>
              <a:buNone/>
            </a:pPr>
            <a:r>
              <a:rPr lang="fr-FR" dirty="0" smtClean="0"/>
              <a:t>       $nom1 = </a:t>
            </a:r>
            <a:r>
              <a:rPr lang="fr-FR" dirty="0"/>
              <a:t>'</a:t>
            </a:r>
            <a:r>
              <a:rPr lang="fr-FR" dirty="0" err="1"/>
              <a:t>mohamad</a:t>
            </a:r>
            <a:r>
              <a:rPr lang="fr-FR" dirty="0" smtClean="0"/>
              <a:t>'; ?&gt; </a:t>
            </a:r>
          </a:p>
          <a:p>
            <a:pPr eaLnBrk="1" hangingPunct="1">
              <a:buFont typeface="Wingdings" pitchFamily="2" charset="2"/>
              <a:buNone/>
            </a:pPr>
            <a:r>
              <a:rPr lang="fr-FR" dirty="0" smtClean="0"/>
              <a:t>               </a:t>
            </a:r>
            <a:endParaRPr lang="fr-FR" sz="3600"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endParaRPr lang="fr-FR" smtClean="0"/>
          </a:p>
        </p:txBody>
      </p:sp>
      <p:sp>
        <p:nvSpPr>
          <p:cNvPr id="15362" name="Espace réservé du numéro de diapositive 5"/>
          <p:cNvSpPr>
            <a:spLocks noGrp="1"/>
          </p:cNvSpPr>
          <p:nvPr>
            <p:ph type="sldNum" sz="quarter" idx="12"/>
          </p:nvPr>
        </p:nvSpPr>
        <p:spPr>
          <a:noFill/>
        </p:spPr>
        <p:txBody>
          <a:bodyPr/>
          <a:lstStyle/>
          <a:p>
            <a:pPr>
              <a:defRPr/>
            </a:pPr>
            <a:fld id="{EDCB3A54-BE91-4C43-ABF5-84F35D52EF7F}" type="slidenum">
              <a:rPr lang="fr-FR"/>
              <a:pPr>
                <a:defRPr/>
              </a:pPr>
              <a:t>14</a:t>
            </a:fld>
            <a:endParaRPr lang="fr-FR"/>
          </a:p>
        </p:txBody>
      </p:sp>
      <p:sp>
        <p:nvSpPr>
          <p:cNvPr id="18436" name="Rectangle 3"/>
          <p:cNvSpPr>
            <a:spLocks noGrp="1" noChangeArrowheads="1"/>
          </p:cNvSpPr>
          <p:nvPr>
            <p:ph sz="quarter" idx="1"/>
          </p:nvPr>
        </p:nvSpPr>
        <p:spPr/>
        <p:txBody>
          <a:bodyPr/>
          <a:lstStyle/>
          <a:p>
            <a:pPr eaLnBrk="1" hangingPunct="1"/>
            <a:r>
              <a:rPr lang="fr-FR" b="1" smtClean="0"/>
              <a:t>Le type int (nombre entier)</a:t>
            </a:r>
          </a:p>
          <a:p>
            <a:pPr eaLnBrk="1" hangingPunct="1">
              <a:buFont typeface="Wingdings" pitchFamily="2" charset="2"/>
              <a:buNone/>
            </a:pPr>
            <a:r>
              <a:rPr lang="fr-FR" smtClean="0"/>
              <a:t>              &lt;?php $age= 18; ?&gt; </a:t>
            </a:r>
          </a:p>
          <a:p>
            <a:pPr eaLnBrk="1" hangingPunct="1">
              <a:buFont typeface="Wingdings" pitchFamily="2" charset="2"/>
              <a:buNone/>
            </a:pPr>
            <a:r>
              <a:rPr lang="fr-FR" b="1" smtClean="0"/>
              <a:t>    Le type float (nombre décimal)</a:t>
            </a:r>
          </a:p>
          <a:p>
            <a:pPr eaLnBrk="1" hangingPunct="1">
              <a:buFont typeface="Wingdings" pitchFamily="2" charset="2"/>
              <a:buNone/>
            </a:pPr>
            <a:r>
              <a:rPr lang="fr-FR" b="1" smtClean="0"/>
              <a:t>              </a:t>
            </a:r>
            <a:r>
              <a:rPr lang="fr-FR" smtClean="0"/>
              <a:t>&lt;?php $poids = 57.6; ?&gt; </a:t>
            </a:r>
          </a:p>
          <a:p>
            <a:pPr eaLnBrk="1" hangingPunct="1">
              <a:buFont typeface="Wingdings" pitchFamily="2" charset="2"/>
              <a:buNone/>
            </a:pPr>
            <a:r>
              <a:rPr lang="fr-FR" b="1" smtClean="0"/>
              <a:t>    Le type bool (booléen)</a:t>
            </a:r>
          </a:p>
          <a:p>
            <a:pPr eaLnBrk="1" hangingPunct="1">
              <a:buFont typeface="Wingdings" pitchFamily="2" charset="2"/>
              <a:buNone/>
            </a:pPr>
            <a:r>
              <a:rPr lang="fr-FR" smtClean="0"/>
              <a:t>              &lt;?php $marrie = false;?&gt; </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AutoShape 2"/>
          <p:cNvSpPr>
            <a:spLocks noGrp="1" noChangeArrowheads="1"/>
          </p:cNvSpPr>
          <p:nvPr>
            <p:ph type="title"/>
          </p:nvPr>
        </p:nvSpPr>
        <p:spPr/>
        <p:txBody>
          <a:bodyPr/>
          <a:lstStyle/>
          <a:p>
            <a:pPr eaLnBrk="1" hangingPunct="1"/>
            <a:r>
              <a:rPr lang="fr-FR" sz="3200" smtClean="0"/>
              <a:t>Afficher des variables</a:t>
            </a:r>
            <a:br>
              <a:rPr lang="fr-FR" sz="3200" smtClean="0"/>
            </a:br>
            <a:endParaRPr lang="fr-FR" sz="3200" smtClean="0"/>
          </a:p>
        </p:txBody>
      </p:sp>
      <p:sp>
        <p:nvSpPr>
          <p:cNvPr id="16386" name="Espace réservé du numéro de diapositive 5"/>
          <p:cNvSpPr>
            <a:spLocks noGrp="1"/>
          </p:cNvSpPr>
          <p:nvPr>
            <p:ph type="sldNum" sz="quarter" idx="12"/>
          </p:nvPr>
        </p:nvSpPr>
        <p:spPr>
          <a:noFill/>
        </p:spPr>
        <p:txBody>
          <a:bodyPr/>
          <a:lstStyle/>
          <a:p>
            <a:pPr>
              <a:defRPr/>
            </a:pPr>
            <a:fld id="{CB314D85-136A-435D-B028-88AA1B3DC8DD}" type="slidenum">
              <a:rPr lang="fr-FR"/>
              <a:pPr>
                <a:defRPr/>
              </a:pPr>
              <a:t>15</a:t>
            </a:fld>
            <a:endParaRPr lang="fr-FR"/>
          </a:p>
        </p:txBody>
      </p:sp>
      <p:sp>
        <p:nvSpPr>
          <p:cNvPr id="19460" name="Rectangle 3"/>
          <p:cNvSpPr>
            <a:spLocks noGrp="1" noChangeArrowheads="1"/>
          </p:cNvSpPr>
          <p:nvPr>
            <p:ph sz="quarter" idx="1"/>
          </p:nvPr>
        </p:nvSpPr>
        <p:spPr/>
        <p:txBody>
          <a:bodyPr/>
          <a:lstStyle/>
          <a:p>
            <a:pPr eaLnBrk="1" hangingPunct="1">
              <a:buFont typeface="Wingdings" pitchFamily="2" charset="2"/>
              <a:buNone/>
            </a:pPr>
            <a:r>
              <a:rPr lang="fr-FR" dirty="0" smtClean="0"/>
              <a:t>&lt;?</a:t>
            </a:r>
            <a:r>
              <a:rPr lang="fr-FR" dirty="0" err="1" smtClean="0"/>
              <a:t>php</a:t>
            </a:r>
            <a:endParaRPr lang="fr-FR" dirty="0" smtClean="0"/>
          </a:p>
          <a:p>
            <a:pPr eaLnBrk="1" hangingPunct="1">
              <a:buFont typeface="Wingdings" pitchFamily="2" charset="2"/>
              <a:buNone/>
            </a:pPr>
            <a:r>
              <a:rPr lang="fr-FR" dirty="0" smtClean="0"/>
              <a:t>          $</a:t>
            </a:r>
            <a:r>
              <a:rPr lang="fr-FR" dirty="0" err="1" smtClean="0"/>
              <a:t>age</a:t>
            </a:r>
            <a:r>
              <a:rPr lang="fr-FR" dirty="0" smtClean="0"/>
              <a:t>=18;</a:t>
            </a:r>
          </a:p>
          <a:p>
            <a:pPr eaLnBrk="1" hangingPunct="1">
              <a:buFont typeface="Wingdings" pitchFamily="2" charset="2"/>
              <a:buNone/>
            </a:pPr>
            <a:r>
              <a:rPr lang="fr-FR" dirty="0" smtClean="0"/>
              <a:t>          </a:t>
            </a:r>
            <a:r>
              <a:rPr lang="fr-FR" dirty="0" err="1" smtClean="0"/>
              <a:t>echo</a:t>
            </a:r>
            <a:r>
              <a:rPr lang="fr-FR" dirty="0" smtClean="0"/>
              <a:t> ("j'ai $</a:t>
            </a:r>
            <a:r>
              <a:rPr lang="fr-FR" dirty="0" err="1" smtClean="0"/>
              <a:t>age</a:t>
            </a:r>
            <a:r>
              <a:rPr lang="fr-FR" dirty="0" smtClean="0"/>
              <a:t> ans" );</a:t>
            </a:r>
          </a:p>
          <a:p>
            <a:pPr>
              <a:buNone/>
            </a:pPr>
            <a:r>
              <a:rPr lang="fr-FR" dirty="0" smtClean="0"/>
              <a:t>          </a:t>
            </a:r>
            <a:r>
              <a:rPr lang="fr-FR" dirty="0" err="1" smtClean="0"/>
              <a:t>echo</a:t>
            </a:r>
            <a:r>
              <a:rPr lang="fr-FR" dirty="0" smtClean="0"/>
              <a:t> ('j\'ai'. $</a:t>
            </a:r>
            <a:r>
              <a:rPr lang="fr-FR" dirty="0" err="1" smtClean="0"/>
              <a:t>age</a:t>
            </a:r>
            <a:r>
              <a:rPr lang="fr-FR" dirty="0" smtClean="0"/>
              <a:t> </a:t>
            </a:r>
            <a:r>
              <a:rPr lang="fr-FR" smtClean="0"/>
              <a:t>.</a:t>
            </a:r>
            <a:r>
              <a:rPr lang="fr-FR"/>
              <a:t>'ans');</a:t>
            </a:r>
            <a:endParaRPr lang="fr-FR" dirty="0" smtClean="0"/>
          </a:p>
          <a:p>
            <a:pPr eaLnBrk="1" hangingPunct="1">
              <a:buFont typeface="Wingdings" pitchFamily="2" charset="2"/>
              <a:buNone/>
            </a:pPr>
            <a:endParaRPr lang="fr-FR" dirty="0" smtClean="0"/>
          </a:p>
          <a:p>
            <a:pPr eaLnBrk="1" hangingPunct="1">
              <a:buFont typeface="Wingdings" pitchFamily="2" charset="2"/>
              <a:buNone/>
            </a:pPr>
            <a:r>
              <a:rPr lang="fr-FR" dirty="0" smtClean="0"/>
              <a:t>?&gt; </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smtClean="0"/>
              <a:t>Les constantes</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16</a:t>
            </a:fld>
            <a:endParaRPr lang="fr-FR"/>
          </a:p>
        </p:txBody>
      </p:sp>
      <p:sp>
        <p:nvSpPr>
          <p:cNvPr id="3" name="Espace réservé du contenu 2"/>
          <p:cNvSpPr>
            <a:spLocks noGrp="1"/>
          </p:cNvSpPr>
          <p:nvPr>
            <p:ph sz="quarter" idx="1"/>
          </p:nvPr>
        </p:nvSpPr>
        <p:spPr/>
        <p:txBody>
          <a:bodyPr/>
          <a:lstStyle/>
          <a:p>
            <a:r>
              <a:rPr lang="fr-CA" dirty="0" err="1"/>
              <a:t>d</a:t>
            </a:r>
            <a:r>
              <a:rPr lang="fr-CA" dirty="0" err="1" smtClean="0"/>
              <a:t>efine</a:t>
            </a:r>
            <a:r>
              <a:rPr lang="fr-CA" dirty="0" smtClean="0"/>
              <a:t>(‘</a:t>
            </a:r>
            <a:r>
              <a:rPr lang="fr-CA" dirty="0" err="1" smtClean="0"/>
              <a:t>Name’,’valeur</a:t>
            </a:r>
            <a:r>
              <a:rPr lang="fr-CA" dirty="0" smtClean="0"/>
              <a:t>’);</a:t>
            </a:r>
          </a:p>
          <a:p>
            <a:endParaRPr lang="fr-CA" dirty="0"/>
          </a:p>
          <a:p>
            <a:r>
              <a:rPr lang="fr-CA" dirty="0" err="1"/>
              <a:t>e</a:t>
            </a:r>
            <a:r>
              <a:rPr lang="fr-CA" dirty="0" err="1" smtClean="0"/>
              <a:t>cho</a:t>
            </a:r>
            <a:r>
              <a:rPr lang="fr-CA" dirty="0" smtClean="0"/>
              <a:t> Name;</a:t>
            </a:r>
            <a:endParaRPr lang="fr-FR" dirty="0"/>
          </a:p>
        </p:txBody>
      </p:sp>
    </p:spTree>
    <p:extLst>
      <p:ext uri="{BB962C8B-B14F-4D97-AF65-F5344CB8AC3E}">
        <p14:creationId xmlns:p14="http://schemas.microsoft.com/office/powerpoint/2010/main" val="265733289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AutoShape 2"/>
          <p:cNvSpPr>
            <a:spLocks noGrp="1" noChangeArrowheads="1"/>
          </p:cNvSpPr>
          <p:nvPr>
            <p:ph type="title"/>
          </p:nvPr>
        </p:nvSpPr>
        <p:spPr>
          <a:xfrm>
            <a:off x="827088" y="404813"/>
            <a:ext cx="7859712" cy="1571625"/>
          </a:xfrm>
        </p:spPr>
        <p:txBody>
          <a:bodyPr/>
          <a:lstStyle/>
          <a:p>
            <a:pPr eaLnBrk="1" hangingPunct="1"/>
            <a:r>
              <a:rPr lang="fr-FR" smtClean="0"/>
              <a:t/>
            </a:r>
            <a:br>
              <a:rPr lang="fr-FR" smtClean="0"/>
            </a:br>
            <a:r>
              <a:rPr lang="fr-FR" smtClean="0"/>
              <a:t>Les opérateurs arithmétiques :</a:t>
            </a:r>
          </a:p>
        </p:txBody>
      </p:sp>
      <p:sp>
        <p:nvSpPr>
          <p:cNvPr id="17410" name="Espace réservé du numéro de diapositive 5"/>
          <p:cNvSpPr>
            <a:spLocks noGrp="1"/>
          </p:cNvSpPr>
          <p:nvPr>
            <p:ph type="sldNum" sz="quarter" idx="12"/>
          </p:nvPr>
        </p:nvSpPr>
        <p:spPr>
          <a:noFill/>
        </p:spPr>
        <p:txBody>
          <a:bodyPr/>
          <a:lstStyle/>
          <a:p>
            <a:pPr>
              <a:defRPr/>
            </a:pPr>
            <a:fld id="{05EBB60C-05F9-4428-82A8-77D3B958EB32}" type="slidenum">
              <a:rPr lang="fr-FR"/>
              <a:pPr>
                <a:defRPr/>
              </a:pPr>
              <a:t>17</a:t>
            </a:fld>
            <a:endParaRPr lang="fr-FR"/>
          </a:p>
        </p:txBody>
      </p:sp>
      <p:sp>
        <p:nvSpPr>
          <p:cNvPr id="20484" name="Rectangle 3"/>
          <p:cNvSpPr>
            <a:spLocks noGrp="1" noChangeArrowheads="1"/>
          </p:cNvSpPr>
          <p:nvPr>
            <p:ph sz="quarter" idx="1"/>
          </p:nvPr>
        </p:nvSpPr>
        <p:spPr/>
        <p:txBody>
          <a:bodyPr/>
          <a:lstStyle/>
          <a:p>
            <a:pPr eaLnBrk="1" hangingPunct="1"/>
            <a:endParaRPr lang="fr-FR" dirty="0" smtClean="0"/>
          </a:p>
          <a:p>
            <a:pPr eaLnBrk="1" hangingPunct="1"/>
            <a:r>
              <a:rPr lang="fr-FR" dirty="0" smtClean="0"/>
              <a:t>+ :addition                                   ++a et a++</a:t>
            </a:r>
          </a:p>
          <a:p>
            <a:pPr eaLnBrk="1" hangingPunct="1"/>
            <a:r>
              <a:rPr lang="fr-FR" dirty="0" smtClean="0"/>
              <a:t>-:Soustraction                                --a </a:t>
            </a:r>
            <a:r>
              <a:rPr lang="fr-FR" dirty="0"/>
              <a:t>et </a:t>
            </a:r>
            <a:r>
              <a:rPr lang="fr-FR" dirty="0" smtClean="0"/>
              <a:t>a--</a:t>
            </a:r>
          </a:p>
          <a:p>
            <a:pPr eaLnBrk="1" hangingPunct="1"/>
            <a:r>
              <a:rPr lang="fr-FR" dirty="0" smtClean="0"/>
              <a:t>*:multiplication</a:t>
            </a:r>
          </a:p>
          <a:p>
            <a:pPr eaLnBrk="1" hangingPunct="1"/>
            <a:r>
              <a:rPr lang="fr-CA" dirty="0" smtClean="0"/>
              <a:t>**: puissance (7**2 =49)</a:t>
            </a:r>
            <a:endParaRPr lang="fr-FR" dirty="0" smtClean="0"/>
          </a:p>
          <a:p>
            <a:pPr eaLnBrk="1" hangingPunct="1"/>
            <a:r>
              <a:rPr lang="fr-FR" dirty="0" smtClean="0"/>
              <a:t>/:division</a:t>
            </a:r>
          </a:p>
          <a:p>
            <a:pPr eaLnBrk="1" hangingPunct="1"/>
            <a:r>
              <a:rPr lang="fr-FR" dirty="0" smtClean="0"/>
              <a:t>%:modulo (reste de la division euclidienne)</a:t>
            </a:r>
          </a:p>
        </p:txBody>
      </p:sp>
      <p:pic>
        <p:nvPicPr>
          <p:cNvPr id="20485" name="Picture 4"/>
          <p:cNvPicPr>
            <a:picLocks noChangeAspect="1" noChangeArrowheads="1"/>
          </p:cNvPicPr>
          <p:nvPr/>
        </p:nvPicPr>
        <p:blipFill>
          <a:blip r:embed="rId2"/>
          <a:srcRect/>
          <a:stretch>
            <a:fillRect/>
          </a:stretch>
        </p:blipFill>
        <p:spPr bwMode="auto">
          <a:xfrm>
            <a:off x="3275856" y="4725144"/>
            <a:ext cx="3529013" cy="20161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smtClean="0"/>
              <a:t>Priorité des opérateurs:</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18</a:t>
            </a:fld>
            <a:endParaRPr lang="fr-F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2564904"/>
            <a:ext cx="5438775" cy="336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1676988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AutoShape 2"/>
          <p:cNvSpPr>
            <a:spLocks noGrp="1" noChangeArrowheads="1"/>
          </p:cNvSpPr>
          <p:nvPr>
            <p:ph type="title"/>
          </p:nvPr>
        </p:nvSpPr>
        <p:spPr/>
        <p:txBody>
          <a:bodyPr/>
          <a:lstStyle/>
          <a:p>
            <a:pPr eaLnBrk="1" hangingPunct="1"/>
            <a:r>
              <a:rPr lang="fr-FR" smtClean="0"/>
              <a:t>Les opérateurs logiques</a:t>
            </a:r>
          </a:p>
        </p:txBody>
      </p:sp>
      <p:sp>
        <p:nvSpPr>
          <p:cNvPr id="18434" name="Espace réservé du numéro de diapositive 5"/>
          <p:cNvSpPr>
            <a:spLocks noGrp="1"/>
          </p:cNvSpPr>
          <p:nvPr>
            <p:ph type="sldNum" sz="quarter" idx="12"/>
          </p:nvPr>
        </p:nvSpPr>
        <p:spPr>
          <a:noFill/>
        </p:spPr>
        <p:txBody>
          <a:bodyPr/>
          <a:lstStyle/>
          <a:p>
            <a:pPr>
              <a:defRPr/>
            </a:pPr>
            <a:fld id="{B3AE9235-028D-4A37-85A3-5063228DA110}" type="slidenum">
              <a:rPr lang="fr-FR"/>
              <a:pPr>
                <a:defRPr/>
              </a:pPr>
              <a:t>19</a:t>
            </a:fld>
            <a:endParaRPr lang="fr-FR"/>
          </a:p>
        </p:txBody>
      </p:sp>
      <p:pic>
        <p:nvPicPr>
          <p:cNvPr id="21509" name="Picture 4"/>
          <p:cNvPicPr>
            <a:picLocks noChangeAspect="1" noChangeArrowheads="1"/>
          </p:cNvPicPr>
          <p:nvPr/>
        </p:nvPicPr>
        <p:blipFill>
          <a:blip r:embed="rId2"/>
          <a:srcRect/>
          <a:stretch>
            <a:fillRect/>
          </a:stretch>
        </p:blipFill>
        <p:spPr bwMode="auto">
          <a:xfrm>
            <a:off x="2643188" y="2143125"/>
            <a:ext cx="3455987" cy="22320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AutoShape 2"/>
          <p:cNvSpPr>
            <a:spLocks noGrp="1" noChangeArrowheads="1"/>
          </p:cNvSpPr>
          <p:nvPr>
            <p:ph type="title"/>
          </p:nvPr>
        </p:nvSpPr>
        <p:spPr>
          <a:xfrm>
            <a:off x="900113" y="1052513"/>
            <a:ext cx="7924800" cy="1143000"/>
          </a:xfrm>
        </p:spPr>
        <p:txBody>
          <a:bodyPr>
            <a:normAutofit fontScale="90000"/>
          </a:bodyPr>
          <a:lstStyle/>
          <a:p>
            <a:pPr eaLnBrk="1" fontAlgn="auto" hangingPunct="1">
              <a:spcAft>
                <a:spcPts val="0"/>
              </a:spcAft>
              <a:defRPr/>
            </a:pPr>
            <a:r>
              <a:rPr lang="fr-FR" sz="3200" smtClean="0"/>
              <a:t>La structure If... else</a:t>
            </a:r>
            <a:br>
              <a:rPr lang="fr-FR" sz="3200" smtClean="0"/>
            </a:br>
            <a:r>
              <a:rPr lang="fr-FR" sz="3200" smtClean="0"/>
              <a:t/>
            </a:r>
            <a:br>
              <a:rPr lang="fr-FR" sz="3200" smtClean="0"/>
            </a:br>
            <a:endParaRPr lang="fr-FR" sz="3200" smtClean="0"/>
          </a:p>
        </p:txBody>
      </p:sp>
      <p:sp>
        <p:nvSpPr>
          <p:cNvPr id="19458" name="Espace réservé du numéro de diapositive 5"/>
          <p:cNvSpPr>
            <a:spLocks noGrp="1"/>
          </p:cNvSpPr>
          <p:nvPr>
            <p:ph type="sldNum" sz="quarter" idx="12"/>
          </p:nvPr>
        </p:nvSpPr>
        <p:spPr>
          <a:noFill/>
        </p:spPr>
        <p:txBody>
          <a:bodyPr/>
          <a:lstStyle/>
          <a:p>
            <a:pPr>
              <a:defRPr/>
            </a:pPr>
            <a:fld id="{FF3825D6-DC31-460B-9AAE-2176AB121D90}" type="slidenum">
              <a:rPr lang="fr-FR"/>
              <a:pPr>
                <a:defRPr/>
              </a:pPr>
              <a:t>20</a:t>
            </a:fld>
            <a:endParaRPr lang="fr-FR"/>
          </a:p>
        </p:txBody>
      </p:sp>
      <p:sp>
        <p:nvSpPr>
          <p:cNvPr id="22532" name="Rectangle 3"/>
          <p:cNvSpPr>
            <a:spLocks noGrp="1" noChangeArrowheads="1"/>
          </p:cNvSpPr>
          <p:nvPr>
            <p:ph sz="quarter" idx="1"/>
          </p:nvPr>
        </p:nvSpPr>
        <p:spPr/>
        <p:txBody>
          <a:bodyPr/>
          <a:lstStyle/>
          <a:p>
            <a:pPr eaLnBrk="1" hangingPunct="1">
              <a:lnSpc>
                <a:spcPct val="80000"/>
              </a:lnSpc>
            </a:pPr>
            <a:r>
              <a:rPr lang="fr-FR" sz="2400" smtClean="0"/>
              <a:t>&lt;?php if( condition1 ) </a:t>
            </a:r>
          </a:p>
          <a:p>
            <a:pPr eaLnBrk="1" hangingPunct="1">
              <a:lnSpc>
                <a:spcPct val="80000"/>
              </a:lnSpc>
              <a:buFont typeface="Wingdings" pitchFamily="2" charset="2"/>
              <a:buNone/>
            </a:pPr>
            <a:r>
              <a:rPr lang="fr-FR" sz="2400" smtClean="0"/>
              <a:t>           { // instructions à exécuter entrer </a:t>
            </a:r>
          </a:p>
          <a:p>
            <a:pPr eaLnBrk="1" hangingPunct="1">
              <a:lnSpc>
                <a:spcPct val="80000"/>
              </a:lnSpc>
              <a:buFont typeface="Wingdings" pitchFamily="2" charset="2"/>
              <a:buNone/>
            </a:pPr>
            <a:r>
              <a:rPr lang="fr-FR" sz="2400" smtClean="0"/>
              <a:t>           } </a:t>
            </a:r>
          </a:p>
          <a:p>
            <a:pPr eaLnBrk="1" hangingPunct="1">
              <a:lnSpc>
                <a:spcPct val="80000"/>
              </a:lnSpc>
              <a:buFont typeface="Wingdings" pitchFamily="2" charset="2"/>
              <a:buNone/>
            </a:pPr>
            <a:r>
              <a:rPr lang="fr-FR" sz="2400" smtClean="0"/>
              <a:t>          elseif (condition2){// SINON SI </a:t>
            </a:r>
          </a:p>
          <a:p>
            <a:pPr eaLnBrk="1" hangingPunct="1">
              <a:lnSpc>
                <a:spcPct val="80000"/>
              </a:lnSpc>
              <a:buFont typeface="Wingdings" pitchFamily="2" charset="2"/>
              <a:buNone/>
            </a:pPr>
            <a:r>
              <a:rPr lang="fr-FR" sz="2400" smtClean="0"/>
              <a:t>         // instructions à exécuter</a:t>
            </a:r>
          </a:p>
          <a:p>
            <a:pPr eaLnBrk="1" hangingPunct="1">
              <a:lnSpc>
                <a:spcPct val="80000"/>
              </a:lnSpc>
              <a:buFont typeface="Wingdings" pitchFamily="2" charset="2"/>
              <a:buNone/>
            </a:pPr>
            <a:r>
              <a:rPr lang="fr-FR" sz="2400" smtClean="0"/>
              <a:t>           }</a:t>
            </a:r>
          </a:p>
          <a:p>
            <a:pPr eaLnBrk="1" hangingPunct="1">
              <a:lnSpc>
                <a:spcPct val="80000"/>
              </a:lnSpc>
              <a:buFont typeface="Wingdings" pitchFamily="2" charset="2"/>
              <a:buNone/>
            </a:pPr>
            <a:r>
              <a:rPr lang="fr-FR" sz="2400" smtClean="0"/>
              <a:t>          else {// SINON ne peut pas agir)</a:t>
            </a:r>
          </a:p>
          <a:p>
            <a:pPr eaLnBrk="1" hangingPunct="1">
              <a:lnSpc>
                <a:spcPct val="80000"/>
              </a:lnSpc>
              <a:buFont typeface="Wingdings" pitchFamily="2" charset="2"/>
              <a:buNone/>
            </a:pPr>
            <a:r>
              <a:rPr lang="fr-FR" sz="2400" smtClean="0"/>
              <a:t>          // instructions à exécuter</a:t>
            </a:r>
          </a:p>
          <a:p>
            <a:pPr eaLnBrk="1" hangingPunct="1">
              <a:lnSpc>
                <a:spcPct val="80000"/>
              </a:lnSpc>
              <a:buFont typeface="Wingdings" pitchFamily="2" charset="2"/>
              <a:buNone/>
            </a:pPr>
            <a:r>
              <a:rPr lang="fr-FR" sz="2400" smtClean="0"/>
              <a:t>          }</a:t>
            </a:r>
          </a:p>
          <a:p>
            <a:pPr eaLnBrk="1" hangingPunct="1">
              <a:lnSpc>
                <a:spcPct val="80000"/>
              </a:lnSpc>
              <a:buFont typeface="Wingdings" pitchFamily="2" charset="2"/>
              <a:buNone/>
            </a:pPr>
            <a:r>
              <a:rPr lang="fr-FR" sz="2400" smtClean="0"/>
              <a:t>?&gt; </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AutoShape 2"/>
          <p:cNvSpPr>
            <a:spLocks noGrp="1" noChangeArrowheads="1"/>
          </p:cNvSpPr>
          <p:nvPr>
            <p:ph type="title"/>
          </p:nvPr>
        </p:nvSpPr>
        <p:spPr/>
        <p:txBody>
          <a:bodyPr/>
          <a:lstStyle/>
          <a:p>
            <a:pPr eaLnBrk="1" hangingPunct="1"/>
            <a:r>
              <a:rPr lang="fr-FR" smtClean="0"/>
              <a:t>La structure switch()</a:t>
            </a:r>
          </a:p>
        </p:txBody>
      </p:sp>
      <p:sp>
        <p:nvSpPr>
          <p:cNvPr id="20482" name="Espace réservé du numéro de diapositive 5"/>
          <p:cNvSpPr>
            <a:spLocks noGrp="1"/>
          </p:cNvSpPr>
          <p:nvPr>
            <p:ph type="sldNum" sz="quarter" idx="12"/>
          </p:nvPr>
        </p:nvSpPr>
        <p:spPr>
          <a:noFill/>
        </p:spPr>
        <p:txBody>
          <a:bodyPr/>
          <a:lstStyle/>
          <a:p>
            <a:pPr>
              <a:defRPr/>
            </a:pPr>
            <a:fld id="{D0400E6B-6238-40A7-B2B3-BBE426A91F66}" type="slidenum">
              <a:rPr lang="fr-FR"/>
              <a:pPr>
                <a:defRPr/>
              </a:pPr>
              <a:t>21</a:t>
            </a:fld>
            <a:endParaRPr lang="fr-FR"/>
          </a:p>
        </p:txBody>
      </p:sp>
      <p:sp>
        <p:nvSpPr>
          <p:cNvPr id="20484" name="Rectangle 3"/>
          <p:cNvSpPr>
            <a:spLocks noGrp="1" noChangeArrowheads="1"/>
          </p:cNvSpPr>
          <p:nvPr>
            <p:ph sz="quarter" idx="1"/>
          </p:nvPr>
        </p:nvSpPr>
        <p:spPr/>
        <p:txBody>
          <a:bodyPr>
            <a:normAutofit fontScale="92500" lnSpcReduction="10000"/>
          </a:bodyPr>
          <a:lstStyle/>
          <a:p>
            <a:pPr marL="274320" indent="-274320" eaLnBrk="1" fontAlgn="auto" hangingPunct="1">
              <a:lnSpc>
                <a:spcPct val="80000"/>
              </a:lnSpc>
              <a:spcBef>
                <a:spcPts val="580"/>
              </a:spcBef>
              <a:spcAft>
                <a:spcPts val="0"/>
              </a:spcAft>
              <a:buFont typeface="Wingdings" pitchFamily="2" charset="2"/>
              <a:buNone/>
              <a:defRPr/>
            </a:pPr>
            <a:r>
              <a:rPr lang="fr-FR" sz="1200" smtClean="0"/>
              <a:t>&lt;?php</a:t>
            </a:r>
          </a:p>
          <a:p>
            <a:pPr marL="274320" indent="-274320" eaLnBrk="1" fontAlgn="auto" hangingPunct="1">
              <a:lnSpc>
                <a:spcPct val="80000"/>
              </a:lnSpc>
              <a:spcBef>
                <a:spcPts val="580"/>
              </a:spcBef>
              <a:spcAft>
                <a:spcPts val="0"/>
              </a:spcAft>
              <a:buFont typeface="Wingdings" pitchFamily="2" charset="2"/>
              <a:buNone/>
              <a:defRPr/>
            </a:pPr>
            <a:r>
              <a:rPr lang="fr-FR" sz="1200" smtClean="0"/>
              <a:t>$note = 10;</a:t>
            </a:r>
          </a:p>
          <a:p>
            <a:pPr marL="274320" indent="-274320" eaLnBrk="1" fontAlgn="auto" hangingPunct="1">
              <a:lnSpc>
                <a:spcPct val="80000"/>
              </a:lnSpc>
              <a:spcBef>
                <a:spcPts val="580"/>
              </a:spcBef>
              <a:spcAft>
                <a:spcPts val="0"/>
              </a:spcAft>
              <a:buFont typeface="Wingdings" pitchFamily="2" charset="2"/>
              <a:buNone/>
              <a:defRPr/>
            </a:pPr>
            <a:endParaRPr lang="fr-FR" sz="1200" smtClean="0"/>
          </a:p>
          <a:p>
            <a:pPr marL="274320" indent="-274320" eaLnBrk="1" fontAlgn="auto" hangingPunct="1">
              <a:lnSpc>
                <a:spcPct val="80000"/>
              </a:lnSpc>
              <a:spcBef>
                <a:spcPts val="580"/>
              </a:spcBef>
              <a:spcAft>
                <a:spcPts val="0"/>
              </a:spcAft>
              <a:buFont typeface="Wingdings" pitchFamily="2" charset="2"/>
              <a:buNone/>
              <a:defRPr/>
            </a:pPr>
            <a:r>
              <a:rPr lang="fr-FR" sz="1200" smtClean="0"/>
              <a:t>switch ($note) // on indique sur quelle variable on travaille</a:t>
            </a:r>
          </a:p>
          <a:p>
            <a:pPr marL="274320" indent="-274320" eaLnBrk="1" fontAlgn="auto" hangingPunct="1">
              <a:lnSpc>
                <a:spcPct val="80000"/>
              </a:lnSpc>
              <a:spcBef>
                <a:spcPts val="580"/>
              </a:spcBef>
              <a:spcAft>
                <a:spcPts val="0"/>
              </a:spcAft>
              <a:buFont typeface="Wingdings" pitchFamily="2" charset="2"/>
              <a:buNone/>
              <a:defRPr/>
            </a:pPr>
            <a:r>
              <a:rPr lang="fr-FR" sz="1200" smtClean="0"/>
              <a:t>{ </a:t>
            </a:r>
          </a:p>
          <a:p>
            <a:pPr marL="274320" indent="-274320" eaLnBrk="1" fontAlgn="auto" hangingPunct="1">
              <a:lnSpc>
                <a:spcPct val="80000"/>
              </a:lnSpc>
              <a:spcBef>
                <a:spcPts val="580"/>
              </a:spcBef>
              <a:spcAft>
                <a:spcPts val="0"/>
              </a:spcAft>
              <a:buFont typeface="Wingdings" pitchFamily="2" charset="2"/>
              <a:buNone/>
              <a:defRPr/>
            </a:pPr>
            <a:r>
              <a:rPr lang="fr-FR" sz="1200" smtClean="0"/>
              <a:t>case 5: // dans le cas où $note vaut 5</a:t>
            </a:r>
          </a:p>
          <a:p>
            <a:pPr marL="274320" indent="-274320" eaLnBrk="1" fontAlgn="auto" hangingPunct="1">
              <a:lnSpc>
                <a:spcPct val="80000"/>
              </a:lnSpc>
              <a:spcBef>
                <a:spcPts val="580"/>
              </a:spcBef>
              <a:spcAft>
                <a:spcPts val="0"/>
              </a:spcAft>
              <a:buFont typeface="Wingdings" pitchFamily="2" charset="2"/>
              <a:buNone/>
              <a:defRPr/>
            </a:pPr>
            <a:r>
              <a:rPr lang="fr-FR" sz="1200" smtClean="0"/>
              <a:t>echo "Tu es très mauvais";</a:t>
            </a:r>
          </a:p>
          <a:p>
            <a:pPr marL="274320" indent="-274320" eaLnBrk="1" fontAlgn="auto" hangingPunct="1">
              <a:lnSpc>
                <a:spcPct val="80000"/>
              </a:lnSpc>
              <a:spcBef>
                <a:spcPts val="580"/>
              </a:spcBef>
              <a:spcAft>
                <a:spcPts val="0"/>
              </a:spcAft>
              <a:buFont typeface="Wingdings" pitchFamily="2" charset="2"/>
              <a:buNone/>
              <a:defRPr/>
            </a:pPr>
            <a:r>
              <a:rPr lang="fr-FR" sz="1200" smtClean="0"/>
              <a:t>break;</a:t>
            </a:r>
          </a:p>
          <a:p>
            <a:pPr marL="274320" indent="-274320" eaLnBrk="1" fontAlgn="auto" hangingPunct="1">
              <a:lnSpc>
                <a:spcPct val="80000"/>
              </a:lnSpc>
              <a:spcBef>
                <a:spcPts val="580"/>
              </a:spcBef>
              <a:spcAft>
                <a:spcPts val="0"/>
              </a:spcAft>
              <a:buFont typeface="Wingdings" pitchFamily="2" charset="2"/>
              <a:buNone/>
              <a:defRPr/>
            </a:pPr>
            <a:endParaRPr lang="fr-FR" sz="1200" smtClean="0"/>
          </a:p>
          <a:p>
            <a:pPr marL="274320" indent="-274320" eaLnBrk="1" fontAlgn="auto" hangingPunct="1">
              <a:lnSpc>
                <a:spcPct val="80000"/>
              </a:lnSpc>
              <a:spcBef>
                <a:spcPts val="580"/>
              </a:spcBef>
              <a:spcAft>
                <a:spcPts val="0"/>
              </a:spcAft>
              <a:buFont typeface="Wingdings" pitchFamily="2" charset="2"/>
              <a:buNone/>
              <a:defRPr/>
            </a:pPr>
            <a:r>
              <a:rPr lang="fr-FR" sz="1200" smtClean="0"/>
              <a:t>case 10: // etc etc</a:t>
            </a:r>
          </a:p>
          <a:p>
            <a:pPr marL="274320" indent="-274320" eaLnBrk="1" fontAlgn="auto" hangingPunct="1">
              <a:lnSpc>
                <a:spcPct val="80000"/>
              </a:lnSpc>
              <a:spcBef>
                <a:spcPts val="580"/>
              </a:spcBef>
              <a:spcAft>
                <a:spcPts val="0"/>
              </a:spcAft>
              <a:buFont typeface="Wingdings" pitchFamily="2" charset="2"/>
              <a:buNone/>
              <a:defRPr/>
            </a:pPr>
            <a:r>
              <a:rPr lang="fr-FR" sz="1200" smtClean="0"/>
              <a:t>echo "Tu es moyen,...";</a:t>
            </a:r>
          </a:p>
          <a:p>
            <a:pPr marL="274320" indent="-274320" eaLnBrk="1" fontAlgn="auto" hangingPunct="1">
              <a:lnSpc>
                <a:spcPct val="80000"/>
              </a:lnSpc>
              <a:spcBef>
                <a:spcPts val="580"/>
              </a:spcBef>
              <a:spcAft>
                <a:spcPts val="0"/>
              </a:spcAft>
              <a:buFont typeface="Wingdings" pitchFamily="2" charset="2"/>
              <a:buNone/>
              <a:defRPr/>
            </a:pPr>
            <a:r>
              <a:rPr lang="fr-FR" sz="1200" smtClean="0"/>
              <a:t>break;</a:t>
            </a:r>
          </a:p>
          <a:p>
            <a:pPr marL="274320" indent="-274320" eaLnBrk="1" fontAlgn="auto" hangingPunct="1">
              <a:lnSpc>
                <a:spcPct val="80000"/>
              </a:lnSpc>
              <a:spcBef>
                <a:spcPts val="580"/>
              </a:spcBef>
              <a:spcAft>
                <a:spcPts val="0"/>
              </a:spcAft>
              <a:buFont typeface="Wingdings" pitchFamily="2" charset="2"/>
              <a:buNone/>
              <a:defRPr/>
            </a:pPr>
            <a:r>
              <a:rPr lang="fr-FR" sz="1200" smtClean="0"/>
              <a:t>case 12:</a:t>
            </a:r>
          </a:p>
          <a:p>
            <a:pPr marL="274320" indent="-274320" eaLnBrk="1" fontAlgn="auto" hangingPunct="1">
              <a:lnSpc>
                <a:spcPct val="80000"/>
              </a:lnSpc>
              <a:spcBef>
                <a:spcPts val="580"/>
              </a:spcBef>
              <a:spcAft>
                <a:spcPts val="0"/>
              </a:spcAft>
              <a:buFont typeface="Wingdings" pitchFamily="2" charset="2"/>
              <a:buNone/>
              <a:defRPr/>
            </a:pPr>
            <a:r>
              <a:rPr lang="fr-FR" sz="1200" smtClean="0"/>
              <a:t>echo "Tu es assez bon";</a:t>
            </a:r>
          </a:p>
          <a:p>
            <a:pPr marL="274320" indent="-274320" eaLnBrk="1" fontAlgn="auto" hangingPunct="1">
              <a:lnSpc>
                <a:spcPct val="80000"/>
              </a:lnSpc>
              <a:spcBef>
                <a:spcPts val="580"/>
              </a:spcBef>
              <a:spcAft>
                <a:spcPts val="0"/>
              </a:spcAft>
              <a:buFont typeface="Wingdings" pitchFamily="2" charset="2"/>
              <a:buNone/>
              <a:defRPr/>
            </a:pPr>
            <a:r>
              <a:rPr lang="fr-FR" sz="1200" smtClean="0"/>
              <a:t>break;</a:t>
            </a:r>
          </a:p>
          <a:p>
            <a:pPr marL="274320" indent="-274320" eaLnBrk="1" fontAlgn="auto" hangingPunct="1">
              <a:lnSpc>
                <a:spcPct val="80000"/>
              </a:lnSpc>
              <a:spcBef>
                <a:spcPts val="580"/>
              </a:spcBef>
              <a:spcAft>
                <a:spcPts val="0"/>
              </a:spcAft>
              <a:buFont typeface="Wingdings" pitchFamily="2" charset="2"/>
              <a:buNone/>
              <a:defRPr/>
            </a:pPr>
            <a:r>
              <a:rPr lang="fr-FR" sz="1200" smtClean="0"/>
              <a:t>case 16:</a:t>
            </a:r>
          </a:p>
          <a:p>
            <a:pPr marL="274320" indent="-274320" eaLnBrk="1" fontAlgn="auto" hangingPunct="1">
              <a:lnSpc>
                <a:spcPct val="80000"/>
              </a:lnSpc>
              <a:spcBef>
                <a:spcPts val="580"/>
              </a:spcBef>
              <a:spcAft>
                <a:spcPts val="0"/>
              </a:spcAft>
              <a:buFont typeface="Wingdings" pitchFamily="2" charset="2"/>
              <a:buNone/>
              <a:defRPr/>
            </a:pPr>
            <a:r>
              <a:rPr lang="fr-FR" sz="1200" smtClean="0"/>
              <a:t>echo "Tu es très bien !";</a:t>
            </a:r>
          </a:p>
          <a:p>
            <a:pPr marL="274320" indent="-274320" eaLnBrk="1" fontAlgn="auto" hangingPunct="1">
              <a:lnSpc>
                <a:spcPct val="80000"/>
              </a:lnSpc>
              <a:spcBef>
                <a:spcPts val="580"/>
              </a:spcBef>
              <a:spcAft>
                <a:spcPts val="0"/>
              </a:spcAft>
              <a:buFont typeface="Wingdings" pitchFamily="2" charset="2"/>
              <a:buNone/>
              <a:defRPr/>
            </a:pPr>
            <a:r>
              <a:rPr lang="fr-FR" sz="1200" smtClean="0"/>
              <a:t>break;</a:t>
            </a:r>
          </a:p>
          <a:p>
            <a:pPr marL="274320" indent="-274320" eaLnBrk="1" fontAlgn="auto" hangingPunct="1">
              <a:lnSpc>
                <a:spcPct val="80000"/>
              </a:lnSpc>
              <a:spcBef>
                <a:spcPts val="580"/>
              </a:spcBef>
              <a:spcAft>
                <a:spcPts val="0"/>
              </a:spcAft>
              <a:buFont typeface="Wingdings" pitchFamily="2" charset="2"/>
              <a:buNone/>
              <a:defRPr/>
            </a:pPr>
            <a:r>
              <a:rPr lang="fr-FR" sz="1200" smtClean="0"/>
              <a:t>default:</a:t>
            </a:r>
          </a:p>
          <a:p>
            <a:pPr marL="274320" indent="-274320" eaLnBrk="1" fontAlgn="auto" hangingPunct="1">
              <a:lnSpc>
                <a:spcPct val="80000"/>
              </a:lnSpc>
              <a:spcBef>
                <a:spcPts val="580"/>
              </a:spcBef>
              <a:spcAft>
                <a:spcPts val="0"/>
              </a:spcAft>
              <a:buFont typeface="Wingdings" pitchFamily="2" charset="2"/>
              <a:buNone/>
              <a:defRPr/>
            </a:pPr>
            <a:r>
              <a:rPr lang="fr-FR" sz="1200" smtClean="0"/>
              <a:t>echo "Désolé, je n'ai pas de message à afficher pour cette note";</a:t>
            </a:r>
          </a:p>
          <a:p>
            <a:pPr marL="274320" indent="-274320" eaLnBrk="1" fontAlgn="auto" hangingPunct="1">
              <a:lnSpc>
                <a:spcPct val="80000"/>
              </a:lnSpc>
              <a:spcBef>
                <a:spcPts val="580"/>
              </a:spcBef>
              <a:spcAft>
                <a:spcPts val="0"/>
              </a:spcAft>
              <a:buFont typeface="Wingdings" pitchFamily="2" charset="2"/>
              <a:buNone/>
              <a:defRPr/>
            </a:pPr>
            <a:endParaRPr lang="fr-FR" sz="1200" smtClean="0"/>
          </a:p>
          <a:p>
            <a:pPr marL="274320" indent="-274320" eaLnBrk="1" fontAlgn="auto" hangingPunct="1">
              <a:lnSpc>
                <a:spcPct val="80000"/>
              </a:lnSpc>
              <a:spcBef>
                <a:spcPts val="580"/>
              </a:spcBef>
              <a:spcAft>
                <a:spcPts val="0"/>
              </a:spcAft>
              <a:buFont typeface="Wingdings" pitchFamily="2" charset="2"/>
              <a:buNone/>
              <a:defRPr/>
            </a:pPr>
            <a:r>
              <a:rPr lang="fr-FR" sz="1200" smtClean="0"/>
              <a:t>}</a:t>
            </a:r>
          </a:p>
          <a:p>
            <a:pPr marL="274320" indent="-274320" eaLnBrk="1" fontAlgn="auto" hangingPunct="1">
              <a:lnSpc>
                <a:spcPct val="80000"/>
              </a:lnSpc>
              <a:spcBef>
                <a:spcPts val="580"/>
              </a:spcBef>
              <a:spcAft>
                <a:spcPts val="0"/>
              </a:spcAft>
              <a:buFont typeface="Wingdings" pitchFamily="2" charset="2"/>
              <a:buNone/>
              <a:defRPr/>
            </a:pPr>
            <a:r>
              <a:rPr lang="fr-FR" sz="1200" smtClean="0"/>
              <a:t>?&gt;</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AutoShape 2"/>
          <p:cNvSpPr>
            <a:spLocks noGrp="1" noChangeArrowheads="1"/>
          </p:cNvSpPr>
          <p:nvPr>
            <p:ph type="title"/>
          </p:nvPr>
        </p:nvSpPr>
        <p:spPr/>
        <p:txBody>
          <a:bodyPr/>
          <a:lstStyle/>
          <a:p>
            <a:pPr eaLnBrk="1" hangingPunct="1"/>
            <a:r>
              <a:rPr lang="fr-FR" sz="3200" smtClean="0"/>
              <a:t>Les ternaires</a:t>
            </a:r>
            <a:br>
              <a:rPr lang="fr-FR" sz="3200" smtClean="0"/>
            </a:br>
            <a:endParaRPr lang="fr-FR" sz="3200" smtClean="0"/>
          </a:p>
        </p:txBody>
      </p:sp>
      <p:sp>
        <p:nvSpPr>
          <p:cNvPr id="21506" name="Espace réservé du numéro de diapositive 5"/>
          <p:cNvSpPr>
            <a:spLocks noGrp="1"/>
          </p:cNvSpPr>
          <p:nvPr>
            <p:ph type="sldNum" sz="quarter" idx="12"/>
          </p:nvPr>
        </p:nvSpPr>
        <p:spPr>
          <a:noFill/>
        </p:spPr>
        <p:txBody>
          <a:bodyPr/>
          <a:lstStyle/>
          <a:p>
            <a:pPr>
              <a:defRPr/>
            </a:pPr>
            <a:fld id="{11FCFF7F-9762-49FE-8985-E2DC1E058EC2}" type="slidenum">
              <a:rPr lang="fr-FR"/>
              <a:pPr>
                <a:defRPr/>
              </a:pPr>
              <a:t>22</a:t>
            </a:fld>
            <a:endParaRPr lang="fr-FR"/>
          </a:p>
        </p:txBody>
      </p:sp>
      <p:sp>
        <p:nvSpPr>
          <p:cNvPr id="24580" name="Rectangle 3"/>
          <p:cNvSpPr>
            <a:spLocks noGrp="1" noChangeArrowheads="1"/>
          </p:cNvSpPr>
          <p:nvPr>
            <p:ph sz="quarter" idx="1"/>
          </p:nvPr>
        </p:nvSpPr>
        <p:spPr/>
        <p:txBody>
          <a:bodyPr/>
          <a:lstStyle/>
          <a:p>
            <a:pPr eaLnBrk="1" hangingPunct="1">
              <a:lnSpc>
                <a:spcPct val="80000"/>
              </a:lnSpc>
              <a:buFont typeface="Wingdings" pitchFamily="2" charset="2"/>
              <a:buNone/>
            </a:pPr>
            <a:r>
              <a:rPr lang="fr-FR" sz="1800" smtClean="0"/>
              <a:t>&lt;?php </a:t>
            </a:r>
          </a:p>
          <a:p>
            <a:pPr eaLnBrk="1" hangingPunct="1">
              <a:lnSpc>
                <a:spcPct val="80000"/>
              </a:lnSpc>
              <a:buFont typeface="Wingdings" pitchFamily="2" charset="2"/>
              <a:buNone/>
            </a:pPr>
            <a:r>
              <a:rPr lang="fr-FR" sz="1800" smtClean="0"/>
              <a:t>$age = 24; </a:t>
            </a:r>
          </a:p>
          <a:p>
            <a:pPr eaLnBrk="1" hangingPunct="1">
              <a:lnSpc>
                <a:spcPct val="80000"/>
              </a:lnSpc>
              <a:buFont typeface="Wingdings" pitchFamily="2" charset="2"/>
              <a:buNone/>
            </a:pPr>
            <a:r>
              <a:rPr lang="fr-FR" sz="1800" smtClean="0"/>
              <a:t>if ($age &gt;= 18)</a:t>
            </a:r>
          </a:p>
          <a:p>
            <a:pPr eaLnBrk="1" hangingPunct="1">
              <a:lnSpc>
                <a:spcPct val="80000"/>
              </a:lnSpc>
              <a:buFont typeface="Wingdings" pitchFamily="2" charset="2"/>
              <a:buNone/>
            </a:pPr>
            <a:r>
              <a:rPr lang="fr-FR" sz="1800" smtClean="0"/>
              <a:t> { $majeur = true; } </a:t>
            </a:r>
          </a:p>
          <a:p>
            <a:pPr eaLnBrk="1" hangingPunct="1">
              <a:lnSpc>
                <a:spcPct val="80000"/>
              </a:lnSpc>
              <a:buFont typeface="Wingdings" pitchFamily="2" charset="2"/>
              <a:buNone/>
            </a:pPr>
            <a:r>
              <a:rPr lang="fr-FR" sz="1800" smtClean="0"/>
              <a:t>else { </a:t>
            </a:r>
          </a:p>
          <a:p>
            <a:pPr eaLnBrk="1" hangingPunct="1">
              <a:lnSpc>
                <a:spcPct val="80000"/>
              </a:lnSpc>
              <a:buFont typeface="Wingdings" pitchFamily="2" charset="2"/>
              <a:buNone/>
            </a:pPr>
            <a:r>
              <a:rPr lang="fr-FR" sz="1800" smtClean="0"/>
              <a:t>$majeur = false; </a:t>
            </a:r>
          </a:p>
          <a:p>
            <a:pPr eaLnBrk="1" hangingPunct="1">
              <a:lnSpc>
                <a:spcPct val="80000"/>
              </a:lnSpc>
              <a:buFont typeface="Wingdings" pitchFamily="2" charset="2"/>
              <a:buNone/>
            </a:pPr>
            <a:r>
              <a:rPr lang="fr-FR" sz="1800" smtClean="0"/>
              <a:t>} </a:t>
            </a:r>
          </a:p>
          <a:p>
            <a:pPr eaLnBrk="1" hangingPunct="1">
              <a:lnSpc>
                <a:spcPct val="80000"/>
              </a:lnSpc>
              <a:buFont typeface="Wingdings" pitchFamily="2" charset="2"/>
              <a:buNone/>
            </a:pPr>
            <a:r>
              <a:rPr lang="fr-FR" sz="1800" smtClean="0"/>
              <a:t>?&gt; </a:t>
            </a:r>
          </a:p>
          <a:p>
            <a:pPr eaLnBrk="1" hangingPunct="1">
              <a:lnSpc>
                <a:spcPct val="80000"/>
              </a:lnSpc>
              <a:buFont typeface="Wingdings" pitchFamily="2" charset="2"/>
              <a:buNone/>
            </a:pPr>
            <a:r>
              <a:rPr lang="fr-FR" sz="1800" smtClean="0"/>
              <a:t>Cela est équivalant à:</a:t>
            </a:r>
          </a:p>
          <a:p>
            <a:pPr eaLnBrk="1" hangingPunct="1">
              <a:lnSpc>
                <a:spcPct val="80000"/>
              </a:lnSpc>
              <a:buFont typeface="Wingdings" pitchFamily="2" charset="2"/>
              <a:buNone/>
            </a:pPr>
            <a:r>
              <a:rPr lang="fr-FR" sz="1800" smtClean="0"/>
              <a:t>&lt;?php </a:t>
            </a:r>
          </a:p>
          <a:p>
            <a:pPr eaLnBrk="1" hangingPunct="1">
              <a:lnSpc>
                <a:spcPct val="80000"/>
              </a:lnSpc>
              <a:buFont typeface="Wingdings" pitchFamily="2" charset="2"/>
              <a:buNone/>
            </a:pPr>
            <a:r>
              <a:rPr lang="fr-FR" sz="1800" smtClean="0"/>
              <a:t>$age = 24; </a:t>
            </a:r>
          </a:p>
          <a:p>
            <a:pPr eaLnBrk="1" hangingPunct="1">
              <a:lnSpc>
                <a:spcPct val="80000"/>
              </a:lnSpc>
              <a:buFont typeface="Wingdings" pitchFamily="2" charset="2"/>
              <a:buNone/>
            </a:pPr>
            <a:r>
              <a:rPr lang="fr-FR" sz="1800" smtClean="0"/>
              <a:t>$majeur = ($age &gt;= 18) ? true : false; </a:t>
            </a:r>
          </a:p>
          <a:p>
            <a:pPr eaLnBrk="1" hangingPunct="1">
              <a:lnSpc>
                <a:spcPct val="80000"/>
              </a:lnSpc>
              <a:buFont typeface="Wingdings" pitchFamily="2" charset="2"/>
              <a:buNone/>
            </a:pPr>
            <a:r>
              <a:rPr lang="fr-FR" sz="1800" smtClean="0"/>
              <a:t>?&gt; </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AutoShape 2"/>
          <p:cNvSpPr>
            <a:spLocks noGrp="1" noChangeArrowheads="1"/>
          </p:cNvSpPr>
          <p:nvPr>
            <p:ph type="title"/>
          </p:nvPr>
        </p:nvSpPr>
        <p:spPr/>
        <p:txBody>
          <a:bodyPr/>
          <a:lstStyle/>
          <a:p>
            <a:pPr eaLnBrk="1" hangingPunct="1"/>
            <a:r>
              <a:rPr lang="fr-FR" smtClean="0"/>
              <a:t>Les boucles</a:t>
            </a:r>
          </a:p>
        </p:txBody>
      </p:sp>
      <p:sp>
        <p:nvSpPr>
          <p:cNvPr id="22530" name="Espace réservé du numéro de diapositive 5"/>
          <p:cNvSpPr>
            <a:spLocks noGrp="1"/>
          </p:cNvSpPr>
          <p:nvPr>
            <p:ph type="sldNum" sz="quarter" idx="12"/>
          </p:nvPr>
        </p:nvSpPr>
        <p:spPr>
          <a:noFill/>
        </p:spPr>
        <p:txBody>
          <a:bodyPr/>
          <a:lstStyle/>
          <a:p>
            <a:pPr>
              <a:defRPr/>
            </a:pPr>
            <a:fld id="{C094F831-E8DD-4515-ADA0-61B677370004}" type="slidenum">
              <a:rPr lang="fr-FR"/>
              <a:pPr>
                <a:defRPr/>
              </a:pPr>
              <a:t>23</a:t>
            </a:fld>
            <a:endParaRPr lang="fr-FR"/>
          </a:p>
        </p:txBody>
      </p:sp>
      <p:sp>
        <p:nvSpPr>
          <p:cNvPr id="25604" name="Rectangle 3"/>
          <p:cNvSpPr>
            <a:spLocks noGrp="1" noChangeArrowheads="1"/>
          </p:cNvSpPr>
          <p:nvPr>
            <p:ph sz="quarter" idx="1"/>
          </p:nvPr>
        </p:nvSpPr>
        <p:spPr/>
        <p:txBody>
          <a:bodyPr/>
          <a:lstStyle/>
          <a:p>
            <a:pPr eaLnBrk="1" hangingPunct="1"/>
            <a:r>
              <a:rPr lang="fr-FR" smtClean="0"/>
              <a:t>1-boucle while:</a:t>
            </a:r>
          </a:p>
          <a:p>
            <a:pPr eaLnBrk="1" hangingPunct="1">
              <a:buFont typeface="Wingdings" pitchFamily="2" charset="2"/>
              <a:buNone/>
            </a:pPr>
            <a:r>
              <a:rPr lang="fr-FR" smtClean="0"/>
              <a:t>      &lt;?php</a:t>
            </a:r>
          </a:p>
          <a:p>
            <a:pPr eaLnBrk="1" hangingPunct="1">
              <a:buFont typeface="Wingdings" pitchFamily="2" charset="2"/>
              <a:buNone/>
            </a:pPr>
            <a:r>
              <a:rPr lang="fr-FR" smtClean="0"/>
              <a:t>           while (condition){ </a:t>
            </a:r>
          </a:p>
          <a:p>
            <a:pPr eaLnBrk="1" hangingPunct="1">
              <a:buFont typeface="Wingdings" pitchFamily="2" charset="2"/>
              <a:buNone/>
            </a:pPr>
            <a:r>
              <a:rPr lang="fr-FR" smtClean="0"/>
              <a:t>           // instructions à exécuter dans la boucle</a:t>
            </a:r>
          </a:p>
          <a:p>
            <a:pPr eaLnBrk="1" hangingPunct="1">
              <a:buFont typeface="Wingdings" pitchFamily="2" charset="2"/>
              <a:buNone/>
            </a:pPr>
            <a:r>
              <a:rPr lang="fr-FR" smtClean="0"/>
              <a:t>                                  } ?&gt; </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endParaRPr lang="fr-FR" smtClean="0"/>
          </a:p>
        </p:txBody>
      </p:sp>
      <p:sp>
        <p:nvSpPr>
          <p:cNvPr id="23554" name="Espace réservé du numéro de diapositive 5"/>
          <p:cNvSpPr>
            <a:spLocks noGrp="1"/>
          </p:cNvSpPr>
          <p:nvPr>
            <p:ph type="sldNum" sz="quarter" idx="12"/>
          </p:nvPr>
        </p:nvSpPr>
        <p:spPr>
          <a:noFill/>
        </p:spPr>
        <p:txBody>
          <a:bodyPr/>
          <a:lstStyle/>
          <a:p>
            <a:pPr>
              <a:defRPr/>
            </a:pPr>
            <a:fld id="{37B7CC0F-EC99-40B2-91F8-30E6AFFCDA84}" type="slidenum">
              <a:rPr lang="fr-FR"/>
              <a:pPr>
                <a:defRPr/>
              </a:pPr>
              <a:t>24</a:t>
            </a:fld>
            <a:endParaRPr lang="fr-FR"/>
          </a:p>
        </p:txBody>
      </p:sp>
      <p:sp>
        <p:nvSpPr>
          <p:cNvPr id="26628" name="Rectangle 3"/>
          <p:cNvSpPr>
            <a:spLocks noGrp="1" noChangeArrowheads="1"/>
          </p:cNvSpPr>
          <p:nvPr>
            <p:ph sz="quarter" idx="1"/>
          </p:nvPr>
        </p:nvSpPr>
        <p:spPr/>
        <p:txBody>
          <a:bodyPr/>
          <a:lstStyle/>
          <a:p>
            <a:pPr eaLnBrk="1" hangingPunct="1"/>
            <a:r>
              <a:rPr lang="fr-FR" smtClean="0"/>
              <a:t>2-boucle for:</a:t>
            </a:r>
          </a:p>
          <a:p>
            <a:pPr eaLnBrk="1" hangingPunct="1">
              <a:buFont typeface="Wingdings" pitchFamily="2" charset="2"/>
              <a:buNone/>
            </a:pPr>
            <a:endParaRPr lang="fr-FR" sz="1600" smtClean="0"/>
          </a:p>
          <a:p>
            <a:pPr eaLnBrk="1" hangingPunct="1">
              <a:buFont typeface="Wingdings" pitchFamily="2" charset="2"/>
              <a:buNone/>
            </a:pPr>
            <a:r>
              <a:rPr lang="fr-FR" sz="1600" smtClean="0"/>
              <a:t>&lt;?php</a:t>
            </a:r>
            <a:r>
              <a:rPr lang="fr-FR" smtClean="0"/>
              <a:t> </a:t>
            </a:r>
          </a:p>
          <a:p>
            <a:pPr eaLnBrk="1" hangingPunct="1">
              <a:buFont typeface="Wingdings" pitchFamily="2" charset="2"/>
              <a:buNone/>
            </a:pPr>
            <a:r>
              <a:rPr lang="fr-FR" sz="1400" smtClean="0"/>
              <a:t>for ($nombre_de_lignes = 1; $nombre_de_lignes &lt;= 100; $nombre_de_lignes++)</a:t>
            </a:r>
            <a:r>
              <a:rPr lang="fr-FR" sz="1600" smtClean="0"/>
              <a:t> </a:t>
            </a:r>
          </a:p>
          <a:p>
            <a:pPr eaLnBrk="1" hangingPunct="1"/>
            <a:endParaRPr lang="fr-FR" sz="1600" smtClean="0"/>
          </a:p>
          <a:p>
            <a:pPr eaLnBrk="1" hangingPunct="1">
              <a:buFont typeface="Wingdings" pitchFamily="2" charset="2"/>
              <a:buNone/>
            </a:pPr>
            <a:r>
              <a:rPr lang="fr-FR" sz="1600" smtClean="0"/>
              <a:t>{ echo 'Ceci est la ligne n°' . $nombre_de_lignes . '&lt;br /&gt;'; </a:t>
            </a:r>
          </a:p>
          <a:p>
            <a:pPr eaLnBrk="1" hangingPunct="1">
              <a:buFont typeface="Wingdings" pitchFamily="2" charset="2"/>
              <a:buNone/>
            </a:pPr>
            <a:r>
              <a:rPr lang="fr-FR" sz="1600" smtClean="0"/>
              <a:t>} ?&gt; </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1"/>
          <p:cNvSpPr>
            <a:spLocks noGrp="1"/>
          </p:cNvSpPr>
          <p:nvPr>
            <p:ph type="title"/>
          </p:nvPr>
        </p:nvSpPr>
        <p:spPr/>
        <p:txBody>
          <a:bodyPr/>
          <a:lstStyle/>
          <a:p>
            <a:endParaRPr lang="fr-FR" smtClean="0"/>
          </a:p>
        </p:txBody>
      </p:sp>
      <p:sp>
        <p:nvSpPr>
          <p:cNvPr id="4" name="Espace réservé du numéro de diapositive 3"/>
          <p:cNvSpPr>
            <a:spLocks noGrp="1"/>
          </p:cNvSpPr>
          <p:nvPr>
            <p:ph type="sldNum" sz="quarter" idx="12"/>
          </p:nvPr>
        </p:nvSpPr>
        <p:spPr/>
        <p:txBody>
          <a:bodyPr/>
          <a:lstStyle/>
          <a:p>
            <a:pPr>
              <a:defRPr/>
            </a:pPr>
            <a:fld id="{057E9C8A-8C33-4CD4-84D5-E5492BDB4FC9}" type="slidenum">
              <a:rPr lang="fr-FR" smtClean="0"/>
              <a:pPr>
                <a:defRPr/>
              </a:pPr>
              <a:t>25</a:t>
            </a:fld>
            <a:endParaRPr lang="fr-FR"/>
          </a:p>
        </p:txBody>
      </p:sp>
      <p:sp>
        <p:nvSpPr>
          <p:cNvPr id="27651" name="Espace réservé du contenu 2"/>
          <p:cNvSpPr>
            <a:spLocks noGrp="1"/>
          </p:cNvSpPr>
          <p:nvPr>
            <p:ph sz="quarter" idx="1"/>
          </p:nvPr>
        </p:nvSpPr>
        <p:spPr/>
        <p:txBody>
          <a:bodyPr>
            <a:normAutofit/>
          </a:bodyPr>
          <a:lstStyle/>
          <a:p>
            <a:pPr eaLnBrk="1" hangingPunct="1"/>
            <a:r>
              <a:rPr lang="fr-FR" smtClean="0"/>
              <a:t>3-boucle do while:</a:t>
            </a:r>
          </a:p>
          <a:p>
            <a:pPr eaLnBrk="1" hangingPunct="1">
              <a:buFont typeface="Wingdings" pitchFamily="2" charset="2"/>
              <a:buNone/>
            </a:pPr>
            <a:r>
              <a:rPr lang="fr-FR" smtClean="0"/>
              <a:t>      &lt;?php</a:t>
            </a:r>
          </a:p>
          <a:p>
            <a:pPr eaLnBrk="1" hangingPunct="1">
              <a:buFont typeface="Wingdings" pitchFamily="2" charset="2"/>
              <a:buNone/>
            </a:pPr>
            <a:r>
              <a:rPr lang="fr-FR" smtClean="0"/>
              <a:t>                               do{ </a:t>
            </a:r>
          </a:p>
          <a:p>
            <a:pPr eaLnBrk="1" hangingPunct="1">
              <a:buFont typeface="Wingdings" pitchFamily="2" charset="2"/>
              <a:buNone/>
            </a:pPr>
            <a:r>
              <a:rPr lang="fr-FR" smtClean="0"/>
              <a:t>           // instructions à exécuter dans la boucle</a:t>
            </a:r>
          </a:p>
          <a:p>
            <a:pPr eaLnBrk="1" hangingPunct="1">
              <a:buFont typeface="Wingdings" pitchFamily="2" charset="2"/>
              <a:buNone/>
            </a:pPr>
            <a:r>
              <a:rPr lang="fr-FR" smtClean="0"/>
              <a:t>                                  }</a:t>
            </a:r>
          </a:p>
          <a:p>
            <a:pPr eaLnBrk="1" hangingPunct="1">
              <a:buFont typeface="Wingdings" pitchFamily="2" charset="2"/>
              <a:buNone/>
            </a:pPr>
            <a:r>
              <a:rPr lang="fr-FR" smtClean="0"/>
              <a:t>                    while (condition);</a:t>
            </a:r>
          </a:p>
          <a:p>
            <a:pPr eaLnBrk="1" hangingPunct="1">
              <a:buFont typeface="Wingdings" pitchFamily="2" charset="2"/>
              <a:buNone/>
            </a:pPr>
            <a:endParaRPr lang="fr-FR" smtClean="0"/>
          </a:p>
          <a:p>
            <a:pPr eaLnBrk="1" hangingPunct="1">
              <a:buFont typeface="Wingdings" pitchFamily="2" charset="2"/>
              <a:buNone/>
            </a:pPr>
            <a:r>
              <a:rPr lang="fr-FR" smtClean="0"/>
              <a:t> ?&gt; </a:t>
            </a:r>
          </a:p>
          <a:p>
            <a:endParaRPr lang="fr-FR" smtClean="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AutoShape 2"/>
          <p:cNvSpPr>
            <a:spLocks noGrp="1" noChangeArrowheads="1"/>
          </p:cNvSpPr>
          <p:nvPr>
            <p:ph type="title"/>
          </p:nvPr>
        </p:nvSpPr>
        <p:spPr/>
        <p:txBody>
          <a:bodyPr/>
          <a:lstStyle/>
          <a:p>
            <a:pPr eaLnBrk="1" hangingPunct="1"/>
            <a:r>
              <a:rPr lang="fr-FR" smtClean="0"/>
              <a:t>Exercie1:</a:t>
            </a:r>
          </a:p>
        </p:txBody>
      </p:sp>
      <p:sp>
        <p:nvSpPr>
          <p:cNvPr id="24578" name="Espace réservé du numéro de diapositive 5"/>
          <p:cNvSpPr>
            <a:spLocks noGrp="1"/>
          </p:cNvSpPr>
          <p:nvPr>
            <p:ph type="sldNum" sz="quarter" idx="12"/>
          </p:nvPr>
        </p:nvSpPr>
        <p:spPr>
          <a:noFill/>
        </p:spPr>
        <p:txBody>
          <a:bodyPr/>
          <a:lstStyle/>
          <a:p>
            <a:pPr>
              <a:defRPr/>
            </a:pPr>
            <a:fld id="{43EFAD00-50B2-4833-A36D-4A6B911C709C}" type="slidenum">
              <a:rPr lang="fr-FR"/>
              <a:pPr>
                <a:defRPr/>
              </a:pPr>
              <a:t>26</a:t>
            </a:fld>
            <a:endParaRPr lang="fr-FR"/>
          </a:p>
        </p:txBody>
      </p:sp>
      <p:pic>
        <p:nvPicPr>
          <p:cNvPr id="28676" name="Picture 3"/>
          <p:cNvPicPr>
            <a:picLocks noGrp="1" noChangeAspect="1" noChangeArrowheads="1"/>
          </p:cNvPicPr>
          <p:nvPr>
            <p:ph sz="quarter" idx="1"/>
          </p:nvPr>
        </p:nvPicPr>
        <p:blipFill>
          <a:blip r:embed="rId2"/>
          <a:stretch>
            <a:fillRect/>
          </a:stretch>
        </p:blipFill>
        <p:spPr>
          <a:xfrm>
            <a:off x="2195149" y="2057609"/>
            <a:ext cx="5210902" cy="3352381"/>
          </a:xfr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AutoShape 2"/>
          <p:cNvSpPr>
            <a:spLocks noGrp="1" noChangeArrowheads="1"/>
          </p:cNvSpPr>
          <p:nvPr>
            <p:ph type="title"/>
          </p:nvPr>
        </p:nvSpPr>
        <p:spPr/>
        <p:txBody>
          <a:bodyPr/>
          <a:lstStyle/>
          <a:p>
            <a:pPr eaLnBrk="1" hangingPunct="1"/>
            <a:r>
              <a:rPr lang="fr-FR" smtClean="0"/>
              <a:t>Exercie2:</a:t>
            </a:r>
          </a:p>
        </p:txBody>
      </p:sp>
      <p:sp>
        <p:nvSpPr>
          <p:cNvPr id="25602" name="Espace réservé du numéro de diapositive 5"/>
          <p:cNvSpPr>
            <a:spLocks noGrp="1"/>
          </p:cNvSpPr>
          <p:nvPr>
            <p:ph type="sldNum" sz="quarter" idx="12"/>
          </p:nvPr>
        </p:nvSpPr>
        <p:spPr>
          <a:noFill/>
        </p:spPr>
        <p:txBody>
          <a:bodyPr/>
          <a:lstStyle/>
          <a:p>
            <a:pPr>
              <a:defRPr/>
            </a:pPr>
            <a:fld id="{836ABB7C-75F5-4D89-9718-C49CBBC9FC3E}" type="slidenum">
              <a:rPr lang="fr-FR"/>
              <a:pPr>
                <a:defRPr/>
              </a:pPr>
              <a:t>27</a:t>
            </a:fld>
            <a:endParaRPr lang="fr-FR"/>
          </a:p>
        </p:txBody>
      </p:sp>
      <p:sp>
        <p:nvSpPr>
          <p:cNvPr id="29700" name="Rectangle 3"/>
          <p:cNvSpPr>
            <a:spLocks noGrp="1" noChangeArrowheads="1"/>
          </p:cNvSpPr>
          <p:nvPr>
            <p:ph sz="quarter" idx="1"/>
          </p:nvPr>
        </p:nvSpPr>
        <p:spPr>
          <a:xfrm>
            <a:off x="827088" y="3284538"/>
            <a:ext cx="7693025" cy="3724275"/>
          </a:xfrm>
        </p:spPr>
        <p:txBody>
          <a:bodyPr/>
          <a:lstStyle/>
          <a:p>
            <a:pPr eaLnBrk="1" hangingPunct="1"/>
            <a:endParaRPr lang="fr-FR" smtClean="0"/>
          </a:p>
        </p:txBody>
      </p:sp>
      <p:pic>
        <p:nvPicPr>
          <p:cNvPr id="29701" name="Picture 5"/>
          <p:cNvPicPr>
            <a:picLocks noChangeAspect="1" noChangeArrowheads="1"/>
          </p:cNvPicPr>
          <p:nvPr/>
        </p:nvPicPr>
        <p:blipFill>
          <a:blip r:embed="rId2"/>
          <a:srcRect/>
          <a:stretch>
            <a:fillRect/>
          </a:stretch>
        </p:blipFill>
        <p:spPr bwMode="auto">
          <a:xfrm>
            <a:off x="1116013" y="2420938"/>
            <a:ext cx="5616575" cy="41767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AutoShape 2"/>
          <p:cNvSpPr>
            <a:spLocks noGrp="1" noChangeArrowheads="1"/>
          </p:cNvSpPr>
          <p:nvPr>
            <p:ph type="title"/>
          </p:nvPr>
        </p:nvSpPr>
        <p:spPr/>
        <p:txBody>
          <a:bodyPr/>
          <a:lstStyle/>
          <a:p>
            <a:pPr eaLnBrk="1" hangingPunct="1"/>
            <a:r>
              <a:rPr lang="fr-FR" smtClean="0"/>
              <a:t>Exercice 3:</a:t>
            </a:r>
          </a:p>
        </p:txBody>
      </p:sp>
      <p:sp>
        <p:nvSpPr>
          <p:cNvPr id="26626" name="Espace réservé du numéro de diapositive 5"/>
          <p:cNvSpPr>
            <a:spLocks noGrp="1"/>
          </p:cNvSpPr>
          <p:nvPr>
            <p:ph type="sldNum" sz="quarter" idx="12"/>
          </p:nvPr>
        </p:nvSpPr>
        <p:spPr>
          <a:noFill/>
        </p:spPr>
        <p:txBody>
          <a:bodyPr/>
          <a:lstStyle/>
          <a:p>
            <a:pPr>
              <a:defRPr/>
            </a:pPr>
            <a:fld id="{2771DC9C-1123-4B20-ACD9-949130823BCB}" type="slidenum">
              <a:rPr lang="fr-FR"/>
              <a:pPr>
                <a:defRPr/>
              </a:pPr>
              <a:t>28</a:t>
            </a:fld>
            <a:endParaRPr lang="fr-FR"/>
          </a:p>
        </p:txBody>
      </p:sp>
      <p:sp>
        <p:nvSpPr>
          <p:cNvPr id="30724" name="Rectangle 3"/>
          <p:cNvSpPr>
            <a:spLocks noGrp="1" noChangeArrowheads="1"/>
          </p:cNvSpPr>
          <p:nvPr>
            <p:ph sz="quarter" idx="1"/>
          </p:nvPr>
        </p:nvSpPr>
        <p:spPr/>
        <p:txBody>
          <a:bodyPr/>
          <a:lstStyle/>
          <a:p>
            <a:pPr eaLnBrk="1" hangingPunct="1"/>
            <a:endParaRPr lang="fr-FR" smtClean="0"/>
          </a:p>
        </p:txBody>
      </p:sp>
      <p:pic>
        <p:nvPicPr>
          <p:cNvPr id="30725" name="Picture 4"/>
          <p:cNvPicPr>
            <a:picLocks noChangeAspect="1" noChangeArrowheads="1"/>
          </p:cNvPicPr>
          <p:nvPr/>
        </p:nvPicPr>
        <p:blipFill>
          <a:blip r:embed="rId2"/>
          <a:srcRect/>
          <a:stretch>
            <a:fillRect/>
          </a:stretch>
        </p:blipFill>
        <p:spPr bwMode="auto">
          <a:xfrm>
            <a:off x="1116013" y="2133600"/>
            <a:ext cx="6121400" cy="51720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AutoShape 2"/>
          <p:cNvSpPr>
            <a:spLocks noGrp="1" noChangeArrowheads="1"/>
          </p:cNvSpPr>
          <p:nvPr>
            <p:ph type="title"/>
          </p:nvPr>
        </p:nvSpPr>
        <p:spPr/>
        <p:txBody>
          <a:bodyPr/>
          <a:lstStyle/>
          <a:p>
            <a:pPr eaLnBrk="1" hangingPunct="1"/>
            <a:r>
              <a:rPr lang="fr-FR" sz="3200" smtClean="0"/>
              <a:t>Les fonctions </a:t>
            </a:r>
            <a:br>
              <a:rPr lang="fr-FR" sz="3200" smtClean="0"/>
            </a:br>
            <a:endParaRPr lang="fr-FR" sz="3200" smtClean="0"/>
          </a:p>
        </p:txBody>
      </p:sp>
      <p:sp>
        <p:nvSpPr>
          <p:cNvPr id="27650" name="Espace réservé du numéro de diapositive 5"/>
          <p:cNvSpPr>
            <a:spLocks noGrp="1"/>
          </p:cNvSpPr>
          <p:nvPr>
            <p:ph type="sldNum" sz="quarter" idx="12"/>
          </p:nvPr>
        </p:nvSpPr>
        <p:spPr>
          <a:noFill/>
        </p:spPr>
        <p:txBody>
          <a:bodyPr/>
          <a:lstStyle/>
          <a:p>
            <a:pPr>
              <a:defRPr/>
            </a:pPr>
            <a:fld id="{BE20281B-84BC-4CDA-A5F4-77AED8672C9F}" type="slidenum">
              <a:rPr lang="fr-FR"/>
              <a:pPr>
                <a:defRPr/>
              </a:pPr>
              <a:t>29</a:t>
            </a:fld>
            <a:endParaRPr lang="fr-FR"/>
          </a:p>
        </p:txBody>
      </p:sp>
      <p:sp>
        <p:nvSpPr>
          <p:cNvPr id="31748" name="Rectangle 3"/>
          <p:cNvSpPr>
            <a:spLocks noGrp="1" noChangeArrowheads="1"/>
          </p:cNvSpPr>
          <p:nvPr>
            <p:ph sz="quarter" idx="1"/>
          </p:nvPr>
        </p:nvSpPr>
        <p:spPr/>
        <p:txBody>
          <a:bodyPr/>
          <a:lstStyle/>
          <a:p>
            <a:pPr eaLnBrk="1" hangingPunct="1"/>
            <a:r>
              <a:rPr lang="fr-FR" smtClean="0"/>
              <a:t>Une fonction PHP est une série d'instructions qui effectue des traitements et qui peut retourner une valeur ou pas. </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832" y="2327043"/>
            <a:ext cx="4464496" cy="3970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AutoShape 2"/>
          <p:cNvSpPr>
            <a:spLocks noGrp="1" noChangeArrowheads="1"/>
          </p:cNvSpPr>
          <p:nvPr>
            <p:ph type="title"/>
          </p:nvPr>
        </p:nvSpPr>
        <p:spPr/>
        <p:txBody>
          <a:bodyPr/>
          <a:lstStyle/>
          <a:p>
            <a:pPr eaLnBrk="1" hangingPunct="1"/>
            <a:r>
              <a:rPr lang="fr-FR" sz="3200" smtClean="0"/>
              <a:t>1-Définition d’une fonction</a:t>
            </a:r>
            <a:br>
              <a:rPr lang="fr-FR" sz="3200" smtClean="0"/>
            </a:br>
            <a:endParaRPr lang="fr-FR" sz="3200" smtClean="0"/>
          </a:p>
        </p:txBody>
      </p:sp>
      <p:sp>
        <p:nvSpPr>
          <p:cNvPr id="28674" name="Espace réservé du numéro de diapositive 5"/>
          <p:cNvSpPr>
            <a:spLocks noGrp="1"/>
          </p:cNvSpPr>
          <p:nvPr>
            <p:ph type="sldNum" sz="quarter" idx="12"/>
          </p:nvPr>
        </p:nvSpPr>
        <p:spPr>
          <a:noFill/>
        </p:spPr>
        <p:txBody>
          <a:bodyPr/>
          <a:lstStyle/>
          <a:p>
            <a:pPr>
              <a:defRPr/>
            </a:pPr>
            <a:fld id="{6C2D0452-D20C-493E-8284-E19C850D4105}" type="slidenum">
              <a:rPr lang="fr-FR"/>
              <a:pPr>
                <a:defRPr/>
              </a:pPr>
              <a:t>30</a:t>
            </a:fld>
            <a:endParaRPr lang="fr-FR"/>
          </a:p>
        </p:txBody>
      </p:sp>
      <p:sp>
        <p:nvSpPr>
          <p:cNvPr id="32772" name="Rectangle 3"/>
          <p:cNvSpPr>
            <a:spLocks noGrp="1" noChangeArrowheads="1"/>
          </p:cNvSpPr>
          <p:nvPr>
            <p:ph sz="quarter" idx="1"/>
          </p:nvPr>
        </p:nvSpPr>
        <p:spPr/>
        <p:txBody>
          <a:bodyPr/>
          <a:lstStyle/>
          <a:p>
            <a:pPr eaLnBrk="1" hangingPunct="1">
              <a:buFont typeface="Wingdings" pitchFamily="2" charset="2"/>
              <a:buNone/>
            </a:pPr>
            <a:r>
              <a:rPr lang="fr-FR" sz="1600" b="1" u="sng" smtClean="0"/>
              <a:t>Syntaxe:</a:t>
            </a:r>
          </a:p>
          <a:p>
            <a:pPr eaLnBrk="1" hangingPunct="1">
              <a:buFont typeface="Wingdings" pitchFamily="2" charset="2"/>
              <a:buNone/>
            </a:pPr>
            <a:endParaRPr lang="fr-FR" sz="1600" smtClean="0"/>
          </a:p>
          <a:p>
            <a:pPr eaLnBrk="1" hangingPunct="1">
              <a:buFont typeface="Wingdings" pitchFamily="2" charset="2"/>
              <a:buNone/>
            </a:pPr>
            <a:r>
              <a:rPr lang="fr-FR" sz="1800" smtClean="0"/>
              <a:t>function nom_de_la_fonction($param1, $param2,….) { </a:t>
            </a:r>
          </a:p>
          <a:p>
            <a:pPr eaLnBrk="1" hangingPunct="1">
              <a:buFont typeface="Wingdings" pitchFamily="2" charset="2"/>
              <a:buNone/>
            </a:pPr>
            <a:endParaRPr lang="fr-FR" sz="1800" smtClean="0"/>
          </a:p>
          <a:p>
            <a:pPr eaLnBrk="1" hangingPunct="1">
              <a:buFont typeface="Wingdings" pitchFamily="2" charset="2"/>
              <a:buNone/>
            </a:pPr>
            <a:r>
              <a:rPr lang="fr-FR" sz="1800" smtClean="0"/>
              <a:t>// traitement </a:t>
            </a:r>
          </a:p>
          <a:p>
            <a:pPr eaLnBrk="1" hangingPunct="1">
              <a:buFont typeface="Wingdings" pitchFamily="2" charset="2"/>
              <a:buNone/>
            </a:pPr>
            <a:endParaRPr lang="fr-FR" sz="1800" smtClean="0"/>
          </a:p>
          <a:p>
            <a:pPr eaLnBrk="1" hangingPunct="1">
              <a:buFont typeface="Wingdings" pitchFamily="2" charset="2"/>
              <a:buNone/>
            </a:pPr>
            <a:r>
              <a:rPr lang="fr-FR" sz="1800" smtClean="0"/>
              <a:t>return $valaur; // indique la valeur à renvoyer</a:t>
            </a:r>
          </a:p>
          <a:p>
            <a:pPr eaLnBrk="1" hangingPunct="1">
              <a:buFont typeface="Wingdings" pitchFamily="2" charset="2"/>
              <a:buNone/>
            </a:pPr>
            <a:endParaRPr lang="fr-FR" sz="1800" smtClean="0"/>
          </a:p>
          <a:p>
            <a:pPr eaLnBrk="1" hangingPunct="1">
              <a:buFont typeface="Wingdings" pitchFamily="2" charset="2"/>
              <a:buNone/>
            </a:pPr>
            <a:r>
              <a:rPr lang="fr-FR" sz="1800" smtClean="0"/>
              <a:t>} </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AutoShape 2"/>
          <p:cNvSpPr>
            <a:spLocks noGrp="1" noChangeArrowheads="1"/>
          </p:cNvSpPr>
          <p:nvPr>
            <p:ph type="title"/>
          </p:nvPr>
        </p:nvSpPr>
        <p:spPr/>
        <p:txBody>
          <a:bodyPr/>
          <a:lstStyle/>
          <a:p>
            <a:pPr eaLnBrk="1" hangingPunct="1"/>
            <a:r>
              <a:rPr lang="fr-FR" smtClean="0"/>
              <a:t>2-appel d’une fonction</a:t>
            </a:r>
          </a:p>
        </p:txBody>
      </p:sp>
      <p:sp>
        <p:nvSpPr>
          <p:cNvPr id="29698" name="Espace réservé du numéro de diapositive 5"/>
          <p:cNvSpPr>
            <a:spLocks noGrp="1"/>
          </p:cNvSpPr>
          <p:nvPr>
            <p:ph type="sldNum" sz="quarter" idx="12"/>
          </p:nvPr>
        </p:nvSpPr>
        <p:spPr>
          <a:noFill/>
        </p:spPr>
        <p:txBody>
          <a:bodyPr/>
          <a:lstStyle/>
          <a:p>
            <a:pPr>
              <a:defRPr/>
            </a:pPr>
            <a:fld id="{516EDF5D-7D4D-4BE3-882F-2C6E019148E7}" type="slidenum">
              <a:rPr lang="fr-FR"/>
              <a:pPr>
                <a:defRPr/>
              </a:pPr>
              <a:t>31</a:t>
            </a:fld>
            <a:endParaRPr lang="fr-FR"/>
          </a:p>
        </p:txBody>
      </p:sp>
      <p:sp>
        <p:nvSpPr>
          <p:cNvPr id="33796" name="Rectangle 3"/>
          <p:cNvSpPr>
            <a:spLocks noGrp="1" noChangeArrowheads="1"/>
          </p:cNvSpPr>
          <p:nvPr>
            <p:ph sz="quarter" idx="1"/>
          </p:nvPr>
        </p:nvSpPr>
        <p:spPr/>
        <p:txBody>
          <a:bodyPr/>
          <a:lstStyle/>
          <a:p>
            <a:pPr eaLnBrk="1" hangingPunct="1"/>
            <a:r>
              <a:rPr lang="fr-FR" smtClean="0"/>
              <a:t>L’appel d’une fonction se fait par son nom</a:t>
            </a:r>
          </a:p>
          <a:p>
            <a:pPr eaLnBrk="1" hangingPunct="1"/>
            <a:endParaRPr lang="fr-FR" smtClean="0"/>
          </a:p>
          <a:p>
            <a:pPr eaLnBrk="1" hangingPunct="1">
              <a:buFont typeface="Wingdings" pitchFamily="2" charset="2"/>
              <a:buNone/>
            </a:pPr>
            <a:r>
              <a:rPr lang="fr-FR" u="sng" smtClean="0"/>
              <a:t>Syntaxe:</a:t>
            </a:r>
          </a:p>
          <a:p>
            <a:pPr eaLnBrk="1" hangingPunct="1">
              <a:buFont typeface="Wingdings" pitchFamily="2" charset="2"/>
              <a:buNone/>
            </a:pPr>
            <a:r>
              <a:rPr lang="fr-FR" smtClean="0"/>
              <a:t>  nom_de_la_fonction ($param1, $param2,….) ;</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AutoShape 2"/>
          <p:cNvSpPr>
            <a:spLocks noGrp="1" noChangeArrowheads="1"/>
          </p:cNvSpPr>
          <p:nvPr>
            <p:ph type="title"/>
          </p:nvPr>
        </p:nvSpPr>
        <p:spPr/>
        <p:txBody>
          <a:bodyPr/>
          <a:lstStyle/>
          <a:p>
            <a:pPr eaLnBrk="1" hangingPunct="1"/>
            <a:r>
              <a:rPr lang="fr-FR" sz="3200" smtClean="0"/>
              <a:t>Les fonctions nativesPHP</a:t>
            </a:r>
            <a:br>
              <a:rPr lang="fr-FR" sz="3200" smtClean="0"/>
            </a:br>
            <a:endParaRPr lang="fr-FR" sz="3200" smtClean="0"/>
          </a:p>
        </p:txBody>
      </p:sp>
      <p:sp>
        <p:nvSpPr>
          <p:cNvPr id="30722" name="Espace réservé du numéro de diapositive 5"/>
          <p:cNvSpPr>
            <a:spLocks noGrp="1"/>
          </p:cNvSpPr>
          <p:nvPr>
            <p:ph type="sldNum" sz="quarter" idx="12"/>
          </p:nvPr>
        </p:nvSpPr>
        <p:spPr>
          <a:noFill/>
        </p:spPr>
        <p:txBody>
          <a:bodyPr/>
          <a:lstStyle/>
          <a:p>
            <a:pPr>
              <a:defRPr/>
            </a:pPr>
            <a:fld id="{86DCCCFE-4D4E-4688-9A79-62A258B38D5C}" type="slidenum">
              <a:rPr lang="fr-FR"/>
              <a:pPr>
                <a:defRPr/>
              </a:pPr>
              <a:t>32</a:t>
            </a:fld>
            <a:endParaRPr lang="fr-FR"/>
          </a:p>
        </p:txBody>
      </p:sp>
      <p:sp>
        <p:nvSpPr>
          <p:cNvPr id="34820" name="Rectangle 3"/>
          <p:cNvSpPr>
            <a:spLocks noGrp="1" noChangeArrowheads="1"/>
          </p:cNvSpPr>
          <p:nvPr>
            <p:ph sz="quarter" idx="1"/>
          </p:nvPr>
        </p:nvSpPr>
        <p:spPr/>
        <p:txBody>
          <a:bodyPr/>
          <a:lstStyle/>
          <a:p>
            <a:pPr eaLnBrk="1" hangingPunct="1">
              <a:lnSpc>
                <a:spcPct val="80000"/>
              </a:lnSpc>
              <a:buFont typeface="Wingdings" pitchFamily="2" charset="2"/>
              <a:buNone/>
            </a:pPr>
            <a:r>
              <a:rPr lang="fr-FR" sz="2400" b="1" smtClean="0"/>
              <a:t>1-Traitement des chaînes de caractères</a:t>
            </a:r>
          </a:p>
          <a:p>
            <a:pPr eaLnBrk="1" hangingPunct="1">
              <a:lnSpc>
                <a:spcPct val="80000"/>
              </a:lnSpc>
              <a:buFont typeface="Wingdings" pitchFamily="2" charset="2"/>
              <a:buNone/>
            </a:pPr>
            <a:r>
              <a:rPr lang="fr-FR" sz="2400" b="1" smtClean="0"/>
              <a:t>1-1strlen</a:t>
            </a:r>
            <a:r>
              <a:rPr lang="fr-FR" sz="2400" smtClean="0"/>
              <a:t/>
            </a:r>
            <a:br>
              <a:rPr lang="fr-FR" sz="2400" smtClean="0"/>
            </a:br>
            <a:r>
              <a:rPr lang="fr-FR" sz="2400" smtClean="0"/>
              <a:t>Cette fonction retourne la longueur d'une chaîne de caractères, c'est-à-dire le nombre de lettres et chiffres qu'il y a (espaces compris). </a:t>
            </a:r>
          </a:p>
          <a:p>
            <a:pPr eaLnBrk="1" hangingPunct="1">
              <a:lnSpc>
                <a:spcPct val="80000"/>
              </a:lnSpc>
            </a:pPr>
            <a:r>
              <a:rPr lang="fr-FR" sz="2400" u="sng" smtClean="0"/>
              <a:t>Exemple :</a:t>
            </a:r>
            <a:br>
              <a:rPr lang="fr-FR" sz="2400" u="sng" smtClean="0"/>
            </a:br>
            <a:r>
              <a:rPr lang="fr-FR" sz="2400" smtClean="0"/>
              <a:t>&lt;?php $phrase = 'Bonjour tout le monde'; </a:t>
            </a:r>
          </a:p>
          <a:p>
            <a:pPr eaLnBrk="1" hangingPunct="1">
              <a:lnSpc>
                <a:spcPct val="80000"/>
              </a:lnSpc>
              <a:buFont typeface="Wingdings" pitchFamily="2" charset="2"/>
              <a:buNone/>
            </a:pPr>
            <a:r>
              <a:rPr lang="fr-FR" sz="2400" smtClean="0"/>
              <a:t>    $longueur = strlen($phrase); </a:t>
            </a:r>
          </a:p>
          <a:p>
            <a:pPr eaLnBrk="1" hangingPunct="1">
              <a:lnSpc>
                <a:spcPct val="80000"/>
              </a:lnSpc>
              <a:buFont typeface="Wingdings" pitchFamily="2" charset="2"/>
              <a:buNone/>
            </a:pPr>
            <a:r>
              <a:rPr lang="fr-FR" sz="2400" smtClean="0"/>
              <a:t>   echo 'La phrase ci-dessous comporte ' . $longueur . ' caractères :&lt;br /&gt;' . $phrase; </a:t>
            </a:r>
          </a:p>
          <a:p>
            <a:pPr eaLnBrk="1" hangingPunct="1">
              <a:lnSpc>
                <a:spcPct val="80000"/>
              </a:lnSpc>
              <a:buFont typeface="Wingdings" pitchFamily="2" charset="2"/>
              <a:buNone/>
            </a:pPr>
            <a:r>
              <a:rPr lang="fr-FR" sz="2400" smtClean="0"/>
              <a:t>    ?&gt; </a:t>
            </a:r>
          </a:p>
        </p:txBody>
      </p:sp>
      <p:sp>
        <p:nvSpPr>
          <p:cNvPr id="34821" name="Rectangle 4"/>
          <p:cNvSpPr>
            <a:spLocks noChangeArrowheads="1"/>
          </p:cNvSpPr>
          <p:nvPr/>
        </p:nvSpPr>
        <p:spPr bwMode="auto">
          <a:xfrm>
            <a:off x="0" y="0"/>
            <a:ext cx="227013" cy="274638"/>
          </a:xfrm>
          <a:prstGeom prst="rect">
            <a:avLst/>
          </a:prstGeom>
          <a:noFill/>
          <a:ln w="9525">
            <a:noFill/>
            <a:miter lim="800000"/>
            <a:headEnd/>
            <a:tailEnd/>
          </a:ln>
        </p:spPr>
        <p:txBody>
          <a:bodyPr wrap="none" anchor="ctr">
            <a:spAutoFit/>
          </a:bodyPr>
          <a:lstStyle/>
          <a:p>
            <a:pPr>
              <a:spcBef>
                <a:spcPct val="30000"/>
              </a:spcBef>
            </a:pPr>
            <a:r>
              <a:rPr lang="fr-FR" sz="1200"/>
              <a:t> </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endParaRPr lang="fr-FR" smtClean="0"/>
          </a:p>
        </p:txBody>
      </p:sp>
      <p:sp>
        <p:nvSpPr>
          <p:cNvPr id="31746" name="Espace réservé du numéro de diapositive 5"/>
          <p:cNvSpPr>
            <a:spLocks noGrp="1"/>
          </p:cNvSpPr>
          <p:nvPr>
            <p:ph type="sldNum" sz="quarter" idx="12"/>
          </p:nvPr>
        </p:nvSpPr>
        <p:spPr>
          <a:noFill/>
        </p:spPr>
        <p:txBody>
          <a:bodyPr/>
          <a:lstStyle/>
          <a:p>
            <a:pPr>
              <a:defRPr/>
            </a:pPr>
            <a:fld id="{203F6369-B131-4C4A-809A-9430F9195C11}" type="slidenum">
              <a:rPr lang="fr-FR"/>
              <a:pPr>
                <a:defRPr/>
              </a:pPr>
              <a:t>33</a:t>
            </a:fld>
            <a:endParaRPr lang="fr-FR"/>
          </a:p>
        </p:txBody>
      </p:sp>
      <p:sp>
        <p:nvSpPr>
          <p:cNvPr id="35844" name="Rectangle 3"/>
          <p:cNvSpPr>
            <a:spLocks noGrp="1" noChangeArrowheads="1"/>
          </p:cNvSpPr>
          <p:nvPr>
            <p:ph sz="quarter" idx="1"/>
          </p:nvPr>
        </p:nvSpPr>
        <p:spPr/>
        <p:txBody>
          <a:bodyPr/>
          <a:lstStyle/>
          <a:p>
            <a:pPr eaLnBrk="1" hangingPunct="1">
              <a:lnSpc>
                <a:spcPct val="90000"/>
              </a:lnSpc>
            </a:pPr>
            <a:r>
              <a:rPr lang="fr-FR" b="1" smtClean="0"/>
              <a:t>1-2</a:t>
            </a:r>
            <a:r>
              <a:rPr lang="fr-FR" smtClean="0"/>
              <a:t>-</a:t>
            </a:r>
            <a:r>
              <a:rPr lang="fr-FR" b="1" smtClean="0"/>
              <a:t>str_replace</a:t>
            </a:r>
          </a:p>
          <a:p>
            <a:pPr eaLnBrk="1" hangingPunct="1">
              <a:lnSpc>
                <a:spcPct val="90000"/>
              </a:lnSpc>
            </a:pPr>
            <a:r>
              <a:rPr lang="fr-FR" smtClean="0"/>
              <a:t>str_replace remplace une chaîne de caractères par une autre. Exemple :</a:t>
            </a:r>
            <a:br>
              <a:rPr lang="fr-FR" smtClean="0"/>
            </a:br>
            <a:r>
              <a:rPr lang="fr-FR" u="sng" smtClean="0"/>
              <a:t>exemple:</a:t>
            </a:r>
            <a:endParaRPr lang="fr-FR" smtClean="0"/>
          </a:p>
          <a:p>
            <a:pPr eaLnBrk="1" hangingPunct="1">
              <a:lnSpc>
                <a:spcPct val="90000"/>
              </a:lnSpc>
              <a:buFont typeface="Wingdings" pitchFamily="2" charset="2"/>
              <a:buNone/>
            </a:pPr>
            <a:r>
              <a:rPr lang="fr-FR" smtClean="0"/>
              <a:t>    &lt;?php</a:t>
            </a:r>
          </a:p>
          <a:p>
            <a:pPr eaLnBrk="1" hangingPunct="1">
              <a:lnSpc>
                <a:spcPct val="90000"/>
              </a:lnSpc>
              <a:buFont typeface="Wingdings" pitchFamily="2" charset="2"/>
              <a:buNone/>
            </a:pPr>
            <a:r>
              <a:rPr lang="fr-FR" smtClean="0"/>
              <a:t>      </a:t>
            </a:r>
            <a:r>
              <a:rPr lang="fr-FR" sz="1800" smtClean="0"/>
              <a:t>$ma_variable = str_replace('b', 'p', 'bim bam boum'); </a:t>
            </a:r>
          </a:p>
          <a:p>
            <a:pPr eaLnBrk="1" hangingPunct="1">
              <a:lnSpc>
                <a:spcPct val="90000"/>
              </a:lnSpc>
              <a:buFont typeface="Wingdings" pitchFamily="2" charset="2"/>
              <a:buNone/>
            </a:pPr>
            <a:r>
              <a:rPr lang="fr-FR" sz="1800" smtClean="0"/>
              <a:t>         echo ($ma_variable);</a:t>
            </a:r>
            <a:r>
              <a:rPr lang="fr-FR" smtClean="0"/>
              <a:t> </a:t>
            </a:r>
          </a:p>
          <a:p>
            <a:pPr eaLnBrk="1" hangingPunct="1">
              <a:lnSpc>
                <a:spcPct val="90000"/>
              </a:lnSpc>
              <a:buFont typeface="Wingdings" pitchFamily="2" charset="2"/>
              <a:buNone/>
            </a:pPr>
            <a:r>
              <a:rPr lang="fr-FR" smtClean="0"/>
              <a:t>    ?&gt; </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endParaRPr lang="fr-FR" smtClean="0"/>
          </a:p>
        </p:txBody>
      </p:sp>
      <p:sp>
        <p:nvSpPr>
          <p:cNvPr id="32770" name="Espace réservé du numéro de diapositive 5"/>
          <p:cNvSpPr>
            <a:spLocks noGrp="1"/>
          </p:cNvSpPr>
          <p:nvPr>
            <p:ph type="sldNum" sz="quarter" idx="12"/>
          </p:nvPr>
        </p:nvSpPr>
        <p:spPr>
          <a:noFill/>
        </p:spPr>
        <p:txBody>
          <a:bodyPr/>
          <a:lstStyle/>
          <a:p>
            <a:pPr>
              <a:defRPr/>
            </a:pPr>
            <a:fld id="{4012742C-CC68-49CB-A3E4-B6628FEFDA00}" type="slidenum">
              <a:rPr lang="fr-FR"/>
              <a:pPr>
                <a:defRPr/>
              </a:pPr>
              <a:t>34</a:t>
            </a:fld>
            <a:endParaRPr lang="fr-FR"/>
          </a:p>
        </p:txBody>
      </p:sp>
      <p:sp>
        <p:nvSpPr>
          <p:cNvPr id="36868" name="Rectangle 3"/>
          <p:cNvSpPr>
            <a:spLocks noGrp="1" noChangeArrowheads="1"/>
          </p:cNvSpPr>
          <p:nvPr>
            <p:ph sz="quarter" idx="1"/>
          </p:nvPr>
        </p:nvSpPr>
        <p:spPr/>
        <p:txBody>
          <a:bodyPr/>
          <a:lstStyle/>
          <a:p>
            <a:pPr eaLnBrk="1" hangingPunct="1"/>
            <a:r>
              <a:rPr lang="fr-FR" b="1" smtClean="0"/>
              <a:t>1-3</a:t>
            </a:r>
            <a:r>
              <a:rPr lang="fr-FR" smtClean="0"/>
              <a:t>-</a:t>
            </a:r>
            <a:r>
              <a:rPr lang="fr-FR" b="1" smtClean="0"/>
              <a:t>strtoupper , strtolower</a:t>
            </a:r>
          </a:p>
          <a:p>
            <a:pPr eaLnBrk="1" hangingPunct="1"/>
            <a:r>
              <a:rPr lang="fr-FR" sz="1800" b="1" smtClean="0"/>
              <a:t>strtolower met tous les caractères d'une chaîne en minuscule.</a:t>
            </a:r>
            <a:br>
              <a:rPr lang="fr-FR" sz="1800" b="1" smtClean="0"/>
            </a:br>
            <a:r>
              <a:rPr lang="fr-FR" sz="1800" b="1" smtClean="0"/>
              <a:t>strtoupper met tous les caractères d'une chaîne en majuscule.</a:t>
            </a:r>
          </a:p>
          <a:p>
            <a:pPr eaLnBrk="1" hangingPunct="1">
              <a:buFont typeface="Wingdings" pitchFamily="2" charset="2"/>
              <a:buNone/>
            </a:pPr>
            <a:r>
              <a:rPr lang="fr-FR" sz="1800" b="1" smtClean="0"/>
              <a:t>          </a:t>
            </a:r>
            <a:r>
              <a:rPr lang="fr-FR" sz="1800" b="1" u="sng" smtClean="0"/>
              <a:t>exemple:</a:t>
            </a:r>
            <a:br>
              <a:rPr lang="fr-FR" sz="1800" b="1" u="sng" smtClean="0"/>
            </a:br>
            <a:endParaRPr lang="fr-FR" sz="1800" b="1" u="sng" smtClean="0"/>
          </a:p>
          <a:p>
            <a:pPr eaLnBrk="1" hangingPunct="1">
              <a:buFont typeface="Wingdings" pitchFamily="2" charset="2"/>
              <a:buNone/>
            </a:pPr>
            <a:r>
              <a:rPr lang="fr-FR" sz="1400" b="1" smtClean="0"/>
              <a:t>$chaine = 'bonjour';</a:t>
            </a:r>
          </a:p>
          <a:p>
            <a:pPr eaLnBrk="1" hangingPunct="1">
              <a:buFont typeface="Wingdings" pitchFamily="2" charset="2"/>
              <a:buNone/>
            </a:pPr>
            <a:r>
              <a:rPr lang="fr-FR" sz="1400" b="1" smtClean="0"/>
              <a:t>$chaine = strtoupper($chaine);</a:t>
            </a:r>
          </a:p>
          <a:p>
            <a:pPr eaLnBrk="1" hangingPunct="1">
              <a:buFont typeface="Wingdings" pitchFamily="2" charset="2"/>
              <a:buNone/>
            </a:pPr>
            <a:r>
              <a:rPr lang="fr-FR" sz="1400" b="1" smtClean="0"/>
              <a:t>echo($chaine);</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re 1"/>
          <p:cNvSpPr>
            <a:spLocks noGrp="1"/>
          </p:cNvSpPr>
          <p:nvPr>
            <p:ph type="title"/>
          </p:nvPr>
        </p:nvSpPr>
        <p:spPr/>
        <p:txBody>
          <a:bodyPr/>
          <a:lstStyle/>
          <a:p>
            <a:endParaRPr lang="fr-FR" smtClean="0"/>
          </a:p>
        </p:txBody>
      </p:sp>
      <p:sp>
        <p:nvSpPr>
          <p:cNvPr id="4" name="Espace réservé du numéro de diapositive 3"/>
          <p:cNvSpPr>
            <a:spLocks noGrp="1"/>
          </p:cNvSpPr>
          <p:nvPr>
            <p:ph type="sldNum" sz="quarter" idx="12"/>
          </p:nvPr>
        </p:nvSpPr>
        <p:spPr/>
        <p:txBody>
          <a:bodyPr/>
          <a:lstStyle/>
          <a:p>
            <a:pPr>
              <a:defRPr/>
            </a:pPr>
            <a:fld id="{840E969D-EBAE-4783-B3FC-96D49551DDDA}" type="slidenum">
              <a:rPr lang="fr-FR" smtClean="0"/>
              <a:pPr>
                <a:defRPr/>
              </a:pPr>
              <a:t>35</a:t>
            </a:fld>
            <a:endParaRPr lang="fr-FR"/>
          </a:p>
        </p:txBody>
      </p:sp>
      <p:sp>
        <p:nvSpPr>
          <p:cNvPr id="37891" name="Espace réservé du contenu 2"/>
          <p:cNvSpPr>
            <a:spLocks noGrp="1"/>
          </p:cNvSpPr>
          <p:nvPr>
            <p:ph sz="quarter" idx="1"/>
          </p:nvPr>
        </p:nvSpPr>
        <p:spPr/>
        <p:txBody>
          <a:bodyPr/>
          <a:lstStyle/>
          <a:p>
            <a:r>
              <a:rPr lang="fr-FR" dirty="0" smtClean="0"/>
              <a:t>1-4-</a:t>
            </a:r>
            <a:r>
              <a:rPr lang="fr-FR" dirty="0" err="1" smtClean="0"/>
              <a:t>substr</a:t>
            </a:r>
            <a:r>
              <a:rPr lang="fr-FR" dirty="0" smtClean="0"/>
              <a:t>($</a:t>
            </a:r>
            <a:r>
              <a:rPr lang="fr-FR" dirty="0" err="1" smtClean="0"/>
              <a:t>string,début</a:t>
            </a:r>
            <a:r>
              <a:rPr lang="fr-FR" dirty="0" smtClean="0"/>
              <a:t>,combien)</a:t>
            </a:r>
          </a:p>
          <a:p>
            <a:r>
              <a:rPr lang="fr-FR" dirty="0" smtClean="0"/>
              <a:t>$var =‘bienvenue TDM’;</a:t>
            </a:r>
          </a:p>
          <a:p>
            <a:endParaRPr lang="fr-FR" dirty="0" smtClean="0"/>
          </a:p>
          <a:p>
            <a:r>
              <a:rPr lang="fr-FR" dirty="0" err="1" smtClean="0"/>
              <a:t>substr</a:t>
            </a:r>
            <a:r>
              <a:rPr lang="fr-FR" dirty="0" smtClean="0"/>
              <a:t>($var,0,9) :  retourne ‘bienvenue’</a:t>
            </a:r>
          </a:p>
          <a:p>
            <a:endParaRPr lang="fr-FR" dirty="0" smtClean="0"/>
          </a:p>
          <a:p>
            <a:endParaRPr lang="fr-FR" dirty="0" smtClean="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re 1"/>
          <p:cNvSpPr>
            <a:spLocks noGrp="1"/>
          </p:cNvSpPr>
          <p:nvPr>
            <p:ph type="title"/>
          </p:nvPr>
        </p:nvSpPr>
        <p:spPr/>
        <p:txBody>
          <a:bodyPr/>
          <a:lstStyle/>
          <a:p>
            <a:endParaRPr lang="fr-FR" smtClean="0"/>
          </a:p>
        </p:txBody>
      </p:sp>
      <p:sp>
        <p:nvSpPr>
          <p:cNvPr id="4" name="Espace réservé du numéro de diapositive 3"/>
          <p:cNvSpPr>
            <a:spLocks noGrp="1"/>
          </p:cNvSpPr>
          <p:nvPr>
            <p:ph type="sldNum" sz="quarter" idx="12"/>
          </p:nvPr>
        </p:nvSpPr>
        <p:spPr/>
        <p:txBody>
          <a:bodyPr/>
          <a:lstStyle/>
          <a:p>
            <a:pPr>
              <a:defRPr/>
            </a:pPr>
            <a:fld id="{DC2F078D-7482-4A62-B4C9-ABB62B70C9A3}" type="slidenum">
              <a:rPr lang="fr-FR" smtClean="0"/>
              <a:pPr>
                <a:defRPr/>
              </a:pPr>
              <a:t>36</a:t>
            </a:fld>
            <a:endParaRPr lang="fr-FR"/>
          </a:p>
        </p:txBody>
      </p:sp>
      <p:sp>
        <p:nvSpPr>
          <p:cNvPr id="38915" name="Espace réservé du contenu 2"/>
          <p:cNvSpPr>
            <a:spLocks noGrp="1"/>
          </p:cNvSpPr>
          <p:nvPr>
            <p:ph sz="quarter" idx="1"/>
          </p:nvPr>
        </p:nvSpPr>
        <p:spPr/>
        <p:txBody>
          <a:bodyPr/>
          <a:lstStyle/>
          <a:p>
            <a:r>
              <a:rPr lang="fr-FR" smtClean="0"/>
              <a:t>1-5-explode :</a:t>
            </a:r>
          </a:p>
          <a:p>
            <a:endParaRPr lang="fr-FR" smtClean="0"/>
          </a:p>
          <a:p>
            <a:r>
              <a:rPr lang="fr-FR" smtClean="0"/>
              <a:t>$var=‘a/b/c/d’;</a:t>
            </a:r>
          </a:p>
          <a:p>
            <a:r>
              <a:rPr lang="fr-FR" smtClean="0"/>
              <a:t> $tab=explode(‘/’,$var);  // retourne un tableau</a:t>
            </a:r>
          </a:p>
          <a:p>
            <a:pPr>
              <a:buFont typeface="Wingdings 2" pitchFamily="18" charset="2"/>
              <a:buNone/>
            </a:pPr>
            <a:r>
              <a:rPr lang="fr-FR" smtClean="0"/>
              <a:t>          $tab[0]  : ‘a’</a:t>
            </a:r>
          </a:p>
          <a:p>
            <a:pPr>
              <a:buFont typeface="Wingdings 2" pitchFamily="18" charset="2"/>
              <a:buNone/>
            </a:pPr>
            <a:r>
              <a:rPr lang="fr-FR" smtClean="0"/>
              <a:t>           $tab[1]  :’b’ …..</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re 1"/>
          <p:cNvSpPr>
            <a:spLocks noGrp="1"/>
          </p:cNvSpPr>
          <p:nvPr>
            <p:ph type="title"/>
          </p:nvPr>
        </p:nvSpPr>
        <p:spPr/>
        <p:txBody>
          <a:bodyPr/>
          <a:lstStyle/>
          <a:p>
            <a:endParaRPr lang="fr-FR" smtClean="0"/>
          </a:p>
        </p:txBody>
      </p:sp>
      <p:sp>
        <p:nvSpPr>
          <p:cNvPr id="4" name="Espace réservé du numéro de diapositive 3"/>
          <p:cNvSpPr>
            <a:spLocks noGrp="1"/>
          </p:cNvSpPr>
          <p:nvPr>
            <p:ph type="sldNum" sz="quarter" idx="12"/>
          </p:nvPr>
        </p:nvSpPr>
        <p:spPr/>
        <p:txBody>
          <a:bodyPr/>
          <a:lstStyle/>
          <a:p>
            <a:pPr>
              <a:defRPr/>
            </a:pPr>
            <a:fld id="{B27F18E5-1C27-45D6-BC75-332CACDB6F86}" type="slidenum">
              <a:rPr lang="fr-FR" smtClean="0"/>
              <a:pPr>
                <a:defRPr/>
              </a:pPr>
              <a:t>37</a:t>
            </a:fld>
            <a:endParaRPr lang="fr-FR"/>
          </a:p>
        </p:txBody>
      </p:sp>
      <p:sp>
        <p:nvSpPr>
          <p:cNvPr id="39939" name="Espace réservé du contenu 2"/>
          <p:cNvSpPr>
            <a:spLocks noGrp="1"/>
          </p:cNvSpPr>
          <p:nvPr>
            <p:ph sz="quarter" idx="1"/>
          </p:nvPr>
        </p:nvSpPr>
        <p:spPr/>
        <p:txBody>
          <a:bodyPr/>
          <a:lstStyle/>
          <a:p>
            <a:r>
              <a:rPr lang="fr-FR" smtClean="0"/>
              <a:t>Fonctions mathématiques :</a:t>
            </a:r>
          </a:p>
          <a:p>
            <a:endParaRPr lang="fr-FR" smtClean="0"/>
          </a:p>
          <a:p>
            <a:r>
              <a:rPr lang="fr-FR" smtClean="0"/>
              <a:t>abs(x) :retourne la valeur absolue de x.</a:t>
            </a:r>
          </a:p>
          <a:p>
            <a:r>
              <a:rPr lang="fr-FR" smtClean="0"/>
              <a:t>rand(0,100) :retourne un nombre aléatoire entre 0 et 100.</a:t>
            </a:r>
          </a:p>
          <a:p>
            <a:r>
              <a:rPr lang="fr-FR" smtClean="0"/>
              <a:t>min(10,27,20,5) : retourne 5.</a:t>
            </a:r>
          </a:p>
          <a:p>
            <a:r>
              <a:rPr lang="fr-FR" smtClean="0"/>
              <a:t>max(10,27,20,5) : retourne 27.</a:t>
            </a:r>
          </a:p>
          <a:p>
            <a:endParaRPr lang="fr-FR" smtClean="0"/>
          </a:p>
          <a:p>
            <a:endParaRPr lang="fr-FR" smtClean="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endParaRPr lang="fr-FR" smtClean="0"/>
          </a:p>
        </p:txBody>
      </p:sp>
      <p:sp>
        <p:nvSpPr>
          <p:cNvPr id="33794" name="Espace réservé du numéro de diapositive 5"/>
          <p:cNvSpPr>
            <a:spLocks noGrp="1"/>
          </p:cNvSpPr>
          <p:nvPr>
            <p:ph type="sldNum" sz="quarter" idx="12"/>
          </p:nvPr>
        </p:nvSpPr>
        <p:spPr>
          <a:noFill/>
        </p:spPr>
        <p:txBody>
          <a:bodyPr/>
          <a:lstStyle/>
          <a:p>
            <a:pPr>
              <a:defRPr/>
            </a:pPr>
            <a:fld id="{65BC8BFD-7400-48E6-B3F4-6EADB9AD844D}" type="slidenum">
              <a:rPr lang="fr-FR"/>
              <a:pPr>
                <a:defRPr/>
              </a:pPr>
              <a:t>38</a:t>
            </a:fld>
            <a:endParaRPr lang="fr-FR"/>
          </a:p>
        </p:txBody>
      </p:sp>
      <p:sp>
        <p:nvSpPr>
          <p:cNvPr id="40964" name="Rectangle 3"/>
          <p:cNvSpPr>
            <a:spLocks noGrp="1" noChangeArrowheads="1"/>
          </p:cNvSpPr>
          <p:nvPr>
            <p:ph sz="quarter" idx="1"/>
          </p:nvPr>
        </p:nvSpPr>
        <p:spPr/>
        <p:txBody>
          <a:bodyPr/>
          <a:lstStyle/>
          <a:p>
            <a:pPr eaLnBrk="1" hangingPunct="1"/>
            <a:r>
              <a:rPr lang="fr-FR" sz="2400" b="1" dirty="0" smtClean="0"/>
              <a:t>2-Récupérer la date: </a:t>
            </a:r>
            <a:r>
              <a:rPr lang="fr-FR" sz="1400" dirty="0" smtClean="0"/>
              <a:t>date:</a:t>
            </a:r>
            <a:endParaRPr lang="fr-FR" sz="2400" b="1" dirty="0" smtClean="0"/>
          </a:p>
          <a:p>
            <a:pPr eaLnBrk="1" hangingPunct="1"/>
            <a:r>
              <a:rPr lang="fr-FR" sz="2400" b="1" dirty="0" smtClean="0"/>
              <a:t>Exemple:</a:t>
            </a:r>
          </a:p>
          <a:p>
            <a:pPr eaLnBrk="1" hangingPunct="1">
              <a:buFont typeface="Wingdings" pitchFamily="2" charset="2"/>
              <a:buNone/>
            </a:pPr>
            <a:r>
              <a:rPr lang="fr-FR" sz="1400" dirty="0" smtClean="0"/>
              <a:t>&lt;?</a:t>
            </a:r>
            <a:r>
              <a:rPr lang="fr-FR" sz="1400" dirty="0" err="1" smtClean="0"/>
              <a:t>php</a:t>
            </a:r>
            <a:r>
              <a:rPr lang="fr-FR" sz="1400" dirty="0" smtClean="0"/>
              <a:t> </a:t>
            </a:r>
          </a:p>
          <a:p>
            <a:pPr eaLnBrk="1" hangingPunct="1">
              <a:buFont typeface="Wingdings" pitchFamily="2" charset="2"/>
              <a:buNone/>
            </a:pPr>
            <a:r>
              <a:rPr lang="fr-FR" sz="1400" dirty="0" smtClean="0"/>
              <a:t>         // Enregistrons les informations de date dans des variables </a:t>
            </a:r>
          </a:p>
          <a:p>
            <a:pPr eaLnBrk="1" hangingPunct="1">
              <a:buFont typeface="Wingdings" pitchFamily="2" charset="2"/>
              <a:buNone/>
            </a:pPr>
            <a:r>
              <a:rPr lang="fr-FR" sz="1400" dirty="0" smtClean="0"/>
              <a:t>         $jour = date('d');</a:t>
            </a:r>
          </a:p>
          <a:p>
            <a:pPr eaLnBrk="1" hangingPunct="1">
              <a:buFont typeface="Wingdings" pitchFamily="2" charset="2"/>
              <a:buNone/>
            </a:pPr>
            <a:r>
              <a:rPr lang="fr-FR" sz="1400" dirty="0" smtClean="0"/>
              <a:t>         $mois = date ('m');</a:t>
            </a:r>
          </a:p>
          <a:p>
            <a:pPr eaLnBrk="1" hangingPunct="1">
              <a:buFont typeface="Wingdings" pitchFamily="2" charset="2"/>
              <a:buNone/>
            </a:pPr>
            <a:r>
              <a:rPr lang="fr-FR" sz="1400" dirty="0" smtClean="0"/>
              <a:t>         $</a:t>
            </a:r>
            <a:r>
              <a:rPr lang="fr-FR" sz="1400" dirty="0" err="1" smtClean="0"/>
              <a:t>annee</a:t>
            </a:r>
            <a:r>
              <a:rPr lang="fr-FR" sz="1400" dirty="0" smtClean="0"/>
              <a:t> = date ('Y'); </a:t>
            </a:r>
          </a:p>
          <a:p>
            <a:pPr eaLnBrk="1" hangingPunct="1">
              <a:buFont typeface="Wingdings" pitchFamily="2" charset="2"/>
              <a:buNone/>
            </a:pPr>
            <a:r>
              <a:rPr lang="fr-FR" sz="1400" dirty="0" smtClean="0"/>
              <a:t>          $heure = date('H');</a:t>
            </a:r>
          </a:p>
          <a:p>
            <a:pPr eaLnBrk="1" hangingPunct="1">
              <a:buFont typeface="Wingdings" pitchFamily="2" charset="2"/>
              <a:buNone/>
            </a:pPr>
            <a:r>
              <a:rPr lang="fr-FR" sz="1400" dirty="0" smtClean="0"/>
              <a:t>         $minute = date('i'); </a:t>
            </a:r>
          </a:p>
          <a:p>
            <a:pPr eaLnBrk="1" hangingPunct="1">
              <a:buFont typeface="Wingdings" pitchFamily="2" charset="2"/>
              <a:buNone/>
            </a:pPr>
            <a:r>
              <a:rPr lang="fr-FR" sz="1400" dirty="0" smtClean="0"/>
              <a:t>// afficher </a:t>
            </a:r>
          </a:p>
          <a:p>
            <a:pPr eaLnBrk="1" hangingPunct="1">
              <a:buFont typeface="Wingdings" pitchFamily="2" charset="2"/>
              <a:buNone/>
            </a:pPr>
            <a:r>
              <a:rPr lang="fr-FR" sz="1400" dirty="0" err="1" smtClean="0"/>
              <a:t>echo</a:t>
            </a:r>
            <a:r>
              <a:rPr lang="fr-FR" sz="1400" dirty="0" smtClean="0"/>
              <a:t> ('Bonjour ! Nous sommes le ' . $jour . '/' . $mois . '/' . $</a:t>
            </a:r>
            <a:r>
              <a:rPr lang="fr-FR" sz="1400" dirty="0" err="1" smtClean="0"/>
              <a:t>annee</a:t>
            </a:r>
            <a:r>
              <a:rPr lang="fr-FR" sz="1400" dirty="0" smtClean="0"/>
              <a:t> . 'et il est ' . $heure. ' h ' . $minute);</a:t>
            </a:r>
          </a:p>
          <a:p>
            <a:pPr eaLnBrk="1" hangingPunct="1">
              <a:buFont typeface="Wingdings" pitchFamily="2" charset="2"/>
              <a:buNone/>
            </a:pPr>
            <a:r>
              <a:rPr lang="fr-FR" sz="1400" dirty="0" smtClean="0"/>
              <a:t> ?&gt; </a:t>
            </a:r>
          </a:p>
          <a:p>
            <a:pPr eaLnBrk="1" hangingPunct="1"/>
            <a:endParaRPr lang="fr-FR" sz="1400" dirty="0" smtClean="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AutoShape 2"/>
          <p:cNvSpPr>
            <a:spLocks noGrp="1" noChangeArrowheads="1"/>
          </p:cNvSpPr>
          <p:nvPr>
            <p:ph type="title"/>
          </p:nvPr>
        </p:nvSpPr>
        <p:spPr/>
        <p:txBody>
          <a:bodyPr/>
          <a:lstStyle/>
          <a:p>
            <a:pPr eaLnBrk="1" hangingPunct="1"/>
            <a:r>
              <a:rPr lang="fr-FR" smtClean="0"/>
              <a:t>Les tableaux</a:t>
            </a:r>
          </a:p>
        </p:txBody>
      </p:sp>
      <p:sp>
        <p:nvSpPr>
          <p:cNvPr id="34818" name="Espace réservé du numéro de diapositive 5"/>
          <p:cNvSpPr>
            <a:spLocks noGrp="1"/>
          </p:cNvSpPr>
          <p:nvPr>
            <p:ph type="sldNum" sz="quarter" idx="12"/>
          </p:nvPr>
        </p:nvSpPr>
        <p:spPr>
          <a:noFill/>
        </p:spPr>
        <p:txBody>
          <a:bodyPr/>
          <a:lstStyle/>
          <a:p>
            <a:pPr>
              <a:defRPr/>
            </a:pPr>
            <a:fld id="{02A94441-713A-47B0-974D-D49475FB7F30}" type="slidenum">
              <a:rPr lang="fr-FR"/>
              <a:pPr>
                <a:defRPr/>
              </a:pPr>
              <a:t>39</a:t>
            </a:fld>
            <a:endParaRPr lang="fr-FR"/>
          </a:p>
        </p:txBody>
      </p:sp>
      <p:sp>
        <p:nvSpPr>
          <p:cNvPr id="41988" name="Rectangle 3"/>
          <p:cNvSpPr>
            <a:spLocks noGrp="1" noChangeArrowheads="1"/>
          </p:cNvSpPr>
          <p:nvPr>
            <p:ph sz="quarter" idx="1"/>
          </p:nvPr>
        </p:nvSpPr>
        <p:spPr/>
        <p:txBody>
          <a:bodyPr/>
          <a:lstStyle/>
          <a:p>
            <a:pPr eaLnBrk="1" hangingPunct="1"/>
            <a:r>
              <a:rPr lang="fr-FR" smtClean="0"/>
              <a:t>Un tableau (array) est une variable dans laquelle on peut stocker plusieurs données. </a:t>
            </a:r>
          </a:p>
          <a:p>
            <a:pPr eaLnBrk="1" hangingPunct="1">
              <a:buFont typeface="Wingdings" pitchFamily="2" charset="2"/>
              <a:buNone/>
            </a:pPr>
            <a:r>
              <a:rPr lang="fr-FR" smtClean="0"/>
              <a:t>   On distingue deux types de tableaux :</a:t>
            </a:r>
            <a:br>
              <a:rPr lang="fr-FR" smtClean="0"/>
            </a:br>
            <a:endParaRPr lang="fr-FR" smtClean="0"/>
          </a:p>
          <a:p>
            <a:pPr eaLnBrk="1" hangingPunct="1"/>
            <a:r>
              <a:rPr lang="fr-FR" smtClean="0"/>
              <a:t>Les tableaux numérotés </a:t>
            </a:r>
          </a:p>
          <a:p>
            <a:pPr eaLnBrk="1" hangingPunct="1"/>
            <a:r>
              <a:rPr lang="fr-FR" smtClean="0"/>
              <a:t>Les tableaux associatifs </a:t>
            </a:r>
          </a:p>
          <a:p>
            <a:pPr eaLnBrk="1" hangingPunct="1">
              <a:buFont typeface="Wingdings" pitchFamily="2" charset="2"/>
              <a:buChar char="•"/>
            </a:pPr>
            <a:endParaRPr lang="fr-FR" smtClean="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AutoShape 2"/>
          <p:cNvSpPr>
            <a:spLocks noGrp="1" noChangeArrowheads="1"/>
          </p:cNvSpPr>
          <p:nvPr>
            <p:ph type="title"/>
          </p:nvPr>
        </p:nvSpPr>
        <p:spPr/>
        <p:txBody>
          <a:bodyPr/>
          <a:lstStyle/>
          <a:p>
            <a:pPr eaLnBrk="1" hangingPunct="1"/>
            <a:r>
              <a:rPr lang="fr-FR" smtClean="0"/>
              <a:t>I- Les tableaux numérotés </a:t>
            </a:r>
          </a:p>
        </p:txBody>
      </p:sp>
      <p:sp>
        <p:nvSpPr>
          <p:cNvPr id="35842" name="Espace réservé du numéro de diapositive 5"/>
          <p:cNvSpPr>
            <a:spLocks noGrp="1"/>
          </p:cNvSpPr>
          <p:nvPr>
            <p:ph type="sldNum" sz="quarter" idx="12"/>
          </p:nvPr>
        </p:nvSpPr>
        <p:spPr>
          <a:noFill/>
        </p:spPr>
        <p:txBody>
          <a:bodyPr/>
          <a:lstStyle/>
          <a:p>
            <a:pPr>
              <a:defRPr/>
            </a:pPr>
            <a:fld id="{30936AF2-651A-4BBC-A8D1-915287B2DF42}" type="slidenum">
              <a:rPr lang="fr-FR"/>
              <a:pPr>
                <a:defRPr/>
              </a:pPr>
              <a:t>40</a:t>
            </a:fld>
            <a:endParaRPr lang="fr-FR"/>
          </a:p>
        </p:txBody>
      </p:sp>
      <p:sp>
        <p:nvSpPr>
          <p:cNvPr id="43012" name="Rectangle 3"/>
          <p:cNvSpPr>
            <a:spLocks noGrp="1" noChangeArrowheads="1"/>
          </p:cNvSpPr>
          <p:nvPr>
            <p:ph sz="quarter" idx="1"/>
          </p:nvPr>
        </p:nvSpPr>
        <p:spPr/>
        <p:txBody>
          <a:bodyPr>
            <a:normAutofit/>
          </a:bodyPr>
          <a:lstStyle/>
          <a:p>
            <a:pPr eaLnBrk="1" hangingPunct="1">
              <a:buFont typeface="Wingdings" pitchFamily="2" charset="2"/>
              <a:buNone/>
            </a:pPr>
            <a:r>
              <a:rPr lang="fr-FR" i="1" dirty="0" smtClean="0"/>
              <a:t>// définition d'un tableau vide et remplissage des cases</a:t>
            </a:r>
          </a:p>
          <a:p>
            <a:pPr eaLnBrk="1" hangingPunct="1">
              <a:buFont typeface="Wingdings" pitchFamily="2" charset="2"/>
              <a:buNone/>
            </a:pPr>
            <a:r>
              <a:rPr lang="fr-FR" dirty="0" smtClean="0"/>
              <a:t> $t = </a:t>
            </a:r>
            <a:r>
              <a:rPr lang="fr-FR" dirty="0" err="1" smtClean="0"/>
              <a:t>array</a:t>
            </a:r>
            <a:r>
              <a:rPr lang="fr-FR" dirty="0" smtClean="0"/>
              <a:t>(); </a:t>
            </a:r>
          </a:p>
          <a:p>
            <a:pPr eaLnBrk="1" hangingPunct="1">
              <a:buFont typeface="Wingdings" pitchFamily="2" charset="2"/>
              <a:buNone/>
            </a:pPr>
            <a:r>
              <a:rPr lang="fr-FR" dirty="0" smtClean="0"/>
              <a:t>$t[0] = 3.14; </a:t>
            </a:r>
          </a:p>
          <a:p>
            <a:pPr eaLnBrk="1" hangingPunct="1">
              <a:buFont typeface="Wingdings" pitchFamily="2" charset="2"/>
              <a:buNone/>
            </a:pPr>
            <a:r>
              <a:rPr lang="fr-FR" dirty="0" smtClean="0"/>
              <a:t>$t[1] = ‘</a:t>
            </a:r>
            <a:r>
              <a:rPr lang="fr-FR" dirty="0" err="1" smtClean="0"/>
              <a:t>ahmad</a:t>
            </a:r>
            <a:r>
              <a:rPr lang="fr-FR" dirty="0" smtClean="0"/>
              <a:t>';</a:t>
            </a:r>
          </a:p>
          <a:p>
            <a:pPr eaLnBrk="1" hangingPunct="1">
              <a:buFont typeface="Wingdings" pitchFamily="2" charset="2"/>
              <a:buNone/>
            </a:pPr>
            <a:r>
              <a:rPr lang="fr-FR" dirty="0" smtClean="0"/>
              <a:t> $t[ ] = 10; </a:t>
            </a:r>
            <a:r>
              <a:rPr lang="fr-FR" i="1" dirty="0" smtClean="0"/>
              <a:t>// syntaxe équivalente</a:t>
            </a:r>
          </a:p>
          <a:p>
            <a:pPr eaLnBrk="1" hangingPunct="1">
              <a:buFont typeface="Wingdings" pitchFamily="2" charset="2"/>
              <a:buNone/>
            </a:pPr>
            <a:r>
              <a:rPr lang="fr-FR" dirty="0" smtClean="0"/>
              <a:t> $t = </a:t>
            </a:r>
            <a:r>
              <a:rPr lang="fr-FR" dirty="0" err="1" smtClean="0"/>
              <a:t>array</a:t>
            </a:r>
            <a:r>
              <a:rPr lang="fr-FR" dirty="0" smtClean="0"/>
              <a:t>(3.14,‘</a:t>
            </a:r>
            <a:r>
              <a:rPr lang="fr-FR" dirty="0" err="1" smtClean="0"/>
              <a:t>ahmad</a:t>
            </a:r>
            <a:r>
              <a:rPr lang="fr-FR" dirty="0" smtClean="0"/>
              <a:t>',10);</a:t>
            </a:r>
          </a:p>
          <a:p>
            <a:pPr eaLnBrk="1" hangingPunct="1">
              <a:buFont typeface="Wingdings" pitchFamily="2" charset="2"/>
              <a:buNone/>
            </a:pPr>
            <a:r>
              <a:rPr lang="fr-FR" sz="2000" dirty="0" smtClean="0"/>
              <a:t>Ou bien :</a:t>
            </a:r>
          </a:p>
          <a:p>
            <a:pPr eaLnBrk="1" hangingPunct="1">
              <a:buFont typeface="Wingdings" pitchFamily="2" charset="2"/>
              <a:buNone/>
            </a:pPr>
            <a:r>
              <a:rPr lang="fr-FR" sz="2000" dirty="0" smtClean="0"/>
              <a:t> </a:t>
            </a:r>
            <a:r>
              <a:rPr lang="fr-FR" sz="2000" b="1" dirty="0" smtClean="0"/>
              <a:t>$t = [3.14,‘</a:t>
            </a:r>
            <a:r>
              <a:rPr lang="fr-FR" sz="2000" b="1" dirty="0" err="1" smtClean="0"/>
              <a:t>ahmad</a:t>
            </a:r>
            <a:r>
              <a:rPr lang="fr-FR" sz="2000" b="1" dirty="0" smtClean="0"/>
              <a:t>',10];</a:t>
            </a:r>
          </a:p>
          <a:p>
            <a:pPr eaLnBrk="1" hangingPunct="1">
              <a:buFont typeface="Wingdings" pitchFamily="2" charset="2"/>
              <a:buNone/>
            </a:pPr>
            <a:endParaRPr lang="fr-FR" sz="2000" dirty="0" smtClean="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AutoShape 2"/>
          <p:cNvSpPr>
            <a:spLocks noGrp="1" noChangeArrowheads="1"/>
          </p:cNvSpPr>
          <p:nvPr>
            <p:ph type="title"/>
          </p:nvPr>
        </p:nvSpPr>
        <p:spPr/>
        <p:txBody>
          <a:bodyPr/>
          <a:lstStyle/>
          <a:p>
            <a:pPr eaLnBrk="1" hangingPunct="1"/>
            <a:r>
              <a:rPr lang="fr-FR" sz="3200" smtClean="0"/>
              <a:t>Parcours d’un tableau numéroté</a:t>
            </a:r>
            <a:br>
              <a:rPr lang="fr-FR" sz="3200" smtClean="0"/>
            </a:br>
            <a:r>
              <a:rPr lang="fr-FR" sz="3200" smtClean="0"/>
              <a:t>for(    ;sizeof(ou bien count;      )</a:t>
            </a:r>
          </a:p>
        </p:txBody>
      </p:sp>
      <p:sp>
        <p:nvSpPr>
          <p:cNvPr id="36866" name="Espace réservé du numéro de diapositive 5"/>
          <p:cNvSpPr>
            <a:spLocks noGrp="1"/>
          </p:cNvSpPr>
          <p:nvPr>
            <p:ph type="sldNum" sz="quarter" idx="12"/>
          </p:nvPr>
        </p:nvSpPr>
        <p:spPr>
          <a:noFill/>
        </p:spPr>
        <p:txBody>
          <a:bodyPr/>
          <a:lstStyle/>
          <a:p>
            <a:pPr>
              <a:defRPr/>
            </a:pPr>
            <a:fld id="{7D0F984C-CCEB-410C-95F3-165C1242E840}" type="slidenum">
              <a:rPr lang="fr-FR"/>
              <a:pPr>
                <a:defRPr/>
              </a:pPr>
              <a:t>41</a:t>
            </a:fld>
            <a:endParaRPr lang="fr-FR"/>
          </a:p>
        </p:txBody>
      </p:sp>
      <p:sp>
        <p:nvSpPr>
          <p:cNvPr id="44036" name="Rectangle 3"/>
          <p:cNvSpPr>
            <a:spLocks noGrp="1" noChangeArrowheads="1"/>
          </p:cNvSpPr>
          <p:nvPr>
            <p:ph sz="quarter" idx="1"/>
          </p:nvPr>
        </p:nvSpPr>
        <p:spPr/>
        <p:txBody>
          <a:bodyPr/>
          <a:lstStyle/>
          <a:p>
            <a:pPr eaLnBrk="1" hangingPunct="1">
              <a:buFont typeface="Wingdings" pitchFamily="2" charset="2"/>
              <a:buNone/>
            </a:pPr>
            <a:r>
              <a:rPr lang="fr-FR" sz="2000" smtClean="0"/>
              <a:t>$coordonnees=array('alami','ahmad',19,'tanger');</a:t>
            </a:r>
          </a:p>
          <a:p>
            <a:pPr eaLnBrk="1" hangingPunct="1">
              <a:buFont typeface="Wingdings" pitchFamily="2" charset="2"/>
              <a:buNone/>
            </a:pPr>
            <a:r>
              <a:rPr lang="fr-FR" sz="1800" smtClean="0"/>
              <a:t>for ($numero = 0; $numero &lt; count($coordonnees); $numero++)</a:t>
            </a:r>
          </a:p>
          <a:p>
            <a:pPr eaLnBrk="1" hangingPunct="1">
              <a:buFont typeface="Wingdings" pitchFamily="2" charset="2"/>
              <a:buNone/>
            </a:pPr>
            <a:r>
              <a:rPr lang="fr-FR" sz="1800" smtClean="0"/>
              <a:t>{</a:t>
            </a:r>
          </a:p>
          <a:p>
            <a:pPr eaLnBrk="1" hangingPunct="1">
              <a:buFont typeface="Wingdings" pitchFamily="2" charset="2"/>
              <a:buNone/>
            </a:pPr>
            <a:r>
              <a:rPr lang="fr-FR" sz="1800" smtClean="0"/>
              <a:t>    </a:t>
            </a:r>
            <a:r>
              <a:rPr lang="fr-FR" smtClean="0"/>
              <a:t> echo ($coordonnees [$numero] . '&lt;br /&gt;'); </a:t>
            </a:r>
          </a:p>
          <a:p>
            <a:pPr eaLnBrk="1" hangingPunct="1">
              <a:buFont typeface="Wingdings" pitchFamily="2" charset="2"/>
              <a:buNone/>
            </a:pPr>
            <a:r>
              <a:rPr lang="fr-FR" sz="1800" smtClean="0"/>
              <a:t>}</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AutoShape 2"/>
          <p:cNvSpPr>
            <a:spLocks noGrp="1" noChangeArrowheads="1"/>
          </p:cNvSpPr>
          <p:nvPr>
            <p:ph type="title"/>
          </p:nvPr>
        </p:nvSpPr>
        <p:spPr/>
        <p:txBody>
          <a:bodyPr/>
          <a:lstStyle/>
          <a:p>
            <a:pPr eaLnBrk="1" hangingPunct="1"/>
            <a:r>
              <a:rPr lang="fr-FR" smtClean="0"/>
              <a:t>Parcours avec foreach</a:t>
            </a:r>
          </a:p>
        </p:txBody>
      </p:sp>
      <p:sp>
        <p:nvSpPr>
          <p:cNvPr id="37890" name="Espace réservé du numéro de diapositive 5"/>
          <p:cNvSpPr>
            <a:spLocks noGrp="1"/>
          </p:cNvSpPr>
          <p:nvPr>
            <p:ph type="sldNum" sz="quarter" idx="12"/>
          </p:nvPr>
        </p:nvSpPr>
        <p:spPr>
          <a:noFill/>
        </p:spPr>
        <p:txBody>
          <a:bodyPr/>
          <a:lstStyle/>
          <a:p>
            <a:pPr>
              <a:defRPr/>
            </a:pPr>
            <a:fld id="{E1D70CFD-55FD-4470-B0D3-ABA00FCD038C}" type="slidenum">
              <a:rPr lang="fr-FR"/>
              <a:pPr>
                <a:defRPr/>
              </a:pPr>
              <a:t>42</a:t>
            </a:fld>
            <a:endParaRPr lang="fr-FR"/>
          </a:p>
        </p:txBody>
      </p:sp>
      <p:sp>
        <p:nvSpPr>
          <p:cNvPr id="45060" name="Rectangle 3"/>
          <p:cNvSpPr>
            <a:spLocks noGrp="1" noChangeArrowheads="1"/>
          </p:cNvSpPr>
          <p:nvPr>
            <p:ph sz="quarter" idx="1"/>
          </p:nvPr>
        </p:nvSpPr>
        <p:spPr/>
        <p:txBody>
          <a:bodyPr/>
          <a:lstStyle/>
          <a:p>
            <a:pPr eaLnBrk="1" hangingPunct="1">
              <a:buFont typeface="Wingdings" pitchFamily="2" charset="2"/>
              <a:buNone/>
            </a:pPr>
            <a:endParaRPr lang="fr-FR" smtClean="0"/>
          </a:p>
          <a:p>
            <a:pPr eaLnBrk="1" hangingPunct="1">
              <a:buFont typeface="Wingdings" pitchFamily="2" charset="2"/>
              <a:buNone/>
            </a:pPr>
            <a:r>
              <a:rPr lang="fr-FR" smtClean="0"/>
              <a:t>foreach($coordonnees as $element) { </a:t>
            </a:r>
          </a:p>
          <a:p>
            <a:pPr eaLnBrk="1" hangingPunct="1">
              <a:buFont typeface="Wingdings" pitchFamily="2" charset="2"/>
              <a:buNone/>
            </a:pPr>
            <a:r>
              <a:rPr lang="fr-FR" smtClean="0"/>
              <a:t>   echo $element . '&lt;br /&gt;'; </a:t>
            </a:r>
          </a:p>
          <a:p>
            <a:pPr eaLnBrk="1" hangingPunct="1">
              <a:buFont typeface="Wingdings" pitchFamily="2" charset="2"/>
              <a:buNone/>
            </a:pPr>
            <a:r>
              <a:rPr lang="fr-FR" smtClean="0"/>
              <a:t>} </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re 1"/>
          <p:cNvSpPr>
            <a:spLocks noGrp="1"/>
          </p:cNvSpPr>
          <p:nvPr>
            <p:ph type="title"/>
          </p:nvPr>
        </p:nvSpPr>
        <p:spPr/>
        <p:txBody>
          <a:bodyPr/>
          <a:lstStyle/>
          <a:p>
            <a:r>
              <a:rPr lang="fr-FR" smtClean="0"/>
              <a:t>Trier un tableau  sort( )</a:t>
            </a:r>
          </a:p>
        </p:txBody>
      </p:sp>
      <p:sp>
        <p:nvSpPr>
          <p:cNvPr id="4" name="Espace réservé du numéro de diapositive 3"/>
          <p:cNvSpPr>
            <a:spLocks noGrp="1"/>
          </p:cNvSpPr>
          <p:nvPr>
            <p:ph type="sldNum" sz="quarter" idx="12"/>
          </p:nvPr>
        </p:nvSpPr>
        <p:spPr/>
        <p:txBody>
          <a:bodyPr/>
          <a:lstStyle/>
          <a:p>
            <a:pPr>
              <a:defRPr/>
            </a:pPr>
            <a:fld id="{C7532E87-1C4B-45C7-8229-6C05ED3F1190}" type="slidenum">
              <a:rPr lang="fr-FR" smtClean="0"/>
              <a:pPr>
                <a:defRPr/>
              </a:pPr>
              <a:t>43</a:t>
            </a:fld>
            <a:endParaRPr lang="fr-FR"/>
          </a:p>
        </p:txBody>
      </p:sp>
      <p:sp>
        <p:nvSpPr>
          <p:cNvPr id="46083" name="Espace réservé du contenu 2"/>
          <p:cNvSpPr>
            <a:spLocks noGrp="1"/>
          </p:cNvSpPr>
          <p:nvPr>
            <p:ph sz="quarter" idx="1"/>
          </p:nvPr>
        </p:nvSpPr>
        <p:spPr/>
        <p:txBody>
          <a:bodyPr/>
          <a:lstStyle/>
          <a:p>
            <a:r>
              <a:rPr lang="pt-BR" smtClean="0"/>
              <a:t>$t = array(0, 10, 5);</a:t>
            </a:r>
          </a:p>
          <a:p>
            <a:endParaRPr lang="pt-BR" smtClean="0"/>
          </a:p>
          <a:p>
            <a:endParaRPr lang="pt-BR" smtClean="0"/>
          </a:p>
          <a:p>
            <a:endParaRPr lang="fr-FR" smtClean="0"/>
          </a:p>
        </p:txBody>
      </p:sp>
      <p:sp>
        <p:nvSpPr>
          <p:cNvPr id="5" name="Rectangle 4"/>
          <p:cNvSpPr/>
          <p:nvPr/>
        </p:nvSpPr>
        <p:spPr>
          <a:xfrm>
            <a:off x="428625" y="2428875"/>
            <a:ext cx="3214688" cy="30718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dirty="0"/>
              <a:t>$t = </a:t>
            </a:r>
            <a:r>
              <a:rPr lang="fr-FR" dirty="0" err="1"/>
              <a:t>array</a:t>
            </a:r>
            <a:r>
              <a:rPr lang="fr-FR" dirty="0"/>
              <a:t>(0, 10, 5);</a:t>
            </a:r>
          </a:p>
          <a:p>
            <a:pPr algn="ctr">
              <a:defRPr/>
            </a:pPr>
            <a:endParaRPr lang="fr-FR" dirty="0"/>
          </a:p>
          <a:p>
            <a:pPr algn="ctr">
              <a:defRPr/>
            </a:pPr>
            <a:r>
              <a:rPr lang="fr-FR" dirty="0"/>
              <a:t>        </a:t>
            </a:r>
            <a:r>
              <a:rPr lang="fr-FR" dirty="0" err="1"/>
              <a:t>echo</a:t>
            </a:r>
            <a:r>
              <a:rPr lang="fr-FR" dirty="0"/>
              <a:t> "</a:t>
            </a:r>
            <a:r>
              <a:rPr lang="fr-FR" dirty="0" err="1"/>
              <a:t>before</a:t>
            </a:r>
            <a:r>
              <a:rPr lang="fr-FR" dirty="0"/>
              <a:t> :";</a:t>
            </a:r>
          </a:p>
          <a:p>
            <a:pPr algn="ctr">
              <a:defRPr/>
            </a:pPr>
            <a:r>
              <a:rPr lang="fr-FR" dirty="0"/>
              <a:t>        </a:t>
            </a:r>
            <a:r>
              <a:rPr lang="fr-FR" dirty="0" err="1"/>
              <a:t>print_r</a:t>
            </a:r>
            <a:r>
              <a:rPr lang="fr-FR" dirty="0"/>
              <a:t>($t);</a:t>
            </a:r>
          </a:p>
          <a:p>
            <a:pPr algn="ctr">
              <a:defRPr/>
            </a:pPr>
            <a:r>
              <a:rPr lang="fr-FR" dirty="0"/>
              <a:t>        </a:t>
            </a:r>
          </a:p>
          <a:p>
            <a:pPr algn="ctr">
              <a:defRPr/>
            </a:pPr>
            <a:r>
              <a:rPr lang="fr-FR" dirty="0"/>
              <a:t>        sort($t);</a:t>
            </a:r>
          </a:p>
          <a:p>
            <a:pPr algn="ctr">
              <a:defRPr/>
            </a:pPr>
            <a:r>
              <a:rPr lang="fr-FR" dirty="0"/>
              <a:t> </a:t>
            </a:r>
            <a:r>
              <a:rPr lang="fr-FR" dirty="0" err="1"/>
              <a:t>echo</a:t>
            </a:r>
            <a:r>
              <a:rPr lang="fr-FR" dirty="0"/>
              <a:t> "&lt;</a:t>
            </a:r>
            <a:r>
              <a:rPr lang="fr-FR" dirty="0" err="1"/>
              <a:t>br</a:t>
            </a:r>
            <a:r>
              <a:rPr lang="fr-FR" dirty="0"/>
              <a:t>/&gt;</a:t>
            </a:r>
            <a:r>
              <a:rPr lang="fr-FR" dirty="0" err="1"/>
              <a:t>after</a:t>
            </a:r>
            <a:r>
              <a:rPr lang="fr-FR" dirty="0"/>
              <a:t> :";</a:t>
            </a:r>
          </a:p>
          <a:p>
            <a:pPr algn="ctr">
              <a:defRPr/>
            </a:pPr>
            <a:r>
              <a:rPr lang="fr-FR" dirty="0"/>
              <a:t>        </a:t>
            </a:r>
            <a:r>
              <a:rPr lang="fr-FR" dirty="0" err="1"/>
              <a:t>print_r</a:t>
            </a:r>
            <a:r>
              <a:rPr lang="fr-FR" dirty="0"/>
              <a:t>($t);</a:t>
            </a:r>
          </a:p>
        </p:txBody>
      </p:sp>
      <p:sp>
        <p:nvSpPr>
          <p:cNvPr id="6" name="Flèche droite rayée 5"/>
          <p:cNvSpPr/>
          <p:nvPr/>
        </p:nvSpPr>
        <p:spPr>
          <a:xfrm>
            <a:off x="3786188" y="3500438"/>
            <a:ext cx="928687" cy="571500"/>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7" name="Rectangle 6"/>
          <p:cNvSpPr/>
          <p:nvPr/>
        </p:nvSpPr>
        <p:spPr>
          <a:xfrm>
            <a:off x="4786313" y="2428875"/>
            <a:ext cx="4143375" cy="32146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before :Array ( [0] =&gt; 0 [1] =&gt; 10 [2] =&gt; 5 ) </a:t>
            </a:r>
            <a:br>
              <a:rPr lang="en-US" dirty="0"/>
            </a:br>
            <a:r>
              <a:rPr lang="en-US" dirty="0"/>
              <a:t>after :Array ( [0] =&gt; 0 [1] =&gt; 5 [2] =&gt; 10 )</a:t>
            </a:r>
            <a:endParaRPr lang="fr-FR"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re 1"/>
          <p:cNvSpPr>
            <a:spLocks noGrp="1"/>
          </p:cNvSpPr>
          <p:nvPr>
            <p:ph type="title"/>
          </p:nvPr>
        </p:nvSpPr>
        <p:spPr/>
        <p:txBody>
          <a:bodyPr/>
          <a:lstStyle/>
          <a:p>
            <a:r>
              <a:rPr lang="fr-FR" sz="3600" smtClean="0"/>
              <a:t>Chercher un élément dans un tableau</a:t>
            </a:r>
          </a:p>
        </p:txBody>
      </p:sp>
      <p:sp>
        <p:nvSpPr>
          <p:cNvPr id="4" name="Espace réservé du numéro de diapositive 3"/>
          <p:cNvSpPr>
            <a:spLocks noGrp="1"/>
          </p:cNvSpPr>
          <p:nvPr>
            <p:ph type="sldNum" sz="quarter" idx="12"/>
          </p:nvPr>
        </p:nvSpPr>
        <p:spPr/>
        <p:txBody>
          <a:bodyPr/>
          <a:lstStyle/>
          <a:p>
            <a:pPr>
              <a:defRPr/>
            </a:pPr>
            <a:fld id="{2186D01B-064F-4D51-9AE3-7CB9F7DACFEC}" type="slidenum">
              <a:rPr lang="fr-FR" smtClean="0"/>
              <a:pPr>
                <a:defRPr/>
              </a:pPr>
              <a:t>44</a:t>
            </a:fld>
            <a:endParaRPr lang="fr-FR"/>
          </a:p>
        </p:txBody>
      </p:sp>
      <p:sp>
        <p:nvSpPr>
          <p:cNvPr id="5" name="Rectangle 4"/>
          <p:cNvSpPr/>
          <p:nvPr/>
        </p:nvSpPr>
        <p:spPr>
          <a:xfrm>
            <a:off x="357188" y="1643063"/>
            <a:ext cx="3000375" cy="33575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t>$tab=array(4,5,6,7,19);</a:t>
            </a:r>
          </a:p>
          <a:p>
            <a:pPr>
              <a:defRPr/>
            </a:pPr>
            <a:r>
              <a:rPr lang="en-US" dirty="0"/>
              <a:t>        </a:t>
            </a:r>
          </a:p>
          <a:p>
            <a:pPr>
              <a:defRPr/>
            </a:pPr>
            <a:r>
              <a:rPr lang="en-US" dirty="0"/>
              <a:t>        if(</a:t>
            </a:r>
            <a:r>
              <a:rPr lang="en-US" dirty="0" err="1"/>
              <a:t>in_array</a:t>
            </a:r>
            <a:r>
              <a:rPr lang="en-US" dirty="0"/>
              <a:t>(4, $tab))</a:t>
            </a:r>
          </a:p>
          <a:p>
            <a:pPr>
              <a:defRPr/>
            </a:pPr>
            <a:r>
              <a:rPr lang="en-US" dirty="0"/>
              <a:t>        {</a:t>
            </a:r>
          </a:p>
          <a:p>
            <a:pPr>
              <a:defRPr/>
            </a:pPr>
            <a:r>
              <a:rPr lang="en-US" dirty="0"/>
              <a:t>            echo "true";</a:t>
            </a:r>
          </a:p>
          <a:p>
            <a:pPr>
              <a:defRPr/>
            </a:pPr>
            <a:r>
              <a:rPr lang="en-US" dirty="0"/>
              <a:t>        }</a:t>
            </a:r>
          </a:p>
          <a:p>
            <a:pPr>
              <a:defRPr/>
            </a:pPr>
            <a:r>
              <a:rPr lang="en-US" dirty="0"/>
              <a:t>        else{</a:t>
            </a:r>
          </a:p>
          <a:p>
            <a:pPr>
              <a:defRPr/>
            </a:pPr>
            <a:r>
              <a:rPr lang="en-US" dirty="0"/>
              <a:t>            echo "false";</a:t>
            </a:r>
          </a:p>
          <a:p>
            <a:pPr>
              <a:defRPr/>
            </a:pPr>
            <a:r>
              <a:rPr lang="en-US" dirty="0"/>
              <a:t>        }</a:t>
            </a:r>
            <a:endParaRPr lang="fr-FR" dirty="0"/>
          </a:p>
        </p:txBody>
      </p:sp>
      <p:sp>
        <p:nvSpPr>
          <p:cNvPr id="6" name="Flèche droite rayée 5"/>
          <p:cNvSpPr/>
          <p:nvPr/>
        </p:nvSpPr>
        <p:spPr>
          <a:xfrm>
            <a:off x="3500438" y="3000375"/>
            <a:ext cx="714375" cy="357188"/>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7" name="Rectangle 6"/>
          <p:cNvSpPr/>
          <p:nvPr/>
        </p:nvSpPr>
        <p:spPr>
          <a:xfrm>
            <a:off x="4572000" y="2428875"/>
            <a:ext cx="2428875" cy="142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dirty="0" err="1"/>
              <a:t>true</a:t>
            </a:r>
            <a:endParaRPr lang="fr-FR"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re 1"/>
          <p:cNvSpPr>
            <a:spLocks noGrp="1"/>
          </p:cNvSpPr>
          <p:nvPr>
            <p:ph type="title"/>
          </p:nvPr>
        </p:nvSpPr>
        <p:spPr/>
        <p:txBody>
          <a:bodyPr/>
          <a:lstStyle/>
          <a:p>
            <a:r>
              <a:rPr lang="fr-FR" smtClean="0"/>
              <a:t>Min et Max</a:t>
            </a:r>
          </a:p>
        </p:txBody>
      </p:sp>
      <p:sp>
        <p:nvSpPr>
          <p:cNvPr id="4" name="Espace réservé du numéro de diapositive 3"/>
          <p:cNvSpPr>
            <a:spLocks noGrp="1"/>
          </p:cNvSpPr>
          <p:nvPr>
            <p:ph type="sldNum" sz="quarter" idx="12"/>
          </p:nvPr>
        </p:nvSpPr>
        <p:spPr/>
        <p:txBody>
          <a:bodyPr/>
          <a:lstStyle/>
          <a:p>
            <a:pPr>
              <a:defRPr/>
            </a:pPr>
            <a:fld id="{82F941AA-BF95-4BFC-9ED5-C015A0F0A815}" type="slidenum">
              <a:rPr lang="fr-FR" smtClean="0"/>
              <a:pPr>
                <a:defRPr/>
              </a:pPr>
              <a:t>45</a:t>
            </a:fld>
            <a:endParaRPr lang="fr-FR"/>
          </a:p>
        </p:txBody>
      </p:sp>
      <p:sp>
        <p:nvSpPr>
          <p:cNvPr id="5" name="Rectangle 4"/>
          <p:cNvSpPr/>
          <p:nvPr/>
        </p:nvSpPr>
        <p:spPr>
          <a:xfrm>
            <a:off x="285750" y="1928813"/>
            <a:ext cx="3714750" cy="36433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fr-FR" dirty="0"/>
              <a:t>$tab=</a:t>
            </a:r>
            <a:r>
              <a:rPr lang="fr-FR" dirty="0" err="1"/>
              <a:t>array</a:t>
            </a:r>
            <a:r>
              <a:rPr lang="fr-FR" dirty="0"/>
              <a:t>(4,5,6,7,19);</a:t>
            </a:r>
          </a:p>
          <a:p>
            <a:pPr>
              <a:defRPr/>
            </a:pPr>
            <a:r>
              <a:rPr lang="da-DK" dirty="0"/>
              <a:t>$max=max($tab);</a:t>
            </a:r>
          </a:p>
          <a:p>
            <a:pPr>
              <a:defRPr/>
            </a:pPr>
            <a:r>
              <a:rPr lang="da-DK" dirty="0"/>
              <a:t>        $min=min($tab);</a:t>
            </a:r>
          </a:p>
          <a:p>
            <a:pPr>
              <a:defRPr/>
            </a:pPr>
            <a:r>
              <a:rPr lang="da-DK" dirty="0"/>
              <a:t>        echo "********$max  &lt;br/&gt;  ******$min";</a:t>
            </a:r>
            <a:endParaRPr lang="fr-FR" dirty="0"/>
          </a:p>
        </p:txBody>
      </p:sp>
      <p:sp>
        <p:nvSpPr>
          <p:cNvPr id="6" name="Flèche droite rayée 5"/>
          <p:cNvSpPr/>
          <p:nvPr/>
        </p:nvSpPr>
        <p:spPr>
          <a:xfrm>
            <a:off x="4143375" y="3643313"/>
            <a:ext cx="714375" cy="428625"/>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7" name="Rectangle 6"/>
          <p:cNvSpPr/>
          <p:nvPr/>
        </p:nvSpPr>
        <p:spPr>
          <a:xfrm>
            <a:off x="5000625" y="1928813"/>
            <a:ext cx="3786188" cy="36433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dirty="0"/>
              <a:t>******19 </a:t>
            </a:r>
            <a:br>
              <a:rPr lang="fr-FR" dirty="0"/>
            </a:br>
            <a:r>
              <a:rPr lang="fr-FR" dirty="0"/>
              <a:t>******4</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re 1"/>
          <p:cNvSpPr>
            <a:spLocks noGrp="1"/>
          </p:cNvSpPr>
          <p:nvPr>
            <p:ph type="title"/>
          </p:nvPr>
        </p:nvSpPr>
        <p:spPr/>
        <p:txBody>
          <a:bodyPr/>
          <a:lstStyle/>
          <a:p>
            <a:r>
              <a:rPr lang="fr-FR" sz="3200" dirty="0" smtClean="0"/>
              <a:t>Supprimer un élément d’un tableau</a:t>
            </a:r>
          </a:p>
        </p:txBody>
      </p:sp>
      <p:sp>
        <p:nvSpPr>
          <p:cNvPr id="4" name="Espace réservé du numéro de diapositive 3"/>
          <p:cNvSpPr>
            <a:spLocks noGrp="1"/>
          </p:cNvSpPr>
          <p:nvPr>
            <p:ph type="sldNum" sz="quarter" idx="12"/>
          </p:nvPr>
        </p:nvSpPr>
        <p:spPr/>
        <p:txBody>
          <a:bodyPr/>
          <a:lstStyle/>
          <a:p>
            <a:pPr>
              <a:defRPr/>
            </a:pPr>
            <a:fld id="{FC73AEC9-0B89-4A6C-93E6-BE0CAE4E7731}" type="slidenum">
              <a:rPr lang="fr-FR" smtClean="0"/>
              <a:pPr>
                <a:defRPr/>
              </a:pPr>
              <a:t>46</a:t>
            </a:fld>
            <a:endParaRPr lang="fr-FR"/>
          </a:p>
        </p:txBody>
      </p:sp>
      <p:sp>
        <p:nvSpPr>
          <p:cNvPr id="5" name="Rectangle 4"/>
          <p:cNvSpPr/>
          <p:nvPr/>
        </p:nvSpPr>
        <p:spPr>
          <a:xfrm>
            <a:off x="500063" y="2000250"/>
            <a:ext cx="4714875" cy="4000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fr-FR" sz="2400" dirty="0"/>
              <a:t>$tab = </a:t>
            </a:r>
            <a:r>
              <a:rPr lang="fr-FR" sz="2400" dirty="0" err="1"/>
              <a:t>array</a:t>
            </a:r>
            <a:r>
              <a:rPr lang="fr-FR" sz="2400" dirty="0"/>
              <a:t>('world','hello','good','</a:t>
            </a:r>
            <a:r>
              <a:rPr lang="fr-FR" sz="2400" dirty="0" err="1"/>
              <a:t>planet</a:t>
            </a:r>
            <a:r>
              <a:rPr lang="fr-FR" sz="2400" dirty="0"/>
              <a:t>');</a:t>
            </a:r>
          </a:p>
          <a:p>
            <a:pPr>
              <a:defRPr/>
            </a:pPr>
            <a:r>
              <a:rPr lang="fr-FR" sz="2400" dirty="0"/>
              <a:t>       </a:t>
            </a:r>
            <a:r>
              <a:rPr lang="fr-FR" sz="2400" dirty="0" err="1"/>
              <a:t>echo</a:t>
            </a:r>
            <a:r>
              <a:rPr lang="fr-FR" sz="2400" dirty="0"/>
              <a:t> "</a:t>
            </a:r>
            <a:r>
              <a:rPr lang="fr-FR" sz="2400" dirty="0" err="1"/>
              <a:t>before</a:t>
            </a:r>
            <a:r>
              <a:rPr lang="fr-FR" sz="2400" dirty="0"/>
              <a:t> : &lt;</a:t>
            </a:r>
            <a:r>
              <a:rPr lang="fr-FR" sz="2400" dirty="0" err="1"/>
              <a:t>br</a:t>
            </a:r>
            <a:r>
              <a:rPr lang="fr-FR" sz="2400" dirty="0"/>
              <a:t>/&gt;";</a:t>
            </a:r>
          </a:p>
          <a:p>
            <a:pPr>
              <a:defRPr/>
            </a:pPr>
            <a:r>
              <a:rPr lang="fr-FR" sz="2400" dirty="0"/>
              <a:t>       </a:t>
            </a:r>
            <a:r>
              <a:rPr lang="fr-FR" sz="2400" dirty="0" err="1"/>
              <a:t>print_r</a:t>
            </a:r>
            <a:r>
              <a:rPr lang="fr-FR" sz="2400" dirty="0"/>
              <a:t>($tab);</a:t>
            </a:r>
          </a:p>
          <a:p>
            <a:pPr>
              <a:defRPr/>
            </a:pPr>
            <a:r>
              <a:rPr lang="fr-FR" sz="2400" dirty="0"/>
              <a:t>        $</a:t>
            </a:r>
            <a:r>
              <a:rPr lang="fr-FR" sz="2400" dirty="0" err="1"/>
              <a:t>element</a:t>
            </a:r>
            <a:r>
              <a:rPr lang="fr-FR" sz="2400" dirty="0"/>
              <a:t> = 'hello';</a:t>
            </a:r>
          </a:p>
          <a:p>
            <a:pPr>
              <a:defRPr/>
            </a:pPr>
            <a:r>
              <a:rPr lang="fr-FR" sz="2400" dirty="0"/>
              <a:t>       </a:t>
            </a:r>
            <a:r>
              <a:rPr lang="fr-FR" sz="2400" dirty="0" err="1"/>
              <a:t>unset</a:t>
            </a:r>
            <a:r>
              <a:rPr lang="fr-FR" sz="2400" dirty="0"/>
              <a:t>($tab[0]);</a:t>
            </a:r>
          </a:p>
          <a:p>
            <a:pPr>
              <a:defRPr/>
            </a:pPr>
            <a:r>
              <a:rPr lang="fr-FR" sz="2400" dirty="0"/>
              <a:t>       $tab=</a:t>
            </a:r>
            <a:r>
              <a:rPr lang="fr-FR" sz="2400" dirty="0" err="1"/>
              <a:t>array_values</a:t>
            </a:r>
            <a:r>
              <a:rPr lang="fr-FR" sz="2400" dirty="0"/>
              <a:t>($tab);</a:t>
            </a:r>
          </a:p>
          <a:p>
            <a:pPr>
              <a:defRPr/>
            </a:pPr>
            <a:r>
              <a:rPr lang="fr-FR" sz="2400" dirty="0"/>
              <a:t>       </a:t>
            </a:r>
            <a:r>
              <a:rPr lang="fr-FR" sz="2400" dirty="0" err="1"/>
              <a:t>echo</a:t>
            </a:r>
            <a:r>
              <a:rPr lang="fr-FR" sz="2400" dirty="0"/>
              <a:t> "&lt;</a:t>
            </a:r>
            <a:r>
              <a:rPr lang="fr-FR" sz="2400" dirty="0" err="1"/>
              <a:t>br</a:t>
            </a:r>
            <a:r>
              <a:rPr lang="fr-FR" sz="2400" dirty="0"/>
              <a:t>/&gt; </a:t>
            </a:r>
            <a:r>
              <a:rPr lang="fr-FR" sz="2400" dirty="0" err="1"/>
              <a:t>after</a:t>
            </a:r>
            <a:r>
              <a:rPr lang="fr-FR" sz="2400" dirty="0"/>
              <a:t> : &lt;</a:t>
            </a:r>
            <a:r>
              <a:rPr lang="fr-FR" sz="2400" dirty="0" err="1"/>
              <a:t>br</a:t>
            </a:r>
            <a:r>
              <a:rPr lang="fr-FR" sz="2400" dirty="0"/>
              <a:t>/&gt;";</a:t>
            </a:r>
          </a:p>
          <a:p>
            <a:pPr>
              <a:defRPr/>
            </a:pPr>
            <a:r>
              <a:rPr lang="fr-FR" sz="2400" dirty="0"/>
              <a:t>       </a:t>
            </a:r>
            <a:r>
              <a:rPr lang="fr-FR" sz="2400" dirty="0" err="1"/>
              <a:t>print_r</a:t>
            </a:r>
            <a:r>
              <a:rPr lang="fr-FR" sz="2400" dirty="0"/>
              <a:t>($tab);</a:t>
            </a:r>
          </a:p>
        </p:txBody>
      </p:sp>
      <p:sp>
        <p:nvSpPr>
          <p:cNvPr id="6" name="Flèche droite rayée 5"/>
          <p:cNvSpPr/>
          <p:nvPr/>
        </p:nvSpPr>
        <p:spPr>
          <a:xfrm>
            <a:off x="5286375" y="3786188"/>
            <a:ext cx="571500" cy="500062"/>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7" name="Rectangle 6"/>
          <p:cNvSpPr/>
          <p:nvPr/>
        </p:nvSpPr>
        <p:spPr>
          <a:xfrm>
            <a:off x="5857875" y="2071688"/>
            <a:ext cx="3714750" cy="37861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before : </a:t>
            </a:r>
            <a:br>
              <a:rPr lang="en-US" dirty="0"/>
            </a:br>
            <a:r>
              <a:rPr lang="en-US" dirty="0"/>
              <a:t>Array ( [0] =&gt; world [1] =&gt; hello [2] =&gt; good [3] =&gt; planet ) </a:t>
            </a:r>
            <a:br>
              <a:rPr lang="en-US" dirty="0"/>
            </a:br>
            <a:r>
              <a:rPr lang="en-US" dirty="0"/>
              <a:t>after : </a:t>
            </a:r>
            <a:br>
              <a:rPr lang="en-US" dirty="0"/>
            </a:br>
            <a:r>
              <a:rPr lang="en-US" dirty="0"/>
              <a:t>Array ( [0] =&gt; hello [1] =&gt; good [2] =&gt; planet ) </a:t>
            </a:r>
            <a:endParaRPr lang="fr-FR"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AutoShape 2"/>
          <p:cNvSpPr>
            <a:spLocks noGrp="1" noChangeArrowheads="1"/>
          </p:cNvSpPr>
          <p:nvPr>
            <p:ph type="title"/>
          </p:nvPr>
        </p:nvSpPr>
        <p:spPr/>
        <p:txBody>
          <a:bodyPr/>
          <a:lstStyle/>
          <a:p>
            <a:pPr eaLnBrk="1" hangingPunct="1"/>
            <a:r>
              <a:rPr lang="fr-FR" sz="3200" smtClean="0"/>
              <a:t>II Les tableaux associatifs</a:t>
            </a:r>
            <a:br>
              <a:rPr lang="fr-FR" sz="3200" smtClean="0"/>
            </a:br>
            <a:endParaRPr lang="fr-FR" sz="3200" smtClean="0"/>
          </a:p>
        </p:txBody>
      </p:sp>
      <p:sp>
        <p:nvSpPr>
          <p:cNvPr id="38914" name="Espace réservé du numéro de diapositive 5"/>
          <p:cNvSpPr>
            <a:spLocks noGrp="1"/>
          </p:cNvSpPr>
          <p:nvPr>
            <p:ph type="sldNum" sz="quarter" idx="12"/>
          </p:nvPr>
        </p:nvSpPr>
        <p:spPr>
          <a:noFill/>
        </p:spPr>
        <p:txBody>
          <a:bodyPr/>
          <a:lstStyle/>
          <a:p>
            <a:pPr>
              <a:defRPr/>
            </a:pPr>
            <a:fld id="{66FB94C1-BB37-4CCD-BCDA-75A36681B048}" type="slidenum">
              <a:rPr lang="fr-FR"/>
              <a:pPr>
                <a:defRPr/>
              </a:pPr>
              <a:t>47</a:t>
            </a:fld>
            <a:endParaRPr lang="fr-FR"/>
          </a:p>
        </p:txBody>
      </p:sp>
      <p:sp>
        <p:nvSpPr>
          <p:cNvPr id="50180" name="Rectangle 3"/>
          <p:cNvSpPr>
            <a:spLocks noGrp="1" noChangeArrowheads="1"/>
          </p:cNvSpPr>
          <p:nvPr>
            <p:ph sz="quarter" idx="1"/>
          </p:nvPr>
        </p:nvSpPr>
        <p:spPr/>
        <p:txBody>
          <a:bodyPr>
            <a:normAutofit lnSpcReduction="10000"/>
          </a:bodyPr>
          <a:lstStyle/>
          <a:p>
            <a:pPr eaLnBrk="1" hangingPunct="1"/>
            <a:r>
              <a:rPr lang="fr-FR" smtClean="0"/>
              <a:t>Déclaration:</a:t>
            </a:r>
          </a:p>
          <a:p>
            <a:pPr eaLnBrk="1" hangingPunct="1">
              <a:buFont typeface="Wingdings" pitchFamily="2" charset="2"/>
              <a:buNone/>
            </a:pPr>
            <a:r>
              <a:rPr lang="fr-FR" sz="2000" smtClean="0"/>
              <a:t>    $coordonnees = array ( 'prenom' =&gt; ‘ahmad', 'nom' =&gt; ‘alami', ‘age' =&gt; 19, 'ville' =&gt; ‘tanger'); </a:t>
            </a:r>
          </a:p>
          <a:p>
            <a:pPr eaLnBrk="1" hangingPunct="1">
              <a:buFont typeface="Wingdings" pitchFamily="2" charset="2"/>
              <a:buNone/>
            </a:pPr>
            <a:r>
              <a:rPr lang="fr-FR" sz="2000" b="1" smtClean="0"/>
              <a:t>      Ou bien :</a:t>
            </a:r>
          </a:p>
          <a:p>
            <a:pPr eaLnBrk="1" hangingPunct="1">
              <a:buFont typeface="Wingdings" pitchFamily="2" charset="2"/>
              <a:buNone/>
            </a:pPr>
            <a:r>
              <a:rPr lang="fr-FR" sz="2000" smtClean="0"/>
              <a:t>$coordonnees = [ 'prenom' =&gt; ‘ahmad', 'nom' =&gt; ‘alami', ‘age' =&gt; 19, 'ville' =&gt; ‘tanger‘]; </a:t>
            </a:r>
          </a:p>
          <a:p>
            <a:pPr eaLnBrk="1" hangingPunct="1">
              <a:buFont typeface="Wingdings" pitchFamily="2" charset="2"/>
              <a:buNone/>
            </a:pPr>
            <a:r>
              <a:rPr lang="fr-FR" sz="2000" smtClean="0"/>
              <a:t>    </a:t>
            </a:r>
            <a:r>
              <a:rPr lang="fr-FR" sz="2000" b="1" smtClean="0"/>
              <a:t>  Ou bien :</a:t>
            </a:r>
          </a:p>
          <a:p>
            <a:pPr eaLnBrk="1" hangingPunct="1">
              <a:buFont typeface="Wingdings" pitchFamily="2" charset="2"/>
              <a:buNone/>
            </a:pPr>
            <a:endParaRPr lang="fr-FR" sz="2000" smtClean="0"/>
          </a:p>
          <a:p>
            <a:pPr eaLnBrk="1" hangingPunct="1">
              <a:buFont typeface="Wingdings" pitchFamily="2" charset="2"/>
              <a:buNone/>
            </a:pPr>
            <a:endParaRPr lang="fr-FR" sz="2000" smtClean="0"/>
          </a:p>
          <a:p>
            <a:pPr eaLnBrk="1" hangingPunct="1">
              <a:buFont typeface="Wingdings" pitchFamily="2" charset="2"/>
              <a:buNone/>
            </a:pPr>
            <a:r>
              <a:rPr lang="fr-FR" smtClean="0"/>
              <a:t>    $coordonnees['prenom'] = ‘ahmad';    $coordonnees['nom'] = ‘alami';       $coordonnees[‘age'] =19;</a:t>
            </a:r>
          </a:p>
          <a:p>
            <a:pPr eaLnBrk="1" hangingPunct="1">
              <a:buFont typeface="Wingdings" pitchFamily="2" charset="2"/>
              <a:buNone/>
            </a:pPr>
            <a:r>
              <a:rPr lang="fr-FR" smtClean="0"/>
              <a:t>    $coordonnees['ville'] = ‘tanger'; </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AutoShape 2"/>
          <p:cNvSpPr>
            <a:spLocks noGrp="1" noChangeArrowheads="1"/>
          </p:cNvSpPr>
          <p:nvPr>
            <p:ph type="title"/>
          </p:nvPr>
        </p:nvSpPr>
        <p:spPr/>
        <p:txBody>
          <a:bodyPr/>
          <a:lstStyle/>
          <a:p>
            <a:pPr eaLnBrk="1" hangingPunct="1"/>
            <a:r>
              <a:rPr lang="fr-FR" sz="2800" smtClean="0"/>
              <a:t>Parcours d’un tableau associatif(foreach)</a:t>
            </a:r>
          </a:p>
        </p:txBody>
      </p:sp>
      <p:sp>
        <p:nvSpPr>
          <p:cNvPr id="39938" name="Espace réservé du numéro de diapositive 5"/>
          <p:cNvSpPr>
            <a:spLocks noGrp="1"/>
          </p:cNvSpPr>
          <p:nvPr>
            <p:ph type="sldNum" sz="quarter" idx="12"/>
          </p:nvPr>
        </p:nvSpPr>
        <p:spPr>
          <a:noFill/>
        </p:spPr>
        <p:txBody>
          <a:bodyPr/>
          <a:lstStyle/>
          <a:p>
            <a:pPr>
              <a:defRPr/>
            </a:pPr>
            <a:fld id="{C0920696-C5D8-4E16-A43A-5221186DDA3D}" type="slidenum">
              <a:rPr lang="fr-FR"/>
              <a:pPr>
                <a:defRPr/>
              </a:pPr>
              <a:t>48</a:t>
            </a:fld>
            <a:endParaRPr lang="fr-FR"/>
          </a:p>
        </p:txBody>
      </p:sp>
      <p:sp>
        <p:nvSpPr>
          <p:cNvPr id="51204" name="Rectangle 3"/>
          <p:cNvSpPr>
            <a:spLocks noGrp="1" noChangeArrowheads="1"/>
          </p:cNvSpPr>
          <p:nvPr>
            <p:ph sz="quarter" idx="1"/>
          </p:nvPr>
        </p:nvSpPr>
        <p:spPr/>
        <p:txBody>
          <a:bodyPr/>
          <a:lstStyle/>
          <a:p>
            <a:pPr eaLnBrk="1" hangingPunct="1">
              <a:lnSpc>
                <a:spcPct val="90000"/>
              </a:lnSpc>
              <a:buFont typeface="Wingdings" pitchFamily="2" charset="2"/>
              <a:buNone/>
            </a:pPr>
            <a:r>
              <a:rPr lang="fr-FR" sz="2400" smtClean="0"/>
              <a:t>foreach($coordonnees as $element) { </a:t>
            </a:r>
          </a:p>
          <a:p>
            <a:pPr eaLnBrk="1" hangingPunct="1">
              <a:lnSpc>
                <a:spcPct val="90000"/>
              </a:lnSpc>
              <a:buFont typeface="Wingdings" pitchFamily="2" charset="2"/>
              <a:buNone/>
            </a:pPr>
            <a:r>
              <a:rPr lang="fr-FR" sz="2400" smtClean="0"/>
              <a:t>   echo $element . '&lt;br /&gt;'; </a:t>
            </a:r>
          </a:p>
          <a:p>
            <a:pPr eaLnBrk="1" hangingPunct="1">
              <a:lnSpc>
                <a:spcPct val="90000"/>
              </a:lnSpc>
              <a:buFont typeface="Wingdings" pitchFamily="2" charset="2"/>
              <a:buNone/>
            </a:pPr>
            <a:r>
              <a:rPr lang="fr-FR" sz="2400" smtClean="0"/>
              <a:t>}  </a:t>
            </a:r>
          </a:p>
          <a:p>
            <a:pPr eaLnBrk="1" hangingPunct="1">
              <a:lnSpc>
                <a:spcPct val="90000"/>
              </a:lnSpc>
              <a:buFont typeface="Wingdings" pitchFamily="2" charset="2"/>
              <a:buNone/>
            </a:pPr>
            <a:r>
              <a:rPr lang="fr-FR" sz="2400" smtClean="0"/>
              <a:t>Ou bien </a:t>
            </a:r>
          </a:p>
          <a:p>
            <a:pPr eaLnBrk="1" hangingPunct="1">
              <a:lnSpc>
                <a:spcPct val="90000"/>
              </a:lnSpc>
              <a:buFont typeface="Wingdings" pitchFamily="2" charset="2"/>
              <a:buNone/>
            </a:pPr>
            <a:r>
              <a:rPr lang="fr-FR" sz="2400" smtClean="0"/>
              <a:t>//on peut aussi récupérer la clé de l'élément</a:t>
            </a:r>
          </a:p>
          <a:p>
            <a:pPr eaLnBrk="1" hangingPunct="1">
              <a:lnSpc>
                <a:spcPct val="90000"/>
              </a:lnSpc>
              <a:buFont typeface="Wingdings" pitchFamily="2" charset="2"/>
              <a:buNone/>
            </a:pPr>
            <a:r>
              <a:rPr lang="fr-FR" sz="2400" smtClean="0"/>
              <a:t>foreach($coordonnees as $cle =&gt; $element) </a:t>
            </a:r>
          </a:p>
          <a:p>
            <a:pPr eaLnBrk="1" hangingPunct="1">
              <a:lnSpc>
                <a:spcPct val="90000"/>
              </a:lnSpc>
              <a:buFont typeface="Wingdings" pitchFamily="2" charset="2"/>
              <a:buNone/>
            </a:pPr>
            <a:r>
              <a:rPr lang="fr-FR" sz="2400" smtClean="0"/>
              <a:t>{ </a:t>
            </a:r>
          </a:p>
          <a:p>
            <a:pPr eaLnBrk="1" hangingPunct="1">
              <a:lnSpc>
                <a:spcPct val="90000"/>
              </a:lnSpc>
              <a:buFont typeface="Wingdings" pitchFamily="2" charset="2"/>
              <a:buNone/>
            </a:pPr>
            <a:r>
              <a:rPr lang="fr-FR" sz="2400" smtClean="0"/>
              <a:t>echo '[' . $cle . '] vaut ' . $element . '&lt;br /&gt;'; </a:t>
            </a:r>
          </a:p>
          <a:p>
            <a:pPr eaLnBrk="1" hangingPunct="1">
              <a:lnSpc>
                <a:spcPct val="90000"/>
              </a:lnSpc>
              <a:buFont typeface="Wingdings" pitchFamily="2" charset="2"/>
              <a:buNone/>
            </a:pPr>
            <a:r>
              <a:rPr lang="fr-FR" sz="2400" smtClean="0"/>
              <a:t>} </a:t>
            </a:r>
          </a:p>
          <a:p>
            <a:pPr eaLnBrk="1" hangingPunct="1">
              <a:lnSpc>
                <a:spcPct val="90000"/>
              </a:lnSpc>
              <a:buFont typeface="Wingdings" pitchFamily="2" charset="2"/>
              <a:buNone/>
            </a:pPr>
            <a:endParaRPr lang="fr-FR" sz="2400" smtClean="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AutoShape 2"/>
          <p:cNvSpPr>
            <a:spLocks noGrp="1" noChangeArrowheads="1"/>
          </p:cNvSpPr>
          <p:nvPr>
            <p:ph type="title"/>
          </p:nvPr>
        </p:nvSpPr>
        <p:spPr/>
        <p:txBody>
          <a:bodyPr/>
          <a:lstStyle/>
          <a:p>
            <a:pPr eaLnBrk="1" hangingPunct="1"/>
            <a:r>
              <a:rPr lang="fr-FR" sz="2400" smtClean="0"/>
              <a:t>Afficher rapidement un array avec print_r</a:t>
            </a:r>
            <a:br>
              <a:rPr lang="fr-FR" sz="2400" smtClean="0"/>
            </a:br>
            <a:endParaRPr lang="fr-FR" sz="2400" smtClean="0"/>
          </a:p>
        </p:txBody>
      </p:sp>
      <p:sp>
        <p:nvSpPr>
          <p:cNvPr id="40962" name="Espace réservé du numéro de diapositive 5"/>
          <p:cNvSpPr>
            <a:spLocks noGrp="1"/>
          </p:cNvSpPr>
          <p:nvPr>
            <p:ph type="sldNum" sz="quarter" idx="12"/>
          </p:nvPr>
        </p:nvSpPr>
        <p:spPr>
          <a:noFill/>
        </p:spPr>
        <p:txBody>
          <a:bodyPr/>
          <a:lstStyle/>
          <a:p>
            <a:pPr>
              <a:defRPr/>
            </a:pPr>
            <a:fld id="{09AC5877-4782-4FCA-AFDA-AD137FA6970F}" type="slidenum">
              <a:rPr lang="fr-FR"/>
              <a:pPr>
                <a:defRPr/>
              </a:pPr>
              <a:t>49</a:t>
            </a:fld>
            <a:endParaRPr lang="fr-FR"/>
          </a:p>
        </p:txBody>
      </p:sp>
      <p:sp>
        <p:nvSpPr>
          <p:cNvPr id="52228" name="Rectangle 3"/>
          <p:cNvSpPr>
            <a:spLocks noGrp="1" noChangeArrowheads="1"/>
          </p:cNvSpPr>
          <p:nvPr>
            <p:ph sz="quarter" idx="1"/>
          </p:nvPr>
        </p:nvSpPr>
        <p:spPr/>
        <p:txBody>
          <a:bodyPr/>
          <a:lstStyle/>
          <a:p>
            <a:pPr eaLnBrk="1" hangingPunct="1"/>
            <a:endParaRPr lang="fr-FR" smtClean="0"/>
          </a:p>
          <a:p>
            <a:pPr eaLnBrk="1" hangingPunct="1"/>
            <a:r>
              <a:rPr lang="fr-FR" smtClean="0"/>
              <a:t>print_r($coordonnees); </a:t>
            </a:r>
          </a:p>
          <a:p>
            <a:pPr eaLnBrk="1" hangingPunct="1">
              <a:buFont typeface="Wingdings" pitchFamily="2" charset="2"/>
              <a:buNone/>
            </a:pPr>
            <a:r>
              <a:rPr lang="fr-FR" smtClean="0"/>
              <a:t>       Affiche:</a:t>
            </a:r>
          </a:p>
          <a:p>
            <a:pPr eaLnBrk="1" hangingPunct="1">
              <a:buFont typeface="Wingdings" pitchFamily="2" charset="2"/>
              <a:buNone/>
            </a:pPr>
            <a:r>
              <a:rPr lang="fr-FR" sz="2000" smtClean="0"/>
              <a:t>Array ( [0] =&gt; alami [1] =&gt; ahmad [2] =&gt; 19 [3] =&gt; tanger ) </a:t>
            </a:r>
          </a:p>
          <a:p>
            <a:pPr eaLnBrk="1" hangingPunct="1"/>
            <a:endParaRPr lang="fr-FR" sz="2000" smtClean="0"/>
          </a:p>
        </p:txBody>
      </p:sp>
      <p:sp>
        <p:nvSpPr>
          <p:cNvPr id="52229" name="Rectangle 4"/>
          <p:cNvSpPr>
            <a:spLocks noChangeArrowheads="1"/>
          </p:cNvSpPr>
          <p:nvPr/>
        </p:nvSpPr>
        <p:spPr bwMode="auto">
          <a:xfrm>
            <a:off x="0" y="0"/>
            <a:ext cx="227013" cy="274638"/>
          </a:xfrm>
          <a:prstGeom prst="rect">
            <a:avLst/>
          </a:prstGeom>
          <a:noFill/>
          <a:ln w="9525">
            <a:noFill/>
            <a:miter lim="800000"/>
            <a:headEnd/>
            <a:tailEnd/>
          </a:ln>
        </p:spPr>
        <p:txBody>
          <a:bodyPr wrap="none" anchor="ctr">
            <a:spAutoFit/>
          </a:bodyPr>
          <a:lstStyle/>
          <a:p>
            <a:pPr>
              <a:spcBef>
                <a:spcPct val="30000"/>
              </a:spcBef>
            </a:pPr>
            <a:r>
              <a:rPr lang="fr-FR" sz="1200"/>
              <a:t> </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re 1"/>
          <p:cNvSpPr>
            <a:spLocks noGrp="1"/>
          </p:cNvSpPr>
          <p:nvPr>
            <p:ph type="title"/>
          </p:nvPr>
        </p:nvSpPr>
        <p:spPr/>
        <p:txBody>
          <a:bodyPr>
            <a:normAutofit fontScale="90000"/>
          </a:bodyPr>
          <a:lstStyle/>
          <a:p>
            <a:pPr eaLnBrk="1" fontAlgn="auto" hangingPunct="1">
              <a:spcAft>
                <a:spcPts val="0"/>
              </a:spcAft>
              <a:defRPr/>
            </a:pPr>
            <a:r>
              <a:rPr lang="fr-FR" u="sng" smtClean="0"/>
              <a:t>Exercice 1</a:t>
            </a:r>
            <a:r>
              <a:rPr lang="fr-FR" smtClean="0"/>
              <a:t/>
            </a:r>
            <a:br>
              <a:rPr lang="fr-FR" smtClean="0"/>
            </a:br>
            <a:endParaRPr lang="fr-FR" smtClean="0"/>
          </a:p>
        </p:txBody>
      </p:sp>
      <p:sp>
        <p:nvSpPr>
          <p:cNvPr id="41988" name="Espace réservé du numéro de diapositive 3"/>
          <p:cNvSpPr>
            <a:spLocks noGrp="1"/>
          </p:cNvSpPr>
          <p:nvPr>
            <p:ph type="sldNum" sz="quarter" idx="12"/>
          </p:nvPr>
        </p:nvSpPr>
        <p:spPr>
          <a:noFill/>
        </p:spPr>
        <p:txBody>
          <a:bodyPr/>
          <a:lstStyle/>
          <a:p>
            <a:pPr>
              <a:defRPr/>
            </a:pPr>
            <a:fld id="{94F30ADC-4A1C-4BD6-98A8-2BDDBAE2101D}" type="slidenum">
              <a:rPr lang="fr-FR"/>
              <a:pPr>
                <a:defRPr/>
              </a:pPr>
              <a:t>50</a:t>
            </a:fld>
            <a:endParaRPr lang="fr-FR"/>
          </a:p>
        </p:txBody>
      </p:sp>
      <p:sp>
        <p:nvSpPr>
          <p:cNvPr id="53252" name="Espace réservé du contenu 2"/>
          <p:cNvSpPr>
            <a:spLocks noGrp="1"/>
          </p:cNvSpPr>
          <p:nvPr>
            <p:ph sz="quarter" idx="1"/>
          </p:nvPr>
        </p:nvSpPr>
        <p:spPr/>
        <p:txBody>
          <a:bodyPr/>
          <a:lstStyle/>
          <a:p>
            <a:pPr eaLnBrk="1" hangingPunct="1"/>
            <a:r>
              <a:rPr lang="fr-FR" smtClean="0"/>
              <a:t>Écrivez un tableau associatif dont les clés sont des noms de personne et les valeurs des tableaux numérotés contenant le prénom, la ville de résidence et l’age de la personne.</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re 1"/>
          <p:cNvSpPr>
            <a:spLocks noGrp="1"/>
          </p:cNvSpPr>
          <p:nvPr>
            <p:ph type="title"/>
          </p:nvPr>
        </p:nvSpPr>
        <p:spPr/>
        <p:txBody>
          <a:bodyPr>
            <a:normAutofit fontScale="90000"/>
          </a:bodyPr>
          <a:lstStyle/>
          <a:p>
            <a:pPr eaLnBrk="1" fontAlgn="auto" hangingPunct="1">
              <a:spcAft>
                <a:spcPts val="0"/>
              </a:spcAft>
              <a:defRPr/>
            </a:pPr>
            <a:r>
              <a:rPr lang="fr-FR" smtClean="0"/>
              <a:t>solution :</a:t>
            </a:r>
            <a:br>
              <a:rPr lang="fr-FR" smtClean="0"/>
            </a:br>
            <a:endParaRPr lang="fr-FR" smtClean="0"/>
          </a:p>
        </p:txBody>
      </p:sp>
      <p:sp>
        <p:nvSpPr>
          <p:cNvPr id="43012" name="Espace réservé du numéro de diapositive 3"/>
          <p:cNvSpPr>
            <a:spLocks noGrp="1"/>
          </p:cNvSpPr>
          <p:nvPr>
            <p:ph type="sldNum" sz="quarter" idx="12"/>
          </p:nvPr>
        </p:nvSpPr>
        <p:spPr>
          <a:noFill/>
        </p:spPr>
        <p:txBody>
          <a:bodyPr/>
          <a:lstStyle/>
          <a:p>
            <a:pPr>
              <a:defRPr/>
            </a:pPr>
            <a:fld id="{DD0F675E-3A8C-4ABE-9CCA-7BD5935F8B67}" type="slidenum">
              <a:rPr lang="fr-FR"/>
              <a:pPr>
                <a:defRPr/>
              </a:pPr>
              <a:t>51</a:t>
            </a:fld>
            <a:endParaRPr lang="fr-FR"/>
          </a:p>
        </p:txBody>
      </p:sp>
      <p:sp>
        <p:nvSpPr>
          <p:cNvPr id="54276" name="Espace réservé du contenu 2"/>
          <p:cNvSpPr>
            <a:spLocks noGrp="1"/>
          </p:cNvSpPr>
          <p:nvPr>
            <p:ph sz="quarter" idx="1"/>
          </p:nvPr>
        </p:nvSpPr>
        <p:spPr/>
        <p:txBody>
          <a:bodyPr/>
          <a:lstStyle/>
          <a:p>
            <a:pPr eaLnBrk="1" hangingPunct="1">
              <a:buFont typeface="Wingdings" pitchFamily="2" charset="2"/>
              <a:buNone/>
            </a:pPr>
            <a:r>
              <a:rPr lang="en-US" sz="1600" b="1" smtClean="0"/>
              <a:t>&lt;?php</a:t>
            </a:r>
            <a:endParaRPr lang="en-US" sz="1600" smtClean="0"/>
          </a:p>
          <a:p>
            <a:pPr eaLnBrk="1" hangingPunct="1">
              <a:buFont typeface="Wingdings" pitchFamily="2" charset="2"/>
              <a:buNone/>
            </a:pPr>
            <a:r>
              <a:rPr lang="en-US" sz="1600" b="1" smtClean="0"/>
              <a:t>$tab=array("Dupont"=&gt;array("Paul","Paris",27),"Schmoll"=&gt;array("Kir</a:t>
            </a:r>
            <a:endParaRPr lang="en-US" sz="1600" smtClean="0"/>
          </a:p>
          <a:p>
            <a:pPr eaLnBrk="1" hangingPunct="1">
              <a:buFont typeface="Wingdings" pitchFamily="2" charset="2"/>
              <a:buNone/>
            </a:pPr>
            <a:r>
              <a:rPr lang="en-US" sz="1600" b="1" smtClean="0"/>
              <a:t>k","Berlin",35),"Smith"=&gt;array("Stan","Londres",45));</a:t>
            </a:r>
            <a:endParaRPr lang="en-US" sz="1600" smtClean="0"/>
          </a:p>
          <a:p>
            <a:pPr eaLnBrk="1" hangingPunct="1">
              <a:buFont typeface="Wingdings" pitchFamily="2" charset="2"/>
              <a:buNone/>
            </a:pPr>
            <a:r>
              <a:rPr lang="en-US" sz="1600" b="1" smtClean="0"/>
              <a:t>print_r($tab);</a:t>
            </a:r>
            <a:endParaRPr lang="en-US" sz="1600" smtClean="0"/>
          </a:p>
          <a:p>
            <a:pPr eaLnBrk="1" hangingPunct="1">
              <a:buFont typeface="Wingdings" pitchFamily="2" charset="2"/>
              <a:buNone/>
            </a:pPr>
            <a:r>
              <a:rPr lang="en-US" sz="1600" b="1" smtClean="0"/>
              <a:t>?&gt;</a:t>
            </a:r>
            <a:endParaRPr lang="en-US" sz="1600" smtClean="0"/>
          </a:p>
          <a:p>
            <a:pPr eaLnBrk="1" hangingPunct="1">
              <a:buFont typeface="Wingdings" pitchFamily="2" charset="2"/>
              <a:buNone/>
            </a:pPr>
            <a:r>
              <a:rPr lang="en-US" sz="1600" smtClean="0"/>
              <a:t/>
            </a:r>
            <a:br>
              <a:rPr lang="en-US" sz="1600" smtClean="0"/>
            </a:br>
            <a:endParaRPr lang="en-US" sz="1600" smtClean="0"/>
          </a:p>
          <a:p>
            <a:pPr eaLnBrk="1" hangingPunct="1"/>
            <a:r>
              <a:rPr lang="en-US" sz="1600" b="1" smtClean="0"/>
              <a:t>La fonction print_r() affiche la structure du tableau :</a:t>
            </a:r>
            <a:endParaRPr lang="en-US" sz="1600" smtClean="0"/>
          </a:p>
          <a:p>
            <a:pPr eaLnBrk="1" hangingPunct="1">
              <a:buFont typeface="Wingdings" pitchFamily="2" charset="2"/>
              <a:buNone/>
            </a:pPr>
            <a:r>
              <a:rPr lang="en-US" sz="1600" smtClean="0"/>
              <a:t/>
            </a:r>
            <a:br>
              <a:rPr lang="en-US" sz="1600" smtClean="0"/>
            </a:br>
            <a:endParaRPr lang="en-US" sz="1600" smtClean="0"/>
          </a:p>
          <a:p>
            <a:pPr eaLnBrk="1" hangingPunct="1">
              <a:buFont typeface="Wingdings" pitchFamily="2" charset="2"/>
              <a:buNone/>
            </a:pPr>
            <a:r>
              <a:rPr lang="en-US" sz="1600" smtClean="0"/>
              <a:t>Array ( [Dupont] =&gt; Array ( [0] =&gt; Paul [1] =&gt; Paris [2] =&gt; 27 ) [Schmoll] =&gt; Array ( [0] =&gt; Kirk [1] =&gt; Berlin [2] =&gt; 35 ) [Smith] =&gt; Array ( [0] =&gt; Stan [1] =&gt; Londres [2] =&gt; 45 ) )</a:t>
            </a:r>
          </a:p>
          <a:p>
            <a:pPr eaLnBrk="1" hangingPunct="1">
              <a:buFont typeface="Wingdings" pitchFamily="2" charset="2"/>
              <a:buNone/>
            </a:pPr>
            <a:r>
              <a:rPr lang="en-US" sz="1600" smtClean="0"/>
              <a:t/>
            </a:r>
            <a:br>
              <a:rPr lang="en-US" sz="1600" smtClean="0"/>
            </a:br>
            <a:endParaRPr lang="fr-FR" sz="1600" smtClean="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re 1"/>
          <p:cNvSpPr>
            <a:spLocks noGrp="1"/>
          </p:cNvSpPr>
          <p:nvPr>
            <p:ph type="title"/>
          </p:nvPr>
        </p:nvSpPr>
        <p:spPr/>
        <p:txBody>
          <a:bodyPr>
            <a:normAutofit fontScale="90000"/>
          </a:bodyPr>
          <a:lstStyle/>
          <a:p>
            <a:pPr eaLnBrk="1" fontAlgn="auto" hangingPunct="1">
              <a:spcAft>
                <a:spcPts val="0"/>
              </a:spcAft>
              <a:defRPr/>
            </a:pPr>
            <a:r>
              <a:rPr lang="fr-FR" u="sng" smtClean="0"/>
              <a:t>Exercice 2</a:t>
            </a:r>
            <a:r>
              <a:rPr lang="fr-FR" smtClean="0"/>
              <a:t/>
            </a:r>
            <a:br>
              <a:rPr lang="fr-FR" smtClean="0"/>
            </a:br>
            <a:endParaRPr lang="fr-FR" smtClean="0"/>
          </a:p>
        </p:txBody>
      </p:sp>
      <p:sp>
        <p:nvSpPr>
          <p:cNvPr id="44036" name="Espace réservé du numéro de diapositive 3"/>
          <p:cNvSpPr>
            <a:spLocks noGrp="1"/>
          </p:cNvSpPr>
          <p:nvPr>
            <p:ph type="sldNum" sz="quarter" idx="12"/>
          </p:nvPr>
        </p:nvSpPr>
        <p:spPr>
          <a:noFill/>
        </p:spPr>
        <p:txBody>
          <a:bodyPr/>
          <a:lstStyle/>
          <a:p>
            <a:pPr>
              <a:defRPr/>
            </a:pPr>
            <a:fld id="{1B65483D-FFC4-4B30-9E93-1717FAA86B5F}" type="slidenum">
              <a:rPr lang="fr-FR"/>
              <a:pPr>
                <a:defRPr/>
              </a:pPr>
              <a:t>52</a:t>
            </a:fld>
            <a:endParaRPr lang="fr-FR"/>
          </a:p>
        </p:txBody>
      </p:sp>
      <p:sp>
        <p:nvSpPr>
          <p:cNvPr id="55300" name="Espace réservé du contenu 2"/>
          <p:cNvSpPr>
            <a:spLocks noGrp="1"/>
          </p:cNvSpPr>
          <p:nvPr>
            <p:ph sz="quarter" idx="1"/>
          </p:nvPr>
        </p:nvSpPr>
        <p:spPr/>
        <p:txBody>
          <a:bodyPr/>
          <a:lstStyle/>
          <a:p>
            <a:pPr eaLnBrk="1" hangingPunct="1"/>
            <a:r>
              <a:rPr lang="fr-FR" smtClean="0"/>
              <a:t>Écrivez un tableau associatif dont les clés sont des noms de personne et les valeurs des tableaux associatifs dont les clés sont le prénom, la ville de résidence et l’age de la personne avec une série de valeurs associées.</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re 1"/>
          <p:cNvSpPr>
            <a:spLocks noGrp="1"/>
          </p:cNvSpPr>
          <p:nvPr>
            <p:ph type="title"/>
          </p:nvPr>
        </p:nvSpPr>
        <p:spPr/>
        <p:txBody>
          <a:bodyPr>
            <a:normAutofit fontScale="90000"/>
          </a:bodyPr>
          <a:lstStyle/>
          <a:p>
            <a:pPr eaLnBrk="1" fontAlgn="auto" hangingPunct="1">
              <a:spcAft>
                <a:spcPts val="0"/>
              </a:spcAft>
              <a:defRPr/>
            </a:pPr>
            <a:r>
              <a:rPr lang="fr-FR" smtClean="0"/>
              <a:t>solution :</a:t>
            </a:r>
            <a:br>
              <a:rPr lang="fr-FR" smtClean="0"/>
            </a:br>
            <a:endParaRPr lang="fr-FR" smtClean="0"/>
          </a:p>
        </p:txBody>
      </p:sp>
      <p:sp>
        <p:nvSpPr>
          <p:cNvPr id="45060" name="Espace réservé du numéro de diapositive 3"/>
          <p:cNvSpPr>
            <a:spLocks noGrp="1"/>
          </p:cNvSpPr>
          <p:nvPr>
            <p:ph type="sldNum" sz="quarter" idx="12"/>
          </p:nvPr>
        </p:nvSpPr>
        <p:spPr>
          <a:noFill/>
        </p:spPr>
        <p:txBody>
          <a:bodyPr/>
          <a:lstStyle/>
          <a:p>
            <a:pPr>
              <a:defRPr/>
            </a:pPr>
            <a:fld id="{3347419C-886E-4FF3-9DC2-381A3CF9B1C3}" type="slidenum">
              <a:rPr lang="fr-FR"/>
              <a:pPr>
                <a:defRPr/>
              </a:pPr>
              <a:t>53</a:t>
            </a:fld>
            <a:endParaRPr lang="fr-FR"/>
          </a:p>
        </p:txBody>
      </p:sp>
      <p:sp>
        <p:nvSpPr>
          <p:cNvPr id="56324" name="Espace réservé du contenu 2"/>
          <p:cNvSpPr>
            <a:spLocks noGrp="1"/>
          </p:cNvSpPr>
          <p:nvPr>
            <p:ph sz="quarter" idx="1"/>
          </p:nvPr>
        </p:nvSpPr>
        <p:spPr/>
        <p:txBody>
          <a:bodyPr/>
          <a:lstStyle/>
          <a:p>
            <a:pPr eaLnBrk="1" hangingPunct="1">
              <a:buFont typeface="Wingdings" pitchFamily="2" charset="2"/>
              <a:buNone/>
            </a:pPr>
            <a:r>
              <a:rPr lang="en-US" sz="1600" b="1" smtClean="0"/>
              <a:t>&lt;?php</a:t>
            </a:r>
            <a:endParaRPr lang="en-US" sz="1600" smtClean="0"/>
          </a:p>
          <a:p>
            <a:pPr eaLnBrk="1" hangingPunct="1">
              <a:buFont typeface="Wingdings" pitchFamily="2" charset="2"/>
              <a:buNone/>
            </a:pPr>
            <a:r>
              <a:rPr lang="en-US" sz="1600" b="1" smtClean="0"/>
              <a:t>$tab=array("Dupont"=&gt;array("prenom"=&gt;"Paul","ville"=&gt;"Paris","age"=&gt;27),</a:t>
            </a:r>
            <a:endParaRPr lang="en-US" sz="1600" smtClean="0"/>
          </a:p>
          <a:p>
            <a:pPr eaLnBrk="1" hangingPunct="1">
              <a:buFont typeface="Wingdings" pitchFamily="2" charset="2"/>
              <a:buNone/>
            </a:pPr>
            <a:r>
              <a:rPr lang="en-US" sz="1600" b="1" smtClean="0"/>
              <a:t>"Schmoll"=&gt;array("prenom"=&gt;"Kirk","ville"=&gt;"Berlin","age"=&gt;35),</a:t>
            </a:r>
            <a:endParaRPr lang="en-US" sz="1600" smtClean="0"/>
          </a:p>
          <a:p>
            <a:pPr eaLnBrk="1" hangingPunct="1">
              <a:buFont typeface="Wingdings" pitchFamily="2" charset="2"/>
              <a:buNone/>
            </a:pPr>
            <a:r>
              <a:rPr lang="en-US" sz="1600" b="1" smtClean="0"/>
              <a:t>"Smith"=&gt;array("prenom"=&gt;"Stan","ville"=&gt;"Londres","age"=&gt;45));</a:t>
            </a:r>
            <a:endParaRPr lang="en-US" sz="1600" smtClean="0"/>
          </a:p>
          <a:p>
            <a:pPr eaLnBrk="1" hangingPunct="1">
              <a:buFont typeface="Wingdings" pitchFamily="2" charset="2"/>
              <a:buNone/>
            </a:pPr>
            <a:r>
              <a:rPr lang="en-US" sz="1600" b="1" smtClean="0"/>
              <a:t>print_r($tab);</a:t>
            </a:r>
            <a:endParaRPr lang="en-US" sz="1600" smtClean="0"/>
          </a:p>
          <a:p>
            <a:pPr eaLnBrk="1" hangingPunct="1">
              <a:buFont typeface="Wingdings" pitchFamily="2" charset="2"/>
              <a:buNone/>
            </a:pPr>
            <a:r>
              <a:rPr lang="en-US" sz="1600" b="1" smtClean="0"/>
              <a:t>?&gt;</a:t>
            </a:r>
            <a:endParaRPr lang="en-US" sz="1600" smtClean="0"/>
          </a:p>
          <a:p>
            <a:pPr eaLnBrk="1" hangingPunct="1">
              <a:buFont typeface="Wingdings" pitchFamily="2" charset="2"/>
              <a:buNone/>
            </a:pPr>
            <a:r>
              <a:rPr lang="en-US" sz="1600" smtClean="0"/>
              <a:t/>
            </a:r>
            <a:br>
              <a:rPr lang="en-US" sz="1600" smtClean="0"/>
            </a:br>
            <a:endParaRPr lang="en-US" sz="1600" smtClean="0"/>
          </a:p>
          <a:p>
            <a:pPr eaLnBrk="1" hangingPunct="1"/>
            <a:r>
              <a:rPr lang="en-US" sz="1600" b="1" smtClean="0"/>
              <a:t>La fonction print_r() affiche la structure du tableau :</a:t>
            </a:r>
            <a:endParaRPr lang="en-US" sz="1600" smtClean="0"/>
          </a:p>
          <a:p>
            <a:pPr eaLnBrk="1" hangingPunct="1">
              <a:buFont typeface="Wingdings" pitchFamily="2" charset="2"/>
              <a:buNone/>
            </a:pPr>
            <a:r>
              <a:rPr lang="en-US" sz="1600" smtClean="0"/>
              <a:t/>
            </a:r>
            <a:br>
              <a:rPr lang="en-US" sz="1600" smtClean="0"/>
            </a:br>
            <a:endParaRPr lang="en-US" sz="1600" smtClean="0"/>
          </a:p>
          <a:p>
            <a:pPr eaLnBrk="1" hangingPunct="1">
              <a:buFont typeface="Wingdings" pitchFamily="2" charset="2"/>
              <a:buNone/>
            </a:pPr>
            <a:r>
              <a:rPr lang="en-US" sz="1600" smtClean="0"/>
              <a:t>Array ( [Dupont] =&gt; Array ( [prenom] =&gt; Paul [ville] =&gt; Paris [age]=&gt; 27 ) [Schmoll] =&gt; Array ( [prenom] =&gt; Kirk [ville] =&gt; Berlin [age] =&gt; 35 ) [Smith] =&gt; Array ( [prenom] =&gt; Stan [ville] =&gt;Londres [age] =&gt; 45 ) )</a:t>
            </a:r>
          </a:p>
          <a:p>
            <a:pPr eaLnBrk="1" hangingPunct="1"/>
            <a:endParaRPr lang="fr-FR" sz="1600" smtClean="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re 1"/>
          <p:cNvSpPr>
            <a:spLocks noGrp="1"/>
          </p:cNvSpPr>
          <p:nvPr>
            <p:ph type="title"/>
          </p:nvPr>
        </p:nvSpPr>
        <p:spPr/>
        <p:txBody>
          <a:bodyPr>
            <a:normAutofit fontScale="90000"/>
          </a:bodyPr>
          <a:lstStyle/>
          <a:p>
            <a:pPr eaLnBrk="1" fontAlgn="auto" hangingPunct="1">
              <a:spcAft>
                <a:spcPts val="0"/>
              </a:spcAft>
              <a:defRPr/>
            </a:pPr>
            <a:r>
              <a:rPr lang="fr-FR" u="sng" smtClean="0"/>
              <a:t>Exercice 3</a:t>
            </a:r>
            <a:r>
              <a:rPr lang="fr-FR" smtClean="0"/>
              <a:t/>
            </a:r>
            <a:br>
              <a:rPr lang="fr-FR" smtClean="0"/>
            </a:br>
            <a:endParaRPr lang="fr-FR" smtClean="0"/>
          </a:p>
        </p:txBody>
      </p:sp>
      <p:sp>
        <p:nvSpPr>
          <p:cNvPr id="46084" name="Espace réservé du numéro de diapositive 3"/>
          <p:cNvSpPr>
            <a:spLocks noGrp="1"/>
          </p:cNvSpPr>
          <p:nvPr>
            <p:ph type="sldNum" sz="quarter" idx="12"/>
          </p:nvPr>
        </p:nvSpPr>
        <p:spPr>
          <a:noFill/>
        </p:spPr>
        <p:txBody>
          <a:bodyPr/>
          <a:lstStyle/>
          <a:p>
            <a:pPr>
              <a:defRPr/>
            </a:pPr>
            <a:fld id="{A2DABA62-5062-4548-B9A8-E43DB9671AB4}" type="slidenum">
              <a:rPr lang="fr-FR"/>
              <a:pPr>
                <a:defRPr/>
              </a:pPr>
              <a:t>54</a:t>
            </a:fld>
            <a:endParaRPr lang="fr-FR"/>
          </a:p>
        </p:txBody>
      </p:sp>
      <p:sp>
        <p:nvSpPr>
          <p:cNvPr id="57348" name="Espace réservé du contenu 2"/>
          <p:cNvSpPr>
            <a:spLocks noGrp="1"/>
          </p:cNvSpPr>
          <p:nvPr>
            <p:ph sz="quarter" idx="1"/>
          </p:nvPr>
        </p:nvSpPr>
        <p:spPr/>
        <p:txBody>
          <a:bodyPr/>
          <a:lstStyle/>
          <a:p>
            <a:pPr eaLnBrk="1" hangingPunct="1"/>
            <a:r>
              <a:rPr lang="fr-FR" smtClean="0"/>
              <a:t>Utilisez une boucle foreach pour lire les tableaux des exercices 1 et 2.</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re 1"/>
          <p:cNvSpPr>
            <a:spLocks noGrp="1"/>
          </p:cNvSpPr>
          <p:nvPr>
            <p:ph type="title"/>
          </p:nvPr>
        </p:nvSpPr>
        <p:spPr/>
        <p:txBody>
          <a:bodyPr/>
          <a:lstStyle/>
          <a:p>
            <a:pPr eaLnBrk="1" hangingPunct="1"/>
            <a:r>
              <a:rPr lang="fr-FR" smtClean="0"/>
              <a:t>Solution 1:</a:t>
            </a:r>
          </a:p>
        </p:txBody>
      </p:sp>
      <p:sp>
        <p:nvSpPr>
          <p:cNvPr id="47108" name="Espace réservé du numéro de diapositive 3"/>
          <p:cNvSpPr>
            <a:spLocks noGrp="1"/>
          </p:cNvSpPr>
          <p:nvPr>
            <p:ph type="sldNum" sz="quarter" idx="12"/>
          </p:nvPr>
        </p:nvSpPr>
        <p:spPr>
          <a:noFill/>
        </p:spPr>
        <p:txBody>
          <a:bodyPr/>
          <a:lstStyle/>
          <a:p>
            <a:pPr>
              <a:defRPr/>
            </a:pPr>
            <a:fld id="{7A31BB4D-17DB-49FD-B958-B0902E2E75C2}" type="slidenum">
              <a:rPr lang="fr-FR"/>
              <a:pPr>
                <a:defRPr/>
              </a:pPr>
              <a:t>55</a:t>
            </a:fld>
            <a:endParaRPr lang="fr-FR"/>
          </a:p>
        </p:txBody>
      </p:sp>
      <p:sp>
        <p:nvSpPr>
          <p:cNvPr id="58372" name="Espace réservé du contenu 2"/>
          <p:cNvSpPr>
            <a:spLocks noGrp="1"/>
          </p:cNvSpPr>
          <p:nvPr>
            <p:ph sz="quarter" idx="1"/>
          </p:nvPr>
        </p:nvSpPr>
        <p:spPr/>
        <p:txBody>
          <a:bodyPr/>
          <a:lstStyle/>
          <a:p>
            <a:pPr eaLnBrk="1" hangingPunct="1"/>
            <a:r>
              <a:rPr lang="fr-FR" sz="2000" smtClean="0"/>
              <a:t>$tab=array("Dupont"=&gt;array("Paul","Paris",27),"Schmoll"=&gt;array("Kirk","Berlin",35),"Smith"=&gt;array("Stan","Londres",45));</a:t>
            </a:r>
          </a:p>
          <a:p>
            <a:pPr eaLnBrk="1" hangingPunct="1"/>
            <a:endParaRPr lang="fr-FR" smtClean="0"/>
          </a:p>
        </p:txBody>
      </p:sp>
      <p:sp>
        <p:nvSpPr>
          <p:cNvPr id="5" name="Rectangle 4"/>
          <p:cNvSpPr/>
          <p:nvPr/>
        </p:nvSpPr>
        <p:spPr>
          <a:xfrm>
            <a:off x="214282" y="2714620"/>
            <a:ext cx="4143404" cy="3714776"/>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fr-FR" sz="1200" dirty="0" err="1"/>
              <a:t>foreach</a:t>
            </a:r>
            <a:r>
              <a:rPr lang="fr-FR" sz="1200" dirty="0"/>
              <a:t>($tab as $</a:t>
            </a:r>
            <a:r>
              <a:rPr lang="fr-FR" sz="1200" dirty="0" err="1"/>
              <a:t>cle</a:t>
            </a:r>
            <a:r>
              <a:rPr lang="fr-FR" sz="1200" dirty="0"/>
              <a:t>=&gt;$valeur)</a:t>
            </a:r>
          </a:p>
          <a:p>
            <a:pPr algn="ctr">
              <a:defRPr/>
            </a:pPr>
            <a:r>
              <a:rPr lang="fr-FR" sz="1200" dirty="0"/>
              <a:t>{</a:t>
            </a:r>
          </a:p>
          <a:p>
            <a:pPr algn="ctr">
              <a:defRPr/>
            </a:pPr>
            <a:r>
              <a:rPr lang="fr-FR" sz="1200" dirty="0" err="1"/>
              <a:t>echo</a:t>
            </a:r>
            <a:r>
              <a:rPr lang="fr-FR" sz="1200" dirty="0"/>
              <a:t> "&lt;h1&gt;Elément $</a:t>
            </a:r>
            <a:r>
              <a:rPr lang="fr-FR" sz="1200" dirty="0" err="1"/>
              <a:t>cle</a:t>
            </a:r>
            <a:r>
              <a:rPr lang="fr-FR" sz="1200" dirty="0"/>
              <a:t> :&lt;/h1&gt;";</a:t>
            </a:r>
          </a:p>
          <a:p>
            <a:pPr algn="ctr">
              <a:defRPr/>
            </a:pPr>
            <a:endParaRPr lang="fr-FR" sz="1200" dirty="0"/>
          </a:p>
          <a:p>
            <a:pPr algn="ctr">
              <a:defRPr/>
            </a:pPr>
            <a:r>
              <a:rPr lang="fr-FR" sz="1200" dirty="0"/>
              <a:t>                    for ($index = 0; $index &lt; count($valeur); $index++) </a:t>
            </a:r>
          </a:p>
          <a:p>
            <a:pPr algn="ctr">
              <a:defRPr/>
            </a:pPr>
            <a:r>
              <a:rPr lang="fr-FR" sz="1200" dirty="0"/>
              <a:t>                       {</a:t>
            </a:r>
          </a:p>
          <a:p>
            <a:pPr algn="ctr">
              <a:defRPr/>
            </a:pPr>
            <a:r>
              <a:rPr lang="fr-FR" sz="1200" dirty="0"/>
              <a:t>                        </a:t>
            </a:r>
            <a:r>
              <a:rPr lang="fr-FR" sz="1200" dirty="0" err="1"/>
              <a:t>echo</a:t>
            </a:r>
            <a:r>
              <a:rPr lang="fr-FR" sz="1200" dirty="0"/>
              <a:t> "$valeur[$index]     -";</a:t>
            </a:r>
          </a:p>
          <a:p>
            <a:pPr algn="ctr">
              <a:defRPr/>
            </a:pPr>
            <a:r>
              <a:rPr lang="fr-FR" sz="1200" dirty="0"/>
              <a:t>                       }</a:t>
            </a:r>
          </a:p>
          <a:p>
            <a:pPr algn="ctr">
              <a:defRPr/>
            </a:pPr>
            <a:r>
              <a:rPr lang="fr-FR" sz="1200" dirty="0"/>
              <a:t>}</a:t>
            </a:r>
          </a:p>
          <a:p>
            <a:pPr algn="ctr">
              <a:defRPr/>
            </a:pPr>
            <a:r>
              <a:rPr lang="fr-FR" sz="1200" dirty="0"/>
              <a:t>       </a:t>
            </a:r>
          </a:p>
          <a:p>
            <a:pPr algn="ctr">
              <a:defRPr/>
            </a:pPr>
            <a:r>
              <a:rPr lang="fr-FR" sz="1200" dirty="0"/>
              <a:t>       </a:t>
            </a:r>
          </a:p>
        </p:txBody>
      </p:sp>
      <p:sp>
        <p:nvSpPr>
          <p:cNvPr id="6" name="Rectangle 5"/>
          <p:cNvSpPr/>
          <p:nvPr/>
        </p:nvSpPr>
        <p:spPr>
          <a:xfrm>
            <a:off x="4500562" y="2714620"/>
            <a:ext cx="4357687" cy="3714776"/>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defRPr/>
            </a:pPr>
            <a:r>
              <a:rPr lang="fr-FR" b="1" dirty="0"/>
              <a:t>Elément Dupont :</a:t>
            </a:r>
          </a:p>
          <a:p>
            <a:pPr>
              <a:defRPr/>
            </a:pPr>
            <a:r>
              <a:rPr lang="fr-FR" dirty="0"/>
              <a:t>Paul -Paris -27 –</a:t>
            </a:r>
          </a:p>
          <a:p>
            <a:pPr>
              <a:defRPr/>
            </a:pPr>
            <a:r>
              <a:rPr lang="fr-FR" b="1" dirty="0"/>
              <a:t>Elément </a:t>
            </a:r>
            <a:r>
              <a:rPr lang="fr-FR" b="1" dirty="0" err="1"/>
              <a:t>Schmoll</a:t>
            </a:r>
            <a:r>
              <a:rPr lang="fr-FR" b="1" dirty="0"/>
              <a:t> :</a:t>
            </a:r>
          </a:p>
          <a:p>
            <a:pPr>
              <a:defRPr/>
            </a:pPr>
            <a:r>
              <a:rPr lang="fr-FR" dirty="0"/>
              <a:t>Kirk -Berlin -35 –</a:t>
            </a:r>
          </a:p>
          <a:p>
            <a:pPr>
              <a:defRPr/>
            </a:pPr>
            <a:r>
              <a:rPr lang="fr-FR" b="1" dirty="0"/>
              <a:t>Elément Smith :</a:t>
            </a:r>
          </a:p>
          <a:p>
            <a:pPr>
              <a:defRPr/>
            </a:pPr>
            <a:r>
              <a:rPr lang="fr-FR" dirty="0"/>
              <a:t>Stan -Londres -45 -</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re 1"/>
          <p:cNvSpPr>
            <a:spLocks noGrp="1"/>
          </p:cNvSpPr>
          <p:nvPr>
            <p:ph type="title"/>
          </p:nvPr>
        </p:nvSpPr>
        <p:spPr/>
        <p:txBody>
          <a:bodyPr/>
          <a:lstStyle/>
          <a:p>
            <a:pPr eaLnBrk="1" hangingPunct="1"/>
            <a:r>
              <a:rPr lang="fr-FR" smtClean="0"/>
              <a:t>Solution 2:</a:t>
            </a:r>
          </a:p>
        </p:txBody>
      </p:sp>
      <p:sp>
        <p:nvSpPr>
          <p:cNvPr id="48132" name="Espace réservé du numéro de diapositive 3"/>
          <p:cNvSpPr>
            <a:spLocks noGrp="1"/>
          </p:cNvSpPr>
          <p:nvPr>
            <p:ph type="sldNum" sz="quarter" idx="12"/>
          </p:nvPr>
        </p:nvSpPr>
        <p:spPr>
          <a:noFill/>
        </p:spPr>
        <p:txBody>
          <a:bodyPr/>
          <a:lstStyle/>
          <a:p>
            <a:pPr>
              <a:defRPr/>
            </a:pPr>
            <a:fld id="{2827D6B5-4053-4E9D-A993-923FB78CFB6D}" type="slidenum">
              <a:rPr lang="fr-FR"/>
              <a:pPr>
                <a:defRPr/>
              </a:pPr>
              <a:t>56</a:t>
            </a:fld>
            <a:endParaRPr lang="fr-FR"/>
          </a:p>
        </p:txBody>
      </p:sp>
      <p:sp>
        <p:nvSpPr>
          <p:cNvPr id="59396" name="Espace réservé du contenu 2"/>
          <p:cNvSpPr>
            <a:spLocks noGrp="1"/>
          </p:cNvSpPr>
          <p:nvPr>
            <p:ph sz="quarter" idx="1"/>
          </p:nvPr>
        </p:nvSpPr>
        <p:spPr/>
        <p:txBody>
          <a:bodyPr/>
          <a:lstStyle/>
          <a:p>
            <a:pPr eaLnBrk="1" hangingPunct="1">
              <a:buFont typeface="Wingdings" pitchFamily="2" charset="2"/>
              <a:buNone/>
            </a:pPr>
            <a:r>
              <a:rPr lang="fr-FR" sz="1400" smtClean="0"/>
              <a:t>$tab=array("Dupont"=&gt;array("prenom"=&gt;"Paul","ville"=&gt;"Paris","age"=&gt;27),</a:t>
            </a:r>
          </a:p>
          <a:p>
            <a:pPr eaLnBrk="1" hangingPunct="1">
              <a:buFont typeface="Wingdings" pitchFamily="2" charset="2"/>
              <a:buNone/>
            </a:pPr>
            <a:r>
              <a:rPr lang="fr-FR" sz="1400" smtClean="0"/>
              <a:t>"Schmoll"=&gt;array("prenom"=&gt;"Kirk","ville"=&gt;"Berlin","age"=&gt;35),</a:t>
            </a:r>
          </a:p>
          <a:p>
            <a:pPr eaLnBrk="1" hangingPunct="1">
              <a:buFont typeface="Wingdings" pitchFamily="2" charset="2"/>
              <a:buNone/>
            </a:pPr>
            <a:r>
              <a:rPr lang="fr-FR" sz="1400" smtClean="0"/>
              <a:t>"Smith"=&gt;array("prenom"=&gt;"Stan","ville"=&gt;"Londres","age"=&gt;45));</a:t>
            </a:r>
          </a:p>
        </p:txBody>
      </p:sp>
      <p:sp>
        <p:nvSpPr>
          <p:cNvPr id="5" name="Rectangle 4"/>
          <p:cNvSpPr/>
          <p:nvPr/>
        </p:nvSpPr>
        <p:spPr>
          <a:xfrm>
            <a:off x="142844" y="2786059"/>
            <a:ext cx="4143404" cy="3143271"/>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fr-FR" sz="1400" dirty="0" err="1"/>
              <a:t>foreach</a:t>
            </a:r>
            <a:r>
              <a:rPr lang="fr-FR" sz="1400" dirty="0"/>
              <a:t>($tab as $</a:t>
            </a:r>
            <a:r>
              <a:rPr lang="fr-FR" sz="1400" dirty="0" err="1"/>
              <a:t>cle</a:t>
            </a:r>
            <a:r>
              <a:rPr lang="fr-FR" sz="1400" dirty="0"/>
              <a:t>=&gt;$valeur)</a:t>
            </a:r>
          </a:p>
          <a:p>
            <a:pPr algn="ctr">
              <a:defRPr/>
            </a:pPr>
            <a:r>
              <a:rPr lang="fr-FR" sz="1400" dirty="0"/>
              <a:t>{</a:t>
            </a:r>
          </a:p>
          <a:p>
            <a:pPr algn="ctr">
              <a:defRPr/>
            </a:pPr>
            <a:r>
              <a:rPr lang="fr-FR" sz="1400" dirty="0" err="1"/>
              <a:t>echo</a:t>
            </a:r>
            <a:r>
              <a:rPr lang="fr-FR" sz="1400" dirty="0"/>
              <a:t> "&lt;H1&gt;</a:t>
            </a:r>
            <a:r>
              <a:rPr lang="fr-FR" sz="1400" dirty="0" err="1"/>
              <a:t>Element</a:t>
            </a:r>
            <a:r>
              <a:rPr lang="fr-FR" sz="1400" dirty="0"/>
              <a:t> $</a:t>
            </a:r>
            <a:r>
              <a:rPr lang="fr-FR" sz="1400" dirty="0" err="1"/>
              <a:t>cle</a:t>
            </a:r>
            <a:r>
              <a:rPr lang="fr-FR" sz="1400" dirty="0"/>
              <a:t> :&lt;/H1&gt;";</a:t>
            </a:r>
          </a:p>
          <a:p>
            <a:pPr algn="ctr">
              <a:defRPr/>
            </a:pPr>
            <a:r>
              <a:rPr lang="fr-FR" sz="1400" dirty="0" err="1"/>
              <a:t>foreach</a:t>
            </a:r>
            <a:r>
              <a:rPr lang="fr-FR" sz="1400" dirty="0"/>
              <a:t>($valeur as $cle2=&gt;$val)</a:t>
            </a:r>
          </a:p>
          <a:p>
            <a:pPr algn="ctr">
              <a:defRPr/>
            </a:pPr>
            <a:r>
              <a:rPr lang="fr-FR" sz="1400" dirty="0"/>
              <a:t>{</a:t>
            </a:r>
          </a:p>
          <a:p>
            <a:pPr algn="ctr">
              <a:defRPr/>
            </a:pPr>
            <a:r>
              <a:rPr lang="fr-FR" sz="1400" dirty="0" err="1"/>
              <a:t>echo</a:t>
            </a:r>
            <a:r>
              <a:rPr lang="fr-FR" sz="1400" dirty="0"/>
              <a:t> " $cle2 :", $val, "&lt;</a:t>
            </a:r>
            <a:r>
              <a:rPr lang="fr-FR" sz="1400" dirty="0" err="1"/>
              <a:t>br</a:t>
            </a:r>
            <a:r>
              <a:rPr lang="fr-FR" sz="1400" dirty="0"/>
              <a:t> /&gt;";</a:t>
            </a:r>
          </a:p>
          <a:p>
            <a:pPr algn="ctr">
              <a:defRPr/>
            </a:pPr>
            <a:r>
              <a:rPr lang="fr-FR" sz="1400" dirty="0"/>
              <a:t>}</a:t>
            </a:r>
          </a:p>
          <a:p>
            <a:pPr algn="ctr">
              <a:defRPr/>
            </a:pPr>
            <a:r>
              <a:rPr lang="fr-FR" sz="1400" dirty="0"/>
              <a:t>}</a:t>
            </a:r>
          </a:p>
        </p:txBody>
      </p:sp>
      <p:sp>
        <p:nvSpPr>
          <p:cNvPr id="6" name="Rectangle 5"/>
          <p:cNvSpPr/>
          <p:nvPr/>
        </p:nvSpPr>
        <p:spPr>
          <a:xfrm>
            <a:off x="4500562" y="2786058"/>
            <a:ext cx="3857653" cy="321471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defRPr/>
            </a:pPr>
            <a:r>
              <a:rPr lang="fr-FR" b="1" dirty="0" err="1"/>
              <a:t>Element</a:t>
            </a:r>
            <a:r>
              <a:rPr lang="fr-FR" b="1" dirty="0"/>
              <a:t> Dupont :</a:t>
            </a:r>
            <a:r>
              <a:rPr lang="fr-FR" dirty="0"/>
              <a:t/>
            </a:r>
            <a:br>
              <a:rPr lang="fr-FR" dirty="0"/>
            </a:br>
            <a:r>
              <a:rPr lang="fr-FR" dirty="0" err="1"/>
              <a:t>prenom</a:t>
            </a:r>
            <a:r>
              <a:rPr lang="fr-FR" dirty="0"/>
              <a:t> :Paul</a:t>
            </a:r>
            <a:br>
              <a:rPr lang="fr-FR" dirty="0"/>
            </a:br>
            <a:r>
              <a:rPr lang="fr-FR" dirty="0"/>
              <a:t>ville :Paris</a:t>
            </a:r>
            <a:br>
              <a:rPr lang="fr-FR" dirty="0"/>
            </a:br>
            <a:r>
              <a:rPr lang="fr-FR" dirty="0" err="1"/>
              <a:t>age</a:t>
            </a:r>
            <a:r>
              <a:rPr lang="fr-FR" dirty="0"/>
              <a:t> :27</a:t>
            </a:r>
            <a:br>
              <a:rPr lang="fr-FR" dirty="0"/>
            </a:br>
            <a:r>
              <a:rPr lang="fr-FR" b="1" dirty="0" err="1"/>
              <a:t>Element</a:t>
            </a:r>
            <a:r>
              <a:rPr lang="fr-FR" b="1" dirty="0"/>
              <a:t> </a:t>
            </a:r>
            <a:r>
              <a:rPr lang="fr-FR" b="1" dirty="0" err="1"/>
              <a:t>Schmoll</a:t>
            </a:r>
            <a:r>
              <a:rPr lang="fr-FR" b="1" dirty="0"/>
              <a:t> :</a:t>
            </a:r>
            <a:r>
              <a:rPr lang="fr-FR" dirty="0"/>
              <a:t/>
            </a:r>
            <a:br>
              <a:rPr lang="fr-FR" dirty="0"/>
            </a:br>
            <a:r>
              <a:rPr lang="fr-FR" dirty="0" err="1"/>
              <a:t>prenom</a:t>
            </a:r>
            <a:r>
              <a:rPr lang="fr-FR" dirty="0"/>
              <a:t> :Kirk</a:t>
            </a:r>
            <a:br>
              <a:rPr lang="fr-FR" dirty="0"/>
            </a:br>
            <a:r>
              <a:rPr lang="fr-FR" dirty="0"/>
              <a:t>ville :Berlin</a:t>
            </a:r>
            <a:br>
              <a:rPr lang="fr-FR" dirty="0"/>
            </a:br>
            <a:r>
              <a:rPr lang="fr-FR" dirty="0" err="1"/>
              <a:t>age</a:t>
            </a:r>
            <a:r>
              <a:rPr lang="fr-FR" dirty="0"/>
              <a:t> :35</a:t>
            </a:r>
            <a:br>
              <a:rPr lang="fr-FR" dirty="0"/>
            </a:br>
            <a:r>
              <a:rPr lang="fr-FR" b="1" dirty="0" err="1"/>
              <a:t>Element</a:t>
            </a:r>
            <a:r>
              <a:rPr lang="fr-FR" b="1" dirty="0"/>
              <a:t> Smith :</a:t>
            </a:r>
            <a:r>
              <a:rPr lang="fr-FR" dirty="0"/>
              <a:t/>
            </a:r>
            <a:br>
              <a:rPr lang="fr-FR" dirty="0"/>
            </a:br>
            <a:r>
              <a:rPr lang="fr-FR" dirty="0" err="1"/>
              <a:t>prenom</a:t>
            </a:r>
            <a:r>
              <a:rPr lang="fr-FR" dirty="0"/>
              <a:t> :Stan</a:t>
            </a:r>
            <a:br>
              <a:rPr lang="fr-FR" dirty="0"/>
            </a:br>
            <a:r>
              <a:rPr lang="fr-FR" dirty="0"/>
              <a:t>ville :Londres</a:t>
            </a:r>
            <a:br>
              <a:rPr lang="fr-FR" dirty="0"/>
            </a:br>
            <a:r>
              <a:rPr lang="fr-FR" dirty="0" err="1"/>
              <a:t>age</a:t>
            </a:r>
            <a:r>
              <a:rPr lang="fr-FR" dirty="0"/>
              <a:t> :45</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re 1"/>
          <p:cNvSpPr>
            <a:spLocks noGrp="1"/>
          </p:cNvSpPr>
          <p:nvPr>
            <p:ph type="title"/>
          </p:nvPr>
        </p:nvSpPr>
        <p:spPr/>
        <p:txBody>
          <a:bodyPr/>
          <a:lstStyle/>
          <a:p>
            <a:r>
              <a:rPr lang="fr-FR" sz="3200" smtClean="0"/>
              <a:t>Communication Entre Client Et Serveur</a:t>
            </a:r>
          </a:p>
        </p:txBody>
      </p:sp>
      <p:sp>
        <p:nvSpPr>
          <p:cNvPr id="4" name="Espace réservé du numéro de diapositive 3"/>
          <p:cNvSpPr>
            <a:spLocks noGrp="1"/>
          </p:cNvSpPr>
          <p:nvPr>
            <p:ph type="sldNum" sz="quarter" idx="12"/>
          </p:nvPr>
        </p:nvSpPr>
        <p:spPr/>
        <p:txBody>
          <a:bodyPr/>
          <a:lstStyle/>
          <a:p>
            <a:pPr>
              <a:defRPr/>
            </a:pPr>
            <a:fld id="{4CF74BE4-9E73-4070-BF2F-3946F21702A5}" type="slidenum">
              <a:rPr lang="fr-FR" smtClean="0"/>
              <a:pPr>
                <a:defRPr/>
              </a:pPr>
              <a:t>57</a:t>
            </a:fld>
            <a:endParaRPr lang="fr-FR"/>
          </a:p>
        </p:txBody>
      </p:sp>
      <p:pic>
        <p:nvPicPr>
          <p:cNvPr id="60420" name="Picture 2" descr="Illustration de la relation client serveur"/>
          <p:cNvPicPr>
            <a:picLocks noChangeAspect="1" noChangeArrowheads="1"/>
          </p:cNvPicPr>
          <p:nvPr/>
        </p:nvPicPr>
        <p:blipFill>
          <a:blip r:embed="rId2"/>
          <a:srcRect/>
          <a:stretch>
            <a:fillRect/>
          </a:stretch>
        </p:blipFill>
        <p:spPr bwMode="auto">
          <a:xfrm>
            <a:off x="642938" y="1500188"/>
            <a:ext cx="8001000" cy="47863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re 1"/>
          <p:cNvSpPr>
            <a:spLocks noGrp="1"/>
          </p:cNvSpPr>
          <p:nvPr>
            <p:ph type="title"/>
          </p:nvPr>
        </p:nvSpPr>
        <p:spPr/>
        <p:txBody>
          <a:bodyPr/>
          <a:lstStyle/>
          <a:p>
            <a:r>
              <a:rPr lang="fr-FR" smtClean="0"/>
              <a:t>Envoie d’une requête</a:t>
            </a:r>
          </a:p>
        </p:txBody>
      </p:sp>
      <p:sp>
        <p:nvSpPr>
          <p:cNvPr id="4" name="Espace réservé du numéro de diapositive 3"/>
          <p:cNvSpPr>
            <a:spLocks noGrp="1"/>
          </p:cNvSpPr>
          <p:nvPr>
            <p:ph type="sldNum" sz="quarter" idx="12"/>
          </p:nvPr>
        </p:nvSpPr>
        <p:spPr/>
        <p:txBody>
          <a:bodyPr/>
          <a:lstStyle/>
          <a:p>
            <a:pPr>
              <a:defRPr/>
            </a:pPr>
            <a:fld id="{675000F4-86F1-4EC3-96F9-849A2C258EF8}" type="slidenum">
              <a:rPr lang="fr-FR" smtClean="0"/>
              <a:pPr>
                <a:defRPr/>
              </a:pPr>
              <a:t>58</a:t>
            </a:fld>
            <a:endParaRPr lang="fr-FR"/>
          </a:p>
        </p:txBody>
      </p:sp>
      <p:sp>
        <p:nvSpPr>
          <p:cNvPr id="5" name="Rectangle 4"/>
          <p:cNvSpPr/>
          <p:nvPr/>
        </p:nvSpPr>
        <p:spPr>
          <a:xfrm>
            <a:off x="357188" y="2714625"/>
            <a:ext cx="1714500" cy="13573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dirty="0"/>
              <a:t>Client</a:t>
            </a:r>
          </a:p>
        </p:txBody>
      </p:sp>
      <p:sp>
        <p:nvSpPr>
          <p:cNvPr id="6" name="Rectangle 5"/>
          <p:cNvSpPr/>
          <p:nvPr/>
        </p:nvSpPr>
        <p:spPr>
          <a:xfrm>
            <a:off x="6715125" y="1643063"/>
            <a:ext cx="1928813" cy="3714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dirty="0"/>
              <a:t>Serveur</a:t>
            </a:r>
          </a:p>
        </p:txBody>
      </p:sp>
      <p:sp>
        <p:nvSpPr>
          <p:cNvPr id="7" name="Flèche droite 6"/>
          <p:cNvSpPr/>
          <p:nvPr/>
        </p:nvSpPr>
        <p:spPr>
          <a:xfrm>
            <a:off x="2214563" y="3214688"/>
            <a:ext cx="1143000" cy="4286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
        <p:nvSpPr>
          <p:cNvPr id="8" name="Accolade fermante 7"/>
          <p:cNvSpPr/>
          <p:nvPr/>
        </p:nvSpPr>
        <p:spPr>
          <a:xfrm>
            <a:off x="3000375" y="2286000"/>
            <a:ext cx="857250" cy="2286000"/>
          </a:xfrm>
          <a:prstGeom prst="rightBrace">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fr-FR"/>
          </a:p>
        </p:txBody>
      </p:sp>
      <p:sp>
        <p:nvSpPr>
          <p:cNvPr id="9" name="Rectangle 8"/>
          <p:cNvSpPr/>
          <p:nvPr/>
        </p:nvSpPr>
        <p:spPr>
          <a:xfrm>
            <a:off x="3714750" y="1714500"/>
            <a:ext cx="2857500" cy="142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dirty="0"/>
              <a:t>1-Données </a:t>
            </a:r>
            <a:r>
              <a:rPr lang="fr-FR" dirty="0" err="1"/>
              <a:t>Text</a:t>
            </a:r>
            <a:r>
              <a:rPr lang="fr-FR" dirty="0"/>
              <a:t> </a:t>
            </a:r>
          </a:p>
          <a:p>
            <a:pPr algn="ctr">
              <a:defRPr/>
            </a:pPr>
            <a:r>
              <a:rPr lang="fr-FR" dirty="0"/>
              <a:t>(Formulaire , Lien </a:t>
            </a:r>
            <a:r>
              <a:rPr lang="fr-FR" dirty="0" err="1"/>
              <a:t>Hypertext</a:t>
            </a:r>
            <a:r>
              <a:rPr lang="fr-FR" dirty="0"/>
              <a:t>)</a:t>
            </a:r>
          </a:p>
          <a:p>
            <a:pPr algn="ctr">
              <a:defRPr/>
            </a:pPr>
            <a:r>
              <a:rPr lang="fr-FR" dirty="0"/>
              <a:t>$_POST[‘’]</a:t>
            </a:r>
          </a:p>
          <a:p>
            <a:pPr algn="ctr">
              <a:defRPr/>
            </a:pPr>
            <a:r>
              <a:rPr lang="fr-FR" dirty="0"/>
              <a:t>$_GET[‘’]</a:t>
            </a:r>
          </a:p>
        </p:txBody>
      </p:sp>
      <p:sp>
        <p:nvSpPr>
          <p:cNvPr id="10" name="Rectangle 9"/>
          <p:cNvSpPr/>
          <p:nvPr/>
        </p:nvSpPr>
        <p:spPr>
          <a:xfrm>
            <a:off x="3714750" y="3786188"/>
            <a:ext cx="2857500" cy="142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dirty="0"/>
              <a:t>2-Fichiers (images…) </a:t>
            </a:r>
          </a:p>
          <a:p>
            <a:pPr algn="ctr">
              <a:defRPr/>
            </a:pPr>
            <a:r>
              <a:rPr lang="fr-FR" dirty="0"/>
              <a:t>(Formulaire)</a:t>
            </a:r>
          </a:p>
          <a:p>
            <a:pPr algn="ctr">
              <a:defRPr/>
            </a:pPr>
            <a:r>
              <a:rPr lang="fr-FR" dirty="0"/>
              <a:t>$_FILES[‘’] [‘’]</a:t>
            </a:r>
          </a:p>
        </p:txBody>
      </p:sp>
      <p:cxnSp>
        <p:nvCxnSpPr>
          <p:cNvPr id="12" name="Connecteur droit avec flèche 11"/>
          <p:cNvCxnSpPr/>
          <p:nvPr/>
        </p:nvCxnSpPr>
        <p:spPr>
          <a:xfrm rot="10800000" flipV="1">
            <a:off x="2714625" y="4500563"/>
            <a:ext cx="1857375" cy="6429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214313" y="5357813"/>
            <a:ext cx="5786437" cy="5000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dirty="0"/>
              <a:t>&lt; </a:t>
            </a:r>
            <a:r>
              <a:rPr lang="fr-FR" dirty="0" err="1"/>
              <a:t>form</a:t>
            </a:r>
            <a:r>
              <a:rPr lang="fr-FR" dirty="0"/>
              <a:t> </a:t>
            </a:r>
            <a:r>
              <a:rPr lang="fr-FR" dirty="0" err="1"/>
              <a:t>method</a:t>
            </a:r>
            <a:r>
              <a:rPr lang="fr-FR" dirty="0"/>
              <a:t>=‘POST’     </a:t>
            </a:r>
            <a:r>
              <a:rPr lang="fr-FR" dirty="0" err="1"/>
              <a:t>enctype</a:t>
            </a:r>
            <a:r>
              <a:rPr lang="fr-FR" dirty="0"/>
              <a:t>=‘</a:t>
            </a:r>
            <a:r>
              <a:rPr lang="fr-FR" dirty="0" err="1"/>
              <a:t>multipart</a:t>
            </a:r>
            <a:r>
              <a:rPr lang="fr-FR" dirty="0"/>
              <a:t>/</a:t>
            </a:r>
            <a:r>
              <a:rPr lang="fr-FR" dirty="0" err="1"/>
              <a:t>form</a:t>
            </a:r>
            <a:r>
              <a:rPr lang="fr-FR" dirty="0"/>
              <a:t>-data’   &gt;</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re 1"/>
          <p:cNvSpPr>
            <a:spLocks noGrp="1"/>
          </p:cNvSpPr>
          <p:nvPr>
            <p:ph type="title"/>
          </p:nvPr>
        </p:nvSpPr>
        <p:spPr>
          <a:xfrm>
            <a:off x="642938" y="2786063"/>
            <a:ext cx="7772400" cy="1143000"/>
          </a:xfrm>
        </p:spPr>
        <p:txBody>
          <a:bodyPr/>
          <a:lstStyle/>
          <a:p>
            <a:pPr algn="ctr"/>
            <a:r>
              <a:rPr lang="fr-FR" smtClean="0"/>
              <a:t>1-Données Text</a:t>
            </a:r>
          </a:p>
        </p:txBody>
      </p:sp>
      <p:sp>
        <p:nvSpPr>
          <p:cNvPr id="4" name="Espace réservé du numéro de diapositive 3"/>
          <p:cNvSpPr>
            <a:spLocks noGrp="1"/>
          </p:cNvSpPr>
          <p:nvPr>
            <p:ph type="sldNum" sz="quarter" idx="12"/>
          </p:nvPr>
        </p:nvSpPr>
        <p:spPr/>
        <p:txBody>
          <a:bodyPr/>
          <a:lstStyle/>
          <a:p>
            <a:pPr>
              <a:defRPr/>
            </a:pPr>
            <a:fld id="{FA102FA9-7628-49D8-9418-3752A26E2F71}" type="slidenum">
              <a:rPr lang="fr-FR" smtClean="0"/>
              <a:pPr>
                <a:defRPr/>
              </a:pPr>
              <a:t>59</a:t>
            </a:fld>
            <a:endParaRPr lang="fr-F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AutoShape 2"/>
          <p:cNvSpPr>
            <a:spLocks noGrp="1" noChangeArrowheads="1"/>
          </p:cNvSpPr>
          <p:nvPr>
            <p:ph type="title"/>
          </p:nvPr>
        </p:nvSpPr>
        <p:spPr/>
        <p:txBody>
          <a:bodyPr/>
          <a:lstStyle/>
          <a:p>
            <a:pPr eaLnBrk="1" hangingPunct="1"/>
            <a:r>
              <a:rPr lang="fr-FR" smtClean="0"/>
              <a:t>Les formulaires</a:t>
            </a:r>
          </a:p>
        </p:txBody>
      </p:sp>
      <p:sp>
        <p:nvSpPr>
          <p:cNvPr id="49154" name="Espace réservé du numéro de diapositive 5"/>
          <p:cNvSpPr>
            <a:spLocks noGrp="1"/>
          </p:cNvSpPr>
          <p:nvPr>
            <p:ph type="sldNum" sz="quarter" idx="12"/>
          </p:nvPr>
        </p:nvSpPr>
        <p:spPr>
          <a:noFill/>
        </p:spPr>
        <p:txBody>
          <a:bodyPr/>
          <a:lstStyle/>
          <a:p>
            <a:pPr>
              <a:defRPr/>
            </a:pPr>
            <a:fld id="{252AF65D-ED56-41F1-A198-EB619177AE20}" type="slidenum">
              <a:rPr lang="fr-FR"/>
              <a:pPr>
                <a:defRPr/>
              </a:pPr>
              <a:t>60</a:t>
            </a:fld>
            <a:endParaRPr lang="fr-FR"/>
          </a:p>
        </p:txBody>
      </p:sp>
      <p:sp>
        <p:nvSpPr>
          <p:cNvPr id="63492" name="Rectangle 3"/>
          <p:cNvSpPr>
            <a:spLocks noGrp="1" noChangeArrowheads="1"/>
          </p:cNvSpPr>
          <p:nvPr>
            <p:ph sz="quarter" idx="1"/>
          </p:nvPr>
        </p:nvSpPr>
        <p:spPr/>
        <p:txBody>
          <a:bodyPr/>
          <a:lstStyle/>
          <a:p>
            <a:pPr eaLnBrk="1" hangingPunct="1"/>
            <a:r>
              <a:rPr lang="fr-FR" smtClean="0"/>
              <a:t>Les formulaires sont l’élément essentiel qui permet l’interactivité entre un site et ses visiteurs.</a:t>
            </a:r>
          </a:p>
          <a:p>
            <a:pPr eaLnBrk="1" hangingPunct="1"/>
            <a:r>
              <a:rPr lang="fr-FR" smtClean="0"/>
              <a:t>Ils constituent pour cette raison la base de la création de sites dynamiques. </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endParaRPr lang="fr-FR" smtClean="0"/>
          </a:p>
        </p:txBody>
      </p:sp>
      <p:sp>
        <p:nvSpPr>
          <p:cNvPr id="50178" name="Espace réservé du numéro de diapositive 5"/>
          <p:cNvSpPr>
            <a:spLocks noGrp="1"/>
          </p:cNvSpPr>
          <p:nvPr>
            <p:ph type="sldNum" sz="quarter" idx="12"/>
          </p:nvPr>
        </p:nvSpPr>
        <p:spPr>
          <a:noFill/>
        </p:spPr>
        <p:txBody>
          <a:bodyPr/>
          <a:lstStyle/>
          <a:p>
            <a:pPr>
              <a:defRPr/>
            </a:pPr>
            <a:fld id="{62714F78-8D97-4197-AF43-4A205DB0AC06}" type="slidenum">
              <a:rPr lang="fr-FR"/>
              <a:pPr>
                <a:defRPr/>
              </a:pPr>
              <a:t>61</a:t>
            </a:fld>
            <a:endParaRPr lang="fr-FR"/>
          </a:p>
        </p:txBody>
      </p:sp>
      <p:sp>
        <p:nvSpPr>
          <p:cNvPr id="64516" name="Rectangle 3"/>
          <p:cNvSpPr>
            <a:spLocks noGrp="1" noChangeArrowheads="1"/>
          </p:cNvSpPr>
          <p:nvPr>
            <p:ph sz="quarter" idx="1"/>
          </p:nvPr>
        </p:nvSpPr>
        <p:spPr/>
        <p:txBody>
          <a:bodyPr/>
          <a:lstStyle/>
          <a:p>
            <a:pPr eaLnBrk="1" hangingPunct="1"/>
            <a:r>
              <a:rPr lang="fr-FR" sz="2000" smtClean="0"/>
              <a:t>&lt;form method="post|get"              action="nom_de_fichier.php"&gt;</a:t>
            </a:r>
          </a:p>
          <a:p>
            <a:pPr eaLnBrk="1" hangingPunct="1">
              <a:buFont typeface="Wingdings" pitchFamily="2" charset="2"/>
              <a:buNone/>
            </a:pPr>
            <a:endParaRPr lang="fr-FR" sz="2000" smtClean="0"/>
          </a:p>
          <a:p>
            <a:pPr eaLnBrk="1" hangingPunct="1">
              <a:buFont typeface="Wingdings" pitchFamily="2" charset="2"/>
              <a:buNone/>
            </a:pPr>
            <a:endParaRPr lang="fr-FR" sz="2000" smtClean="0"/>
          </a:p>
          <a:p>
            <a:pPr eaLnBrk="1" hangingPunct="1">
              <a:buFont typeface="Wingdings" pitchFamily="2" charset="2"/>
              <a:buNone/>
            </a:pPr>
            <a:endParaRPr lang="fr-FR" sz="2000" smtClean="0"/>
          </a:p>
          <a:p>
            <a:pPr eaLnBrk="1" hangingPunct="1">
              <a:buFont typeface="Wingdings" pitchFamily="2" charset="2"/>
              <a:buNone/>
            </a:pPr>
            <a:r>
              <a:rPr lang="fr-FR" sz="2000" smtClean="0"/>
              <a:t>Composants html (zone de text,boutton ,combobox….)   (name)</a:t>
            </a:r>
          </a:p>
          <a:p>
            <a:pPr eaLnBrk="1" hangingPunct="1">
              <a:buFont typeface="Wingdings" pitchFamily="2" charset="2"/>
              <a:buNone/>
            </a:pPr>
            <a:endParaRPr lang="fr-FR" sz="2000" smtClean="0"/>
          </a:p>
          <a:p>
            <a:pPr eaLnBrk="1" hangingPunct="1">
              <a:buFont typeface="Wingdings" pitchFamily="2" charset="2"/>
              <a:buNone/>
            </a:pPr>
            <a:endParaRPr lang="fr-FR" sz="2000" smtClean="0"/>
          </a:p>
          <a:p>
            <a:pPr eaLnBrk="1" hangingPunct="1"/>
            <a:r>
              <a:rPr lang="fr-FR" sz="2000" smtClean="0"/>
              <a:t>&lt;input type=‘submit’     name=‘action’    value=‘submit’ /&gt;</a:t>
            </a:r>
          </a:p>
          <a:p>
            <a:pPr eaLnBrk="1" hangingPunct="1"/>
            <a:endParaRPr lang="fr-FR" sz="2000" smtClean="0"/>
          </a:p>
          <a:p>
            <a:pPr eaLnBrk="1" hangingPunct="1"/>
            <a:r>
              <a:rPr lang="fr-FR" sz="2000" smtClean="0"/>
              <a:t>&lt;/form&gt;</a:t>
            </a:r>
          </a:p>
          <a:p>
            <a:pPr eaLnBrk="1" hangingPunct="1"/>
            <a:endParaRPr lang="fr-FR" sz="2000" smtClean="0"/>
          </a:p>
          <a:p>
            <a:pPr eaLnBrk="1" hangingPunct="1"/>
            <a:endParaRPr lang="fr-FR" sz="2000" smtClean="0"/>
          </a:p>
          <a:p>
            <a:pPr eaLnBrk="1" hangingPunct="1"/>
            <a:endParaRPr lang="fr-FR" sz="2000" smtClean="0"/>
          </a:p>
        </p:txBody>
      </p:sp>
      <p:sp>
        <p:nvSpPr>
          <p:cNvPr id="5" name="Ellipse 4"/>
          <p:cNvSpPr/>
          <p:nvPr/>
        </p:nvSpPr>
        <p:spPr>
          <a:xfrm>
            <a:off x="3214688" y="1857375"/>
            <a:ext cx="428625" cy="4286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dirty="0"/>
              <a:t>1</a:t>
            </a:r>
          </a:p>
        </p:txBody>
      </p:sp>
      <p:sp>
        <p:nvSpPr>
          <p:cNvPr id="6" name="Ellipse 5"/>
          <p:cNvSpPr/>
          <p:nvPr/>
        </p:nvSpPr>
        <p:spPr>
          <a:xfrm>
            <a:off x="4786313" y="1857375"/>
            <a:ext cx="428625" cy="4286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dirty="0"/>
              <a:t>2</a:t>
            </a:r>
          </a:p>
        </p:txBody>
      </p:sp>
      <p:sp>
        <p:nvSpPr>
          <p:cNvPr id="7" name="Ellipse 6"/>
          <p:cNvSpPr/>
          <p:nvPr/>
        </p:nvSpPr>
        <p:spPr>
          <a:xfrm>
            <a:off x="6429375" y="3357563"/>
            <a:ext cx="428625" cy="4286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dirty="0"/>
              <a:t>3</a:t>
            </a:r>
          </a:p>
        </p:txBody>
      </p:sp>
      <p:sp>
        <p:nvSpPr>
          <p:cNvPr id="8" name="Ellipse 7"/>
          <p:cNvSpPr/>
          <p:nvPr/>
        </p:nvSpPr>
        <p:spPr>
          <a:xfrm>
            <a:off x="2500313" y="4429125"/>
            <a:ext cx="428625" cy="4286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dirty="0"/>
              <a:t>4</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AutoShape 2"/>
          <p:cNvSpPr>
            <a:spLocks noGrp="1" noChangeArrowheads="1"/>
          </p:cNvSpPr>
          <p:nvPr>
            <p:ph type="title"/>
          </p:nvPr>
        </p:nvSpPr>
        <p:spPr/>
        <p:txBody>
          <a:bodyPr/>
          <a:lstStyle/>
          <a:p>
            <a:pPr eaLnBrk="1" hangingPunct="1"/>
            <a:r>
              <a:rPr lang="fr-FR" smtClean="0"/>
              <a:t>Liens Hypertext</a:t>
            </a:r>
          </a:p>
        </p:txBody>
      </p:sp>
      <p:sp>
        <p:nvSpPr>
          <p:cNvPr id="52226" name="Espace réservé du numéro de diapositive 5"/>
          <p:cNvSpPr>
            <a:spLocks noGrp="1"/>
          </p:cNvSpPr>
          <p:nvPr>
            <p:ph type="sldNum" sz="quarter" idx="12"/>
          </p:nvPr>
        </p:nvSpPr>
        <p:spPr>
          <a:noFill/>
        </p:spPr>
        <p:txBody>
          <a:bodyPr/>
          <a:lstStyle/>
          <a:p>
            <a:pPr>
              <a:defRPr/>
            </a:pPr>
            <a:fld id="{531BE429-B337-45DD-8C52-B4197A723802}" type="slidenum">
              <a:rPr lang="fr-FR"/>
              <a:pPr>
                <a:defRPr/>
              </a:pPr>
              <a:t>62</a:t>
            </a:fld>
            <a:endParaRPr lang="fr-FR"/>
          </a:p>
        </p:txBody>
      </p:sp>
      <p:sp>
        <p:nvSpPr>
          <p:cNvPr id="65540" name="Rectangle 3"/>
          <p:cNvSpPr>
            <a:spLocks noGrp="1" noChangeArrowheads="1"/>
          </p:cNvSpPr>
          <p:nvPr>
            <p:ph sz="quarter" idx="1"/>
          </p:nvPr>
        </p:nvSpPr>
        <p:spPr/>
        <p:txBody>
          <a:bodyPr/>
          <a:lstStyle/>
          <a:p>
            <a:pPr eaLnBrk="1" hangingPunct="1"/>
            <a:r>
              <a:rPr lang="fr-FR" sz="2000" smtClean="0"/>
              <a:t>&lt;a href="cible.php</a:t>
            </a:r>
            <a:r>
              <a:rPr lang="fr-FR" sz="3200" smtClean="0">
                <a:solidFill>
                  <a:srgbClr val="FF0000"/>
                </a:solidFill>
              </a:rPr>
              <a:t>?cle1=val1&amp;cle2=val2...</a:t>
            </a:r>
            <a:r>
              <a:rPr lang="fr-FR" sz="2000" smtClean="0"/>
              <a:t>&gt; click here  </a:t>
            </a:r>
            <a:r>
              <a:rPr lang="en-US" sz="2000" smtClean="0"/>
              <a:t>&lt;/a&gt;</a:t>
            </a:r>
          </a:p>
          <a:p>
            <a:pPr eaLnBrk="1" hangingPunct="1"/>
            <a:endParaRPr lang="en-US" sz="2000" smtClean="0"/>
          </a:p>
          <a:p>
            <a:pPr eaLnBrk="1" hangingPunct="1"/>
            <a:r>
              <a:rPr lang="en-US" sz="2000" smtClean="0"/>
              <a:t>Methode par defaut : GET</a:t>
            </a:r>
            <a:endParaRPr lang="fr-FR" sz="2000" smtClean="0"/>
          </a:p>
        </p:txBody>
      </p:sp>
      <p:sp>
        <p:nvSpPr>
          <p:cNvPr id="65541" name="Rectangle 4">
            <a:hlinkClick r:id="rId2"/>
          </p:cNvPr>
          <p:cNvSpPr>
            <a:spLocks noChangeArrowheads="1"/>
          </p:cNvSpPr>
          <p:nvPr/>
        </p:nvSpPr>
        <p:spPr bwMode="auto">
          <a:xfrm>
            <a:off x="0" y="0"/>
            <a:ext cx="9144000" cy="0"/>
          </a:xfrm>
          <a:prstGeom prst="rect">
            <a:avLst/>
          </a:prstGeom>
          <a:noFill/>
          <a:ln w="9525">
            <a:noFill/>
            <a:miter lim="800000"/>
            <a:headEnd/>
            <a:tailEnd/>
          </a:ln>
        </p:spPr>
        <p:txBody>
          <a:bodyPr anchor="ctr">
            <a:spAutoFit/>
          </a:bodyPr>
          <a:lstStyle/>
          <a:p>
            <a:endParaRPr lang="fr-FR"/>
          </a:p>
        </p:txBody>
      </p:sp>
      <p:sp>
        <p:nvSpPr>
          <p:cNvPr id="65542" name="Rectangle 5">
            <a:hlinkClick r:id="rId2"/>
          </p:cNvPr>
          <p:cNvSpPr>
            <a:spLocks noChangeArrowheads="1"/>
          </p:cNvSpPr>
          <p:nvPr/>
        </p:nvSpPr>
        <p:spPr bwMode="auto">
          <a:xfrm>
            <a:off x="0" y="0"/>
            <a:ext cx="9144000" cy="0"/>
          </a:xfrm>
          <a:prstGeom prst="rect">
            <a:avLst/>
          </a:prstGeom>
          <a:noFill/>
          <a:ln w="9525">
            <a:noFill/>
            <a:miter lim="800000"/>
            <a:headEnd/>
            <a:tailEnd/>
          </a:ln>
        </p:spPr>
        <p:txBody>
          <a:bodyPr anchor="ctr">
            <a:spAutoFit/>
          </a:bodyPr>
          <a:lstStyle/>
          <a:p>
            <a:endParaRPr lang="fr-F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re 1"/>
          <p:cNvSpPr>
            <a:spLocks noGrp="1"/>
          </p:cNvSpPr>
          <p:nvPr>
            <p:ph type="title"/>
          </p:nvPr>
        </p:nvSpPr>
        <p:spPr/>
        <p:txBody>
          <a:bodyPr/>
          <a:lstStyle/>
          <a:p>
            <a:r>
              <a:rPr lang="fr-FR" smtClean="0"/>
              <a:t>Méthodologie</a:t>
            </a:r>
          </a:p>
        </p:txBody>
      </p:sp>
      <p:sp>
        <p:nvSpPr>
          <p:cNvPr id="4" name="Espace réservé du numéro de diapositive 3"/>
          <p:cNvSpPr>
            <a:spLocks noGrp="1"/>
          </p:cNvSpPr>
          <p:nvPr>
            <p:ph type="sldNum" sz="quarter" idx="12"/>
          </p:nvPr>
        </p:nvSpPr>
        <p:spPr/>
        <p:txBody>
          <a:bodyPr/>
          <a:lstStyle/>
          <a:p>
            <a:pPr>
              <a:defRPr/>
            </a:pPr>
            <a:fld id="{2507001A-6C62-4F86-A7A5-B3114D5AD52B}" type="slidenum">
              <a:rPr lang="fr-FR" smtClean="0"/>
              <a:pPr>
                <a:defRPr/>
              </a:pPr>
              <a:t>63</a:t>
            </a:fld>
            <a:endParaRPr lang="fr-FR"/>
          </a:p>
        </p:txBody>
      </p:sp>
      <p:sp>
        <p:nvSpPr>
          <p:cNvPr id="5" name="Flèche droite 4"/>
          <p:cNvSpPr/>
          <p:nvPr/>
        </p:nvSpPr>
        <p:spPr>
          <a:xfrm>
            <a:off x="1428750" y="1428750"/>
            <a:ext cx="5929313" cy="1143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sz="2800" dirty="0"/>
              <a:t>1-Création de l’interface graphique</a:t>
            </a:r>
          </a:p>
        </p:txBody>
      </p:sp>
      <p:sp>
        <p:nvSpPr>
          <p:cNvPr id="6" name="Flèche droite 5"/>
          <p:cNvSpPr/>
          <p:nvPr/>
        </p:nvSpPr>
        <p:spPr>
          <a:xfrm>
            <a:off x="1428750" y="2643188"/>
            <a:ext cx="5929313" cy="1143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sz="2000" dirty="0"/>
              <a:t>2-Déterminer les action (Formulaires, liens </a:t>
            </a:r>
            <a:r>
              <a:rPr lang="fr-FR" sz="2000" dirty="0" err="1"/>
              <a:t>hypertext</a:t>
            </a:r>
            <a:r>
              <a:rPr lang="fr-FR" sz="2000" dirty="0"/>
              <a:t>)</a:t>
            </a:r>
          </a:p>
        </p:txBody>
      </p:sp>
      <p:sp>
        <p:nvSpPr>
          <p:cNvPr id="7" name="Flèche droite 6"/>
          <p:cNvSpPr/>
          <p:nvPr/>
        </p:nvSpPr>
        <p:spPr>
          <a:xfrm>
            <a:off x="1428750" y="3857625"/>
            <a:ext cx="5929313" cy="1143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dirty="0"/>
              <a:t>3-Déclarer les traitements (Fonctions)</a:t>
            </a:r>
          </a:p>
        </p:txBody>
      </p:sp>
      <p:sp>
        <p:nvSpPr>
          <p:cNvPr id="8" name="Flèche droite 7"/>
          <p:cNvSpPr/>
          <p:nvPr/>
        </p:nvSpPr>
        <p:spPr>
          <a:xfrm>
            <a:off x="1428750" y="5072063"/>
            <a:ext cx="6000750" cy="10001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dirty="0"/>
              <a:t>4-Appel des méthodes </a:t>
            </a:r>
          </a:p>
        </p:txBody>
      </p:sp>
      <p:sp>
        <p:nvSpPr>
          <p:cNvPr id="10" name="Flèche vers le bas 9"/>
          <p:cNvSpPr/>
          <p:nvPr/>
        </p:nvSpPr>
        <p:spPr>
          <a:xfrm>
            <a:off x="6357938" y="1000125"/>
            <a:ext cx="1714500" cy="578643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re 1"/>
          <p:cNvSpPr>
            <a:spLocks noGrp="1"/>
          </p:cNvSpPr>
          <p:nvPr>
            <p:ph type="title"/>
          </p:nvPr>
        </p:nvSpPr>
        <p:spPr/>
        <p:txBody>
          <a:bodyPr/>
          <a:lstStyle/>
          <a:p>
            <a:r>
              <a:rPr lang="fr-FR" smtClean="0"/>
              <a:t>TP 1- Envoie des données Text</a:t>
            </a:r>
          </a:p>
        </p:txBody>
      </p:sp>
      <p:sp>
        <p:nvSpPr>
          <p:cNvPr id="4" name="Espace réservé du numéro de diapositive 3"/>
          <p:cNvSpPr>
            <a:spLocks noGrp="1"/>
          </p:cNvSpPr>
          <p:nvPr>
            <p:ph type="sldNum" sz="quarter" idx="12"/>
          </p:nvPr>
        </p:nvSpPr>
        <p:spPr/>
        <p:txBody>
          <a:bodyPr/>
          <a:lstStyle/>
          <a:p>
            <a:pPr>
              <a:defRPr/>
            </a:pPr>
            <a:fld id="{4D51B0B7-6DFA-4A25-92D1-83C5C1D6F5E7}" type="slidenum">
              <a:rPr lang="fr-FR" smtClean="0"/>
              <a:pPr>
                <a:defRPr/>
              </a:pPr>
              <a:t>64</a:t>
            </a:fld>
            <a:endParaRPr lang="fr-FR"/>
          </a:p>
        </p:txBody>
      </p:sp>
      <p:pic>
        <p:nvPicPr>
          <p:cNvPr id="67588" name="Picture 2"/>
          <p:cNvPicPr>
            <a:picLocks noChangeAspect="1" noChangeArrowheads="1"/>
          </p:cNvPicPr>
          <p:nvPr/>
        </p:nvPicPr>
        <p:blipFill>
          <a:blip r:embed="rId2"/>
          <a:srcRect/>
          <a:stretch>
            <a:fillRect/>
          </a:stretch>
        </p:blipFill>
        <p:spPr bwMode="auto">
          <a:xfrm>
            <a:off x="1000125" y="1285875"/>
            <a:ext cx="6715125" cy="52149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re 1"/>
          <p:cNvSpPr>
            <a:spLocks noGrp="1"/>
          </p:cNvSpPr>
          <p:nvPr>
            <p:ph type="title"/>
          </p:nvPr>
        </p:nvSpPr>
        <p:spPr/>
        <p:txBody>
          <a:bodyPr/>
          <a:lstStyle/>
          <a:p>
            <a:r>
              <a:rPr lang="fr-FR" smtClean="0"/>
              <a:t>Fichiers Text </a:t>
            </a:r>
          </a:p>
        </p:txBody>
      </p:sp>
      <p:sp>
        <p:nvSpPr>
          <p:cNvPr id="4" name="Espace réservé du numéro de diapositive 3"/>
          <p:cNvSpPr>
            <a:spLocks noGrp="1"/>
          </p:cNvSpPr>
          <p:nvPr>
            <p:ph type="sldNum" sz="quarter" idx="12"/>
          </p:nvPr>
        </p:nvSpPr>
        <p:spPr/>
        <p:txBody>
          <a:bodyPr/>
          <a:lstStyle/>
          <a:p>
            <a:pPr>
              <a:defRPr/>
            </a:pPr>
            <a:fld id="{8A208448-12D2-4A2C-8ADF-B5D8D529B68C}" type="slidenum">
              <a:rPr lang="fr-FR" smtClean="0"/>
              <a:pPr>
                <a:defRPr/>
              </a:pPr>
              <a:t>65</a:t>
            </a:fld>
            <a:endParaRPr lang="fr-FR"/>
          </a:p>
        </p:txBody>
      </p:sp>
      <p:sp>
        <p:nvSpPr>
          <p:cNvPr id="68612" name="Rectangle 2"/>
          <p:cNvSpPr>
            <a:spLocks noChangeArrowheads="1"/>
          </p:cNvSpPr>
          <p:nvPr/>
        </p:nvSpPr>
        <p:spPr bwMode="auto">
          <a:xfrm>
            <a:off x="928688" y="1857375"/>
            <a:ext cx="3130550" cy="4751388"/>
          </a:xfrm>
          <a:prstGeom prst="rect">
            <a:avLst/>
          </a:prstGeom>
          <a:solidFill>
            <a:srgbClr val="FFFFFF"/>
          </a:solidFill>
          <a:ln w="9525">
            <a:solidFill>
              <a:srgbClr val="000000"/>
            </a:solidFill>
            <a:miter lim="800000"/>
            <a:headEnd/>
            <a:tailEnd/>
          </a:ln>
        </p:spPr>
        <p:txBody>
          <a:bodyPr/>
          <a:lstStyle/>
          <a:p>
            <a:pPr>
              <a:spcAft>
                <a:spcPts val="1000"/>
              </a:spcAft>
            </a:pPr>
            <a:r>
              <a:rPr lang="fr-FR" b="1" u="sng">
                <a:latin typeface="BatangChe" pitchFamily="49" charset="-127"/>
                <a:ea typeface="BatangChe" pitchFamily="49" charset="-127"/>
              </a:rPr>
              <a:t>Ecriture:</a:t>
            </a:r>
            <a:r>
              <a:rPr lang="fr-FR" b="1" u="sng" noProof="1">
                <a:latin typeface="BatangChe" pitchFamily="49" charset="-127"/>
                <a:ea typeface="BatangChe" pitchFamily="49" charset="-127"/>
              </a:rPr>
              <a:t> </a:t>
            </a:r>
            <a:endParaRPr lang="fr-FR" b="1" u="sng">
              <a:latin typeface="BatangChe" pitchFamily="49" charset="-127"/>
              <a:ea typeface="BatangChe" pitchFamily="49" charset="-127"/>
            </a:endParaRPr>
          </a:p>
          <a:p>
            <a:pPr>
              <a:spcAft>
                <a:spcPts val="1000"/>
              </a:spcAft>
            </a:pPr>
            <a:r>
              <a:rPr lang="fr-FR" sz="1100" b="1">
                <a:latin typeface="BatangChe" pitchFamily="49" charset="-127"/>
                <a:ea typeface="BatangChe" pitchFamily="49" charset="-127"/>
              </a:rPr>
              <a:t>1-ouvrir le fichier en mode écriture:</a:t>
            </a:r>
          </a:p>
          <a:p>
            <a:pPr>
              <a:spcAft>
                <a:spcPts val="1000"/>
              </a:spcAft>
            </a:pPr>
            <a:r>
              <a:rPr lang="en-US" sz="1100">
                <a:latin typeface="BatangChe" pitchFamily="49" charset="-127"/>
                <a:ea typeface="BatangChe" pitchFamily="49" charset="-127"/>
              </a:rPr>
              <a:t>$fp = fopen("stagiaire.txt","a");</a:t>
            </a:r>
          </a:p>
          <a:p>
            <a:pPr>
              <a:spcAft>
                <a:spcPts val="1000"/>
              </a:spcAft>
            </a:pPr>
            <a:r>
              <a:rPr lang="fr-FR" sz="1100" b="1">
                <a:latin typeface="BatangChe" pitchFamily="49" charset="-127"/>
                <a:ea typeface="BatangChe" pitchFamily="49" charset="-127"/>
              </a:rPr>
              <a:t>2-definir l'enregistrement à ecrire: </a:t>
            </a:r>
          </a:p>
          <a:p>
            <a:pPr>
              <a:spcAft>
                <a:spcPts val="1000"/>
              </a:spcAft>
            </a:pPr>
            <a:r>
              <a:rPr lang="fr-FR" sz="1100">
                <a:latin typeface="BatangChe" pitchFamily="49" charset="-127"/>
                <a:ea typeface="BatangChe" pitchFamily="49" charset="-127"/>
              </a:rPr>
              <a:t>$enregistrement= "Nom /Prenom /Ville";</a:t>
            </a:r>
          </a:p>
          <a:p>
            <a:pPr>
              <a:spcAft>
                <a:spcPts val="1000"/>
              </a:spcAft>
            </a:pPr>
            <a:r>
              <a:rPr lang="fr-FR" sz="1100" b="1">
                <a:latin typeface="BatangChe" pitchFamily="49" charset="-127"/>
                <a:ea typeface="BatangChe" pitchFamily="49" charset="-127"/>
              </a:rPr>
              <a:t>3-Ecrire un enregistrement:</a:t>
            </a:r>
          </a:p>
          <a:p>
            <a:pPr>
              <a:spcAft>
                <a:spcPts val="1000"/>
              </a:spcAft>
            </a:pPr>
            <a:r>
              <a:rPr lang="fr-FR" sz="1100" b="1">
                <a:latin typeface="BatangChe" pitchFamily="49" charset="-127"/>
                <a:ea typeface="BatangChe" pitchFamily="49" charset="-127"/>
              </a:rPr>
              <a:t>    </a:t>
            </a:r>
            <a:r>
              <a:rPr lang="fr-FR" sz="1100">
                <a:latin typeface="BatangChe" pitchFamily="49" charset="-127"/>
                <a:ea typeface="BatangChe" pitchFamily="49" charset="-127"/>
              </a:rPr>
              <a:t>fwrite($fp,$enregistrement );</a:t>
            </a:r>
          </a:p>
          <a:p>
            <a:pPr>
              <a:spcAft>
                <a:spcPts val="1000"/>
              </a:spcAft>
            </a:pPr>
            <a:r>
              <a:rPr lang="fr-FR" sz="1100">
                <a:latin typeface="BatangChe" pitchFamily="49" charset="-127"/>
                <a:ea typeface="BatangChe" pitchFamily="49" charset="-127"/>
              </a:rPr>
              <a:t>    fwrite($fp, "\r\n"); // retour //à la //ligne</a:t>
            </a:r>
          </a:p>
          <a:p>
            <a:pPr>
              <a:spcAft>
                <a:spcPts val="1000"/>
              </a:spcAft>
            </a:pPr>
            <a:r>
              <a:rPr lang="fr-FR" sz="1100" b="1">
                <a:latin typeface="BatangChe" pitchFamily="49" charset="-127"/>
                <a:ea typeface="BatangChe" pitchFamily="49" charset="-127"/>
              </a:rPr>
              <a:t>4-Fermer le fichier:</a:t>
            </a:r>
          </a:p>
          <a:p>
            <a:pPr>
              <a:spcAft>
                <a:spcPts val="1000"/>
              </a:spcAft>
            </a:pPr>
            <a:r>
              <a:rPr lang="fr-FR" sz="1100">
                <a:latin typeface="BatangChe" pitchFamily="49" charset="-127"/>
                <a:ea typeface="BatangChe" pitchFamily="49" charset="-127"/>
              </a:rPr>
              <a:t>   fclose($fp);</a:t>
            </a:r>
            <a:endParaRPr lang="fr-FR"/>
          </a:p>
        </p:txBody>
      </p:sp>
      <p:sp>
        <p:nvSpPr>
          <p:cNvPr id="68613" name="Rectangle 3"/>
          <p:cNvSpPr>
            <a:spLocks noChangeArrowheads="1"/>
          </p:cNvSpPr>
          <p:nvPr/>
        </p:nvSpPr>
        <p:spPr bwMode="auto">
          <a:xfrm>
            <a:off x="4714875" y="1857375"/>
            <a:ext cx="3859213" cy="4714875"/>
          </a:xfrm>
          <a:prstGeom prst="rect">
            <a:avLst/>
          </a:prstGeom>
          <a:solidFill>
            <a:srgbClr val="FFFFFF"/>
          </a:solidFill>
          <a:ln w="9525">
            <a:solidFill>
              <a:srgbClr val="000000"/>
            </a:solidFill>
            <a:miter lim="800000"/>
            <a:headEnd/>
            <a:tailEnd/>
          </a:ln>
        </p:spPr>
        <p:txBody>
          <a:bodyPr/>
          <a:lstStyle/>
          <a:p>
            <a:pPr>
              <a:spcAft>
                <a:spcPts val="1000"/>
              </a:spcAft>
            </a:pPr>
            <a:r>
              <a:rPr lang="fr-FR" b="1" u="sng">
                <a:latin typeface="BatangChe" pitchFamily="49" charset="-127"/>
                <a:ea typeface="BatangChe" pitchFamily="49" charset="-127"/>
              </a:rPr>
              <a:t>Lecture:</a:t>
            </a:r>
          </a:p>
          <a:p>
            <a:pPr>
              <a:spcAft>
                <a:spcPts val="1000"/>
              </a:spcAft>
            </a:pPr>
            <a:r>
              <a:rPr lang="fr-FR" sz="1100">
                <a:latin typeface="BatangChe" pitchFamily="49" charset="-127"/>
                <a:ea typeface="BatangChe" pitchFamily="49" charset="-127"/>
              </a:rPr>
              <a:t>     </a:t>
            </a:r>
            <a:r>
              <a:rPr lang="fr-FR" sz="1100" b="1">
                <a:latin typeface="BatangChe" pitchFamily="49" charset="-127"/>
                <a:ea typeface="BatangChe" pitchFamily="49" charset="-127"/>
              </a:rPr>
              <a:t>1-ouvrir le fichier en mode Lecture:</a:t>
            </a:r>
          </a:p>
          <a:p>
            <a:pPr>
              <a:spcAft>
                <a:spcPts val="1000"/>
              </a:spcAft>
            </a:pPr>
            <a:r>
              <a:rPr lang="en-US" sz="1100">
                <a:latin typeface="BatangChe" pitchFamily="49" charset="-127"/>
                <a:ea typeface="BatangChe" pitchFamily="49" charset="-127"/>
              </a:rPr>
              <a:t>$fp = fopen("stagiaire.txt","r");</a:t>
            </a:r>
          </a:p>
          <a:p>
            <a:pPr>
              <a:spcAft>
                <a:spcPts val="1000"/>
              </a:spcAft>
            </a:pPr>
            <a:r>
              <a:rPr lang="en-US" sz="1100">
                <a:latin typeface="BatangChe" pitchFamily="49" charset="-127"/>
                <a:ea typeface="BatangChe" pitchFamily="49" charset="-127"/>
              </a:rPr>
              <a:t>      </a:t>
            </a:r>
            <a:r>
              <a:rPr lang="fr-FR" sz="1100" b="1">
                <a:latin typeface="BatangChe" pitchFamily="49" charset="-127"/>
                <a:ea typeface="BatangChe" pitchFamily="49" charset="-127"/>
              </a:rPr>
              <a:t>2-Lecture ligne par ligne:</a:t>
            </a:r>
          </a:p>
          <a:p>
            <a:pPr>
              <a:spcAft>
                <a:spcPts val="1000"/>
              </a:spcAft>
            </a:pPr>
            <a:r>
              <a:rPr lang="fr-FR" sz="1100">
                <a:latin typeface="BatangChe" pitchFamily="49" charset="-127"/>
                <a:ea typeface="BatangChe" pitchFamily="49" charset="-127"/>
              </a:rPr>
              <a:t>$cpt=1;</a:t>
            </a:r>
          </a:p>
          <a:p>
            <a:pPr>
              <a:spcAft>
                <a:spcPts val="1000"/>
              </a:spcAft>
            </a:pPr>
            <a:r>
              <a:rPr lang="en-US" sz="1100">
                <a:latin typeface="BatangChe" pitchFamily="49" charset="-127"/>
                <a:ea typeface="BatangChe" pitchFamily="49" charset="-127"/>
              </a:rPr>
              <a:t>while (!feof($fp)) {</a:t>
            </a:r>
          </a:p>
          <a:p>
            <a:pPr>
              <a:spcAft>
                <a:spcPts val="1000"/>
              </a:spcAft>
            </a:pPr>
            <a:r>
              <a:rPr lang="en-US" sz="1100">
                <a:latin typeface="BatangChe" pitchFamily="49" charset="-127"/>
                <a:ea typeface="BatangChe" pitchFamily="49" charset="-127"/>
              </a:rPr>
              <a:t>        $eng = fgets($fp);</a:t>
            </a:r>
          </a:p>
          <a:p>
            <a:pPr>
              <a:spcAft>
                <a:spcPts val="1000"/>
              </a:spcAft>
            </a:pPr>
            <a:r>
              <a:rPr lang="en-US" sz="1100">
                <a:latin typeface="BatangChe" pitchFamily="49" charset="-127"/>
                <a:ea typeface="BatangChe" pitchFamily="49" charset="-127"/>
              </a:rPr>
              <a:t> if($eng!=""){</a:t>
            </a:r>
          </a:p>
          <a:p>
            <a:pPr>
              <a:spcAft>
                <a:spcPts val="1000"/>
              </a:spcAft>
            </a:pPr>
            <a:r>
              <a:rPr lang="en-US" sz="1100">
                <a:latin typeface="BatangChe" pitchFamily="49" charset="-127"/>
                <a:ea typeface="BatangChe" pitchFamily="49" charset="-127"/>
              </a:rPr>
              <a:t>       $tab= explode("/",  $eng); </a:t>
            </a:r>
          </a:p>
          <a:p>
            <a:pPr>
              <a:spcAft>
                <a:spcPts val="1000"/>
              </a:spcAft>
            </a:pPr>
            <a:r>
              <a:rPr lang="fr-FR" sz="1100">
                <a:latin typeface="BatangChe" pitchFamily="49" charset="-127"/>
                <a:ea typeface="BatangChe" pitchFamily="49" charset="-127"/>
              </a:rPr>
              <a:t>echo "num:$tab[0]---nom:$tab[1]---Ville:$tab[2]";</a:t>
            </a:r>
          </a:p>
          <a:p>
            <a:pPr>
              <a:spcAft>
                <a:spcPts val="1000"/>
              </a:spcAft>
            </a:pPr>
            <a:r>
              <a:rPr lang="fr-FR" sz="1100">
                <a:latin typeface="BatangChe" pitchFamily="49" charset="-127"/>
                <a:ea typeface="BatangChe" pitchFamily="49" charset="-127"/>
              </a:rPr>
              <a:t>       echo " &lt;br/&gt;";</a:t>
            </a:r>
          </a:p>
          <a:p>
            <a:pPr>
              <a:spcAft>
                <a:spcPts val="1000"/>
              </a:spcAft>
            </a:pPr>
            <a:r>
              <a:rPr lang="fr-FR" sz="1100">
                <a:latin typeface="BatangChe" pitchFamily="49" charset="-127"/>
                <a:ea typeface="BatangChe" pitchFamily="49" charset="-127"/>
              </a:rPr>
              <a:t>       $cpt++;</a:t>
            </a:r>
          </a:p>
          <a:p>
            <a:pPr>
              <a:spcAft>
                <a:spcPts val="1000"/>
              </a:spcAft>
            </a:pPr>
            <a:r>
              <a:rPr lang="fr-FR" sz="1100">
                <a:latin typeface="BatangChe" pitchFamily="49" charset="-127"/>
                <a:ea typeface="BatangChe" pitchFamily="49" charset="-127"/>
              </a:rPr>
              <a:t>       }</a:t>
            </a:r>
          </a:p>
          <a:p>
            <a:pPr>
              <a:spcAft>
                <a:spcPts val="1000"/>
              </a:spcAft>
            </a:pPr>
            <a:r>
              <a:rPr lang="fr-FR" sz="1100" b="1">
                <a:latin typeface="BatangChe" pitchFamily="49" charset="-127"/>
                <a:ea typeface="BatangChe" pitchFamily="49" charset="-127"/>
              </a:rPr>
              <a:t>3-Fermer le fichier:   </a:t>
            </a:r>
            <a:r>
              <a:rPr lang="fr-FR" sz="1100">
                <a:latin typeface="BatangChe" pitchFamily="49" charset="-127"/>
                <a:ea typeface="BatangChe" pitchFamily="49" charset="-127"/>
              </a:rPr>
              <a:t>fclose($fp);</a:t>
            </a:r>
            <a:endParaRPr lang="fr-F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re 1"/>
          <p:cNvSpPr>
            <a:spLocks noGrp="1"/>
          </p:cNvSpPr>
          <p:nvPr>
            <p:ph type="title"/>
          </p:nvPr>
        </p:nvSpPr>
        <p:spPr/>
        <p:txBody>
          <a:bodyPr/>
          <a:lstStyle/>
          <a:p>
            <a:r>
              <a:rPr lang="fr-FR" sz="3200" smtClean="0"/>
              <a:t>TP 2-Fichiers Text (Lecture/Ecriture)</a:t>
            </a:r>
          </a:p>
        </p:txBody>
      </p:sp>
      <p:sp>
        <p:nvSpPr>
          <p:cNvPr id="4" name="Espace réservé du numéro de diapositive 3"/>
          <p:cNvSpPr>
            <a:spLocks noGrp="1"/>
          </p:cNvSpPr>
          <p:nvPr>
            <p:ph type="sldNum" sz="quarter" idx="12"/>
          </p:nvPr>
        </p:nvSpPr>
        <p:spPr/>
        <p:txBody>
          <a:bodyPr/>
          <a:lstStyle/>
          <a:p>
            <a:pPr>
              <a:defRPr/>
            </a:pPr>
            <a:fld id="{1864086E-13B4-48CE-A1DA-C22D9B241481}" type="slidenum">
              <a:rPr lang="fr-FR" smtClean="0"/>
              <a:pPr>
                <a:defRPr/>
              </a:pPr>
              <a:t>66</a:t>
            </a:fld>
            <a:endParaRPr lang="fr-FR"/>
          </a:p>
        </p:txBody>
      </p:sp>
      <p:pic>
        <p:nvPicPr>
          <p:cNvPr id="69636" name="Picture 4"/>
          <p:cNvPicPr>
            <a:picLocks noChangeAspect="1" noChangeArrowheads="1"/>
          </p:cNvPicPr>
          <p:nvPr/>
        </p:nvPicPr>
        <p:blipFill>
          <a:blip r:embed="rId2"/>
          <a:srcRect/>
          <a:stretch>
            <a:fillRect/>
          </a:stretch>
        </p:blipFill>
        <p:spPr bwMode="auto">
          <a:xfrm>
            <a:off x="1285875" y="1785938"/>
            <a:ext cx="6000750" cy="34099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re 1"/>
          <p:cNvSpPr>
            <a:spLocks noGrp="1"/>
          </p:cNvSpPr>
          <p:nvPr>
            <p:ph type="title"/>
          </p:nvPr>
        </p:nvSpPr>
        <p:spPr>
          <a:xfrm>
            <a:off x="1000125" y="2714625"/>
            <a:ext cx="7772400" cy="1143000"/>
          </a:xfrm>
        </p:spPr>
        <p:txBody>
          <a:bodyPr/>
          <a:lstStyle/>
          <a:p>
            <a:pPr algn="ctr"/>
            <a:r>
              <a:rPr lang="fr-FR" smtClean="0"/>
              <a:t>2-Envoyer des Fichiers</a:t>
            </a:r>
          </a:p>
        </p:txBody>
      </p:sp>
      <p:sp>
        <p:nvSpPr>
          <p:cNvPr id="4" name="Espace réservé du numéro de diapositive 3"/>
          <p:cNvSpPr>
            <a:spLocks noGrp="1"/>
          </p:cNvSpPr>
          <p:nvPr>
            <p:ph type="sldNum" sz="quarter" idx="12"/>
          </p:nvPr>
        </p:nvSpPr>
        <p:spPr/>
        <p:txBody>
          <a:bodyPr/>
          <a:lstStyle/>
          <a:p>
            <a:pPr>
              <a:defRPr/>
            </a:pPr>
            <a:fld id="{79464407-1352-435E-9F3D-7AE03FE5F926}" type="slidenum">
              <a:rPr lang="fr-FR" smtClean="0"/>
              <a:pPr>
                <a:defRPr/>
              </a:pPr>
              <a:t>67</a:t>
            </a:fld>
            <a:endParaRPr lang="fr-F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re 1"/>
          <p:cNvSpPr>
            <a:spLocks noGrp="1"/>
          </p:cNvSpPr>
          <p:nvPr>
            <p:ph type="title"/>
          </p:nvPr>
        </p:nvSpPr>
        <p:spPr/>
        <p:txBody>
          <a:bodyPr/>
          <a:lstStyle/>
          <a:p>
            <a:r>
              <a:rPr lang="fr-FR" smtClean="0"/>
              <a:t>TP 3-Hebergeur d’images</a:t>
            </a:r>
          </a:p>
        </p:txBody>
      </p:sp>
      <p:sp>
        <p:nvSpPr>
          <p:cNvPr id="4" name="Espace réservé du numéro de diapositive 3"/>
          <p:cNvSpPr>
            <a:spLocks noGrp="1"/>
          </p:cNvSpPr>
          <p:nvPr>
            <p:ph type="sldNum" sz="quarter" idx="12"/>
          </p:nvPr>
        </p:nvSpPr>
        <p:spPr/>
        <p:txBody>
          <a:bodyPr/>
          <a:lstStyle/>
          <a:p>
            <a:pPr>
              <a:defRPr/>
            </a:pPr>
            <a:fld id="{EBF0637B-C0EA-4FBE-8269-BBDC30C6E9FD}" type="slidenum">
              <a:rPr lang="fr-FR" smtClean="0"/>
              <a:pPr>
                <a:defRPr/>
              </a:pPr>
              <a:t>68</a:t>
            </a:fld>
            <a:endParaRPr lang="fr-FR"/>
          </a:p>
        </p:txBody>
      </p:sp>
      <p:pic>
        <p:nvPicPr>
          <p:cNvPr id="71684" name="Picture 2"/>
          <p:cNvPicPr>
            <a:picLocks noChangeAspect="1" noChangeArrowheads="1"/>
          </p:cNvPicPr>
          <p:nvPr/>
        </p:nvPicPr>
        <p:blipFill>
          <a:blip r:embed="rId2"/>
          <a:srcRect/>
          <a:stretch>
            <a:fillRect/>
          </a:stretch>
        </p:blipFill>
        <p:spPr bwMode="auto">
          <a:xfrm>
            <a:off x="714375" y="1714500"/>
            <a:ext cx="7500938" cy="39290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re 1"/>
          <p:cNvSpPr>
            <a:spLocks noGrp="1"/>
          </p:cNvSpPr>
          <p:nvPr>
            <p:ph type="title"/>
          </p:nvPr>
        </p:nvSpPr>
        <p:spPr/>
        <p:txBody>
          <a:bodyPr/>
          <a:lstStyle/>
          <a:p>
            <a:r>
              <a:rPr lang="fr-FR" dirty="0" smtClean="0"/>
              <a:t>TP 4-Fichiers</a:t>
            </a:r>
          </a:p>
        </p:txBody>
      </p:sp>
      <p:sp>
        <p:nvSpPr>
          <p:cNvPr id="4" name="Espace réservé du numéro de diapositive 3"/>
          <p:cNvSpPr>
            <a:spLocks noGrp="1"/>
          </p:cNvSpPr>
          <p:nvPr>
            <p:ph type="sldNum" sz="quarter" idx="12"/>
          </p:nvPr>
        </p:nvSpPr>
        <p:spPr/>
        <p:txBody>
          <a:bodyPr/>
          <a:lstStyle/>
          <a:p>
            <a:pPr>
              <a:defRPr/>
            </a:pPr>
            <a:fld id="{58273181-4753-4229-87FA-A4C40C0D9A82}" type="slidenum">
              <a:rPr lang="fr-FR" smtClean="0"/>
              <a:pPr>
                <a:defRPr/>
              </a:pPr>
              <a:t>69</a:t>
            </a:fld>
            <a:endParaRPr lang="fr-FR"/>
          </a:p>
        </p:txBody>
      </p:sp>
      <p:pic>
        <p:nvPicPr>
          <p:cNvPr id="72708" name="Picture 2"/>
          <p:cNvPicPr>
            <a:picLocks noChangeAspect="1" noChangeArrowheads="1"/>
          </p:cNvPicPr>
          <p:nvPr/>
        </p:nvPicPr>
        <p:blipFill>
          <a:blip r:embed="rId2"/>
          <a:srcRect/>
          <a:stretch>
            <a:fillRect/>
          </a:stretch>
        </p:blipFill>
        <p:spPr bwMode="auto">
          <a:xfrm>
            <a:off x="1714500" y="2143125"/>
            <a:ext cx="4819650" cy="31146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2"/>
          <p:cNvSpPr/>
          <p:nvPr/>
        </p:nvSpPr>
        <p:spPr>
          <a:xfrm>
            <a:off x="899592" y="2564904"/>
            <a:ext cx="2358600" cy="3160800"/>
          </a:xfrm>
          <a:prstGeom prst="ellipse">
            <a:avLst/>
          </a:prstGeom>
          <a:solidFill>
            <a:srgbClr val="AACF20">
              <a:alpha val="7462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smtClean="0">
                <a:solidFill>
                  <a:srgbClr val="FFFFFF"/>
                </a:solidFill>
                <a:latin typeface="Varela Round"/>
                <a:ea typeface="Varela Round"/>
                <a:cs typeface="Varela Round"/>
                <a:sym typeface="Varela Round"/>
              </a:rPr>
              <a:t>App</a:t>
            </a:r>
            <a:endParaRPr sz="2400" dirty="0">
              <a:solidFill>
                <a:srgbClr val="FFFFFF"/>
              </a:solidFill>
              <a:latin typeface="Varela Round"/>
              <a:ea typeface="Varela Round"/>
              <a:cs typeface="Varela Round"/>
              <a:sym typeface="Varela Round"/>
            </a:endParaRPr>
          </a:p>
        </p:txBody>
      </p:sp>
      <p:sp>
        <p:nvSpPr>
          <p:cNvPr id="147" name="Google Shape;147;p22"/>
          <p:cNvSpPr txBox="1">
            <a:spLocks noGrp="1"/>
          </p:cNvSpPr>
          <p:nvPr>
            <p:ph type="title"/>
          </p:nvPr>
        </p:nvSpPr>
        <p:spPr>
          <a:xfrm>
            <a:off x="1027950" y="689775"/>
            <a:ext cx="7088100" cy="910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smtClean="0"/>
              <a:t>TDMClassroom</a:t>
            </a:r>
            <a:endParaRPr dirty="0"/>
          </a:p>
        </p:txBody>
      </p:sp>
      <p:sp>
        <p:nvSpPr>
          <p:cNvPr id="150" name="Google Shape;150;p22"/>
          <p:cNvSpPr txBox="1">
            <a:spLocks noGrp="1"/>
          </p:cNvSpPr>
          <p:nvPr>
            <p:ph type="sldNum" sz="quarter" idx="12"/>
          </p:nvPr>
        </p:nvSpPr>
        <p:spPr>
          <a:xfrm>
            <a:off x="4348076" y="6302335"/>
            <a:ext cx="548700" cy="398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70</a:t>
            </a:fld>
            <a:endParaRPr/>
          </a:p>
        </p:txBody>
      </p:sp>
      <p:sp>
        <p:nvSpPr>
          <p:cNvPr id="149" name="Google Shape;149;p22"/>
          <p:cNvSpPr/>
          <p:nvPr/>
        </p:nvSpPr>
        <p:spPr>
          <a:xfrm>
            <a:off x="6084168" y="2151713"/>
            <a:ext cx="2203564" cy="3160800"/>
          </a:xfrm>
          <a:prstGeom prst="ellipse">
            <a:avLst/>
          </a:prstGeom>
          <a:noFill/>
          <a:ln w="9525" cap="flat" cmpd="sng">
            <a:solidFill>
              <a:schemeClr val="accent1"/>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smtClean="0">
                <a:solidFill>
                  <a:schemeClr val="accent1"/>
                </a:solidFill>
                <a:latin typeface="Varela Round"/>
                <a:ea typeface="Varela Round"/>
                <a:cs typeface="Varela Round"/>
                <a:sym typeface="Varela Round"/>
              </a:rPr>
              <a:t>TextFile</a:t>
            </a:r>
          </a:p>
          <a:p>
            <a:pPr marL="0" lvl="0" indent="0" algn="ctr" rtl="0">
              <a:spcBef>
                <a:spcPts val="0"/>
              </a:spcBef>
              <a:spcAft>
                <a:spcPts val="0"/>
              </a:spcAft>
              <a:buNone/>
            </a:pPr>
            <a:r>
              <a:rPr lang="en" dirty="0" smtClean="0">
                <a:solidFill>
                  <a:schemeClr val="accent1"/>
                </a:solidFill>
                <a:latin typeface="Varela Round"/>
                <a:ea typeface="Varela Round"/>
                <a:cs typeface="Varela Round"/>
                <a:sym typeface="Varela Round"/>
              </a:rPr>
              <a:t>(students</a:t>
            </a:r>
            <a:br>
              <a:rPr lang="en" dirty="0" smtClean="0">
                <a:solidFill>
                  <a:schemeClr val="accent1"/>
                </a:solidFill>
                <a:latin typeface="Varela Round"/>
                <a:ea typeface="Varela Round"/>
                <a:cs typeface="Varela Round"/>
                <a:sym typeface="Varela Round"/>
              </a:rPr>
            </a:br>
            <a:r>
              <a:rPr lang="en" dirty="0" smtClean="0">
                <a:solidFill>
                  <a:schemeClr val="accent1"/>
                </a:solidFill>
                <a:latin typeface="Varela Round"/>
                <a:ea typeface="Varela Round"/>
                <a:cs typeface="Varela Round"/>
                <a:sym typeface="Varela Round"/>
              </a:rPr>
              <a:t>.txt)</a:t>
            </a:r>
            <a:endParaRPr dirty="0">
              <a:solidFill>
                <a:schemeClr val="accent1"/>
              </a:solidFill>
              <a:latin typeface="Varela Round"/>
              <a:ea typeface="Varela Round"/>
              <a:cs typeface="Varela Round"/>
              <a:sym typeface="Varela Round"/>
            </a:endParaRPr>
          </a:p>
        </p:txBody>
      </p:sp>
      <p:sp>
        <p:nvSpPr>
          <p:cNvPr id="3" name="Flèche courbée vers le bas 2"/>
          <p:cNvSpPr/>
          <p:nvPr/>
        </p:nvSpPr>
        <p:spPr>
          <a:xfrm>
            <a:off x="3326180" y="1745173"/>
            <a:ext cx="2736304" cy="144016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smtClean="0">
                <a:solidFill>
                  <a:schemeClr val="tx1"/>
                </a:solidFill>
              </a:rPr>
              <a:t>Write</a:t>
            </a:r>
            <a:endParaRPr lang="fr-FR" dirty="0">
              <a:solidFill>
                <a:schemeClr val="tx1"/>
              </a:solidFill>
            </a:endParaRPr>
          </a:p>
        </p:txBody>
      </p:sp>
      <p:sp>
        <p:nvSpPr>
          <p:cNvPr id="11" name="Flèche courbée vers le bas 10"/>
          <p:cNvSpPr/>
          <p:nvPr/>
        </p:nvSpPr>
        <p:spPr>
          <a:xfrm rot="10800000">
            <a:off x="3143997" y="4293097"/>
            <a:ext cx="2836640" cy="1728191"/>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6" name="Rectangle 5"/>
          <p:cNvSpPr/>
          <p:nvPr/>
        </p:nvSpPr>
        <p:spPr>
          <a:xfrm>
            <a:off x="4355976" y="4722672"/>
            <a:ext cx="736099" cy="369332"/>
          </a:xfrm>
          <a:prstGeom prst="rect">
            <a:avLst/>
          </a:prstGeom>
        </p:spPr>
        <p:txBody>
          <a:bodyPr wrap="none">
            <a:spAutoFit/>
          </a:bodyPr>
          <a:lstStyle/>
          <a:p>
            <a:r>
              <a:rPr lang="fr-CA" dirty="0" smtClean="0">
                <a:solidFill>
                  <a:schemeClr val="tx1"/>
                </a:solidFill>
              </a:rPr>
              <a:t>Read</a:t>
            </a:r>
            <a:endParaRPr lang="fr-FR" dirty="0"/>
          </a:p>
        </p:txBody>
      </p:sp>
    </p:spTree>
    <p:extLst>
      <p:ext uri="{BB962C8B-B14F-4D97-AF65-F5344CB8AC3E}">
        <p14:creationId xmlns:p14="http://schemas.microsoft.com/office/powerpoint/2010/main" val="146831382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81" name="Google Shape;81;p13"/>
          <p:cNvSpPr txBox="1">
            <a:spLocks noGrp="1"/>
          </p:cNvSpPr>
          <p:nvPr>
            <p:ph type="sldNum" sz="quarter" idx="12"/>
          </p:nvPr>
        </p:nvSpPr>
        <p:spPr>
          <a:xfrm>
            <a:off x="4348076" y="6302335"/>
            <a:ext cx="548700" cy="398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71</a:t>
            </a:fld>
            <a:endParaRPr/>
          </a:p>
        </p:txBody>
      </p:sp>
      <p:sp>
        <p:nvSpPr>
          <p:cNvPr id="78" name="Google Shape;78;p13"/>
          <p:cNvSpPr txBox="1">
            <a:spLocks noGrp="1"/>
          </p:cNvSpPr>
          <p:nvPr>
            <p:ph type="ctrTitle" idx="4294967295"/>
          </p:nvPr>
        </p:nvSpPr>
        <p:spPr>
          <a:xfrm>
            <a:off x="2490788" y="741363"/>
            <a:ext cx="6653212" cy="1546225"/>
          </a:xfrm>
          <a:prstGeom prst="rect">
            <a:avLst/>
          </a:prstGeom>
        </p:spPr>
        <p:txBody>
          <a:bodyPr spcFirstLastPara="1" wrap="square" lIns="91425" tIns="91425" rIns="91425" bIns="91425" anchor="b" anchorCtr="0">
            <a:noAutofit/>
          </a:bodyPr>
          <a:lstStyle/>
          <a:p>
            <a:pPr lvl="0" algn="l"/>
            <a:r>
              <a:rPr lang="fr-FR" sz="6000" dirty="0" smtClean="0">
                <a:solidFill>
                  <a:schemeClr val="accent3"/>
                </a:solidFill>
              </a:rPr>
              <a:t>  accueil</a:t>
            </a:r>
            <a:endParaRPr sz="6000" dirty="0">
              <a:solidFill>
                <a:schemeClr val="accent3"/>
              </a:solidFill>
            </a:endParaRPr>
          </a:p>
        </p:txBody>
      </p:sp>
      <p:pic>
        <p:nvPicPr>
          <p:cNvPr id="8" name="Google Shape;77;p13"/>
          <p:cNvPicPr preferRelativeResize="0"/>
          <p:nvPr/>
        </p:nvPicPr>
        <p:blipFill>
          <a:blip r:embed="rId3">
            <a:extLst>
              <a:ext uri="{28A0092B-C50C-407E-A947-70E740481C1C}">
                <a14:useLocalDpi xmlns:a14="http://schemas.microsoft.com/office/drawing/2010/main" val="0"/>
              </a:ext>
            </a:extLst>
          </a:blip>
          <a:stretch>
            <a:fillRect/>
          </a:stretch>
        </p:blipFill>
        <p:spPr>
          <a:xfrm>
            <a:off x="683568" y="836712"/>
            <a:ext cx="2160240" cy="2482053"/>
          </a:xfrm>
          <a:prstGeom prst="wedgeEllipseCallout">
            <a:avLst>
              <a:gd name="adj1" fmla="val 47110"/>
              <a:gd name="adj2" fmla="val 46541"/>
            </a:avLst>
          </a:prstGeom>
          <a:noFill/>
          <a:ln w="9525" cap="flat" cmpd="sng">
            <a:solidFill>
              <a:schemeClr val="dk1"/>
            </a:solidFill>
            <a:prstDash val="dash"/>
            <a:round/>
            <a:headEnd type="none" w="sm" len="sm"/>
            <a:tailEnd type="none" w="sm" len="sm"/>
          </a:ln>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3849" y="2276873"/>
            <a:ext cx="4031481" cy="38319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391664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81" name="Google Shape;81;p13"/>
          <p:cNvSpPr txBox="1">
            <a:spLocks noGrp="1"/>
          </p:cNvSpPr>
          <p:nvPr>
            <p:ph type="sldNum" sz="quarter" idx="12"/>
          </p:nvPr>
        </p:nvSpPr>
        <p:spPr>
          <a:xfrm>
            <a:off x="4348076" y="6302335"/>
            <a:ext cx="548700" cy="398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72</a:t>
            </a:fld>
            <a:endParaRPr/>
          </a:p>
        </p:txBody>
      </p:sp>
      <p:sp>
        <p:nvSpPr>
          <p:cNvPr id="78" name="Google Shape;78;p13"/>
          <p:cNvSpPr txBox="1">
            <a:spLocks noGrp="1"/>
          </p:cNvSpPr>
          <p:nvPr>
            <p:ph type="ctrTitle" idx="4294967295"/>
          </p:nvPr>
        </p:nvSpPr>
        <p:spPr>
          <a:xfrm>
            <a:off x="4181475" y="695325"/>
            <a:ext cx="4962525" cy="1546225"/>
          </a:xfrm>
          <a:prstGeom prst="rect">
            <a:avLst/>
          </a:prstGeom>
        </p:spPr>
        <p:txBody>
          <a:bodyPr spcFirstLastPara="1" wrap="square" lIns="91425" tIns="91425" rIns="91425" bIns="91425" anchor="b" anchorCtr="0">
            <a:noAutofit/>
          </a:bodyPr>
          <a:lstStyle/>
          <a:p>
            <a:pPr lvl="0" algn="l"/>
            <a:r>
              <a:rPr lang="fr-FR" sz="9600" dirty="0" smtClean="0">
                <a:solidFill>
                  <a:schemeClr val="accent3"/>
                </a:solidFill>
              </a:rPr>
              <a:t>Nouveau</a:t>
            </a:r>
            <a:endParaRPr sz="9600" dirty="0">
              <a:solidFill>
                <a:schemeClr val="accent3"/>
              </a:solidFill>
            </a:endParaRPr>
          </a:p>
        </p:txBody>
      </p:sp>
      <p:pic>
        <p:nvPicPr>
          <p:cNvPr id="7" name="Google Shape;77;p13"/>
          <p:cNvPicPr preferRelativeResize="0"/>
          <p:nvPr/>
        </p:nvPicPr>
        <p:blipFill>
          <a:blip r:embed="rId3">
            <a:extLst>
              <a:ext uri="{28A0092B-C50C-407E-A947-70E740481C1C}">
                <a14:useLocalDpi xmlns:a14="http://schemas.microsoft.com/office/drawing/2010/main" val="0"/>
              </a:ext>
            </a:extLst>
          </a:blip>
          <a:stretch>
            <a:fillRect/>
          </a:stretch>
        </p:blipFill>
        <p:spPr>
          <a:xfrm>
            <a:off x="683568" y="836712"/>
            <a:ext cx="2160240" cy="2482053"/>
          </a:xfrm>
          <a:prstGeom prst="wedgeEllipseCallout">
            <a:avLst>
              <a:gd name="adj1" fmla="val 47110"/>
              <a:gd name="adj2" fmla="val 46541"/>
            </a:avLst>
          </a:prstGeom>
          <a:noFill/>
          <a:ln w="9525" cap="flat" cmpd="sng">
            <a:solidFill>
              <a:schemeClr val="dk1"/>
            </a:solidFill>
            <a:prstDash val="dash"/>
            <a:round/>
            <a:headEnd type="none" w="sm" len="sm"/>
            <a:tailEnd type="none" w="sm" len="sm"/>
          </a:ln>
        </p:spPr>
      </p:pic>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1840" y="2276872"/>
            <a:ext cx="3960440" cy="3906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910115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81" name="Google Shape;81;p13"/>
          <p:cNvSpPr txBox="1">
            <a:spLocks noGrp="1"/>
          </p:cNvSpPr>
          <p:nvPr>
            <p:ph type="sldNum" sz="quarter" idx="12"/>
          </p:nvPr>
        </p:nvSpPr>
        <p:spPr>
          <a:xfrm>
            <a:off x="4348076" y="6302335"/>
            <a:ext cx="548700" cy="398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73</a:t>
            </a:fld>
            <a:endParaRPr/>
          </a:p>
        </p:txBody>
      </p:sp>
      <p:sp>
        <p:nvSpPr>
          <p:cNvPr id="78" name="Google Shape;78;p13"/>
          <p:cNvSpPr txBox="1">
            <a:spLocks noGrp="1"/>
          </p:cNvSpPr>
          <p:nvPr>
            <p:ph type="ctrTitle" idx="4294967295"/>
          </p:nvPr>
        </p:nvSpPr>
        <p:spPr>
          <a:xfrm>
            <a:off x="3786188" y="989013"/>
            <a:ext cx="5357812" cy="1546225"/>
          </a:xfrm>
          <a:prstGeom prst="rect">
            <a:avLst/>
          </a:prstGeom>
        </p:spPr>
        <p:txBody>
          <a:bodyPr spcFirstLastPara="1" wrap="square" lIns="91425" tIns="91425" rIns="91425" bIns="91425" anchor="b" anchorCtr="0">
            <a:noAutofit/>
          </a:bodyPr>
          <a:lstStyle/>
          <a:p>
            <a:pPr lvl="0" algn="l"/>
            <a:r>
              <a:rPr lang="fr-FR" sz="4800" dirty="0" smtClean="0">
                <a:solidFill>
                  <a:schemeClr val="accent3"/>
                </a:solidFill>
              </a:rPr>
              <a:t>Recherche</a:t>
            </a:r>
            <a:endParaRPr sz="4800" dirty="0">
              <a:solidFill>
                <a:schemeClr val="accent3"/>
              </a:solidFill>
            </a:endParaRPr>
          </a:p>
        </p:txBody>
      </p:sp>
      <p:pic>
        <p:nvPicPr>
          <p:cNvPr id="7" name="Google Shape;77;p13"/>
          <p:cNvPicPr preferRelativeResize="0"/>
          <p:nvPr/>
        </p:nvPicPr>
        <p:blipFill>
          <a:blip r:embed="rId3">
            <a:extLst>
              <a:ext uri="{28A0092B-C50C-407E-A947-70E740481C1C}">
                <a14:useLocalDpi xmlns:a14="http://schemas.microsoft.com/office/drawing/2010/main" val="0"/>
              </a:ext>
            </a:extLst>
          </a:blip>
          <a:stretch>
            <a:fillRect/>
          </a:stretch>
        </p:blipFill>
        <p:spPr>
          <a:xfrm>
            <a:off x="683568" y="836712"/>
            <a:ext cx="2160240" cy="2482053"/>
          </a:xfrm>
          <a:prstGeom prst="wedgeEllipseCallout">
            <a:avLst>
              <a:gd name="adj1" fmla="val 47110"/>
              <a:gd name="adj2" fmla="val 46541"/>
            </a:avLst>
          </a:prstGeom>
          <a:noFill/>
          <a:ln w="9525" cap="flat" cmpd="sng">
            <a:solidFill>
              <a:schemeClr val="dk1"/>
            </a:solidFill>
            <a:prstDash val="dash"/>
            <a:round/>
            <a:headEnd type="none" w="sm" len="sm"/>
            <a:tailEnd type="none" w="sm" len="sm"/>
          </a:ln>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1840" y="2564904"/>
            <a:ext cx="4538464" cy="371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196875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863"/>
        <p:cNvGrpSpPr/>
        <p:nvPr/>
      </p:nvGrpSpPr>
      <p:grpSpPr>
        <a:xfrm>
          <a:off x="0" y="0"/>
          <a:ext cx="0" cy="0"/>
          <a:chOff x="0" y="0"/>
          <a:chExt cx="0" cy="0"/>
        </a:xfrm>
      </p:grpSpPr>
      <p:sp>
        <p:nvSpPr>
          <p:cNvPr id="865" name="Google Shape;865;p40"/>
          <p:cNvSpPr txBox="1"/>
          <p:nvPr/>
        </p:nvSpPr>
        <p:spPr>
          <a:xfrm>
            <a:off x="1106100" y="2946000"/>
            <a:ext cx="6931800" cy="356400"/>
          </a:xfrm>
          <a:prstGeom prst="rect">
            <a:avLst/>
          </a:prstGeom>
          <a:noFill/>
          <a:ln>
            <a:noFill/>
          </a:ln>
        </p:spPr>
        <p:txBody>
          <a:bodyPr spcFirstLastPara="1" wrap="square" lIns="0" tIns="0" rIns="0" bIns="0" anchor="t" anchorCtr="0">
            <a:noAutofit/>
          </a:bodyPr>
          <a:lstStyle/>
          <a:p>
            <a:pPr lvl="0" algn="ctr"/>
            <a:r>
              <a:rPr lang="fr-FR" sz="1800" dirty="0"/>
              <a:t>barème</a:t>
            </a:r>
            <a:endParaRPr sz="1800" b="1" dirty="0">
              <a:solidFill>
                <a:srgbClr val="434343"/>
              </a:solidFill>
              <a:latin typeface="Montserrat"/>
              <a:ea typeface="Montserrat"/>
              <a:cs typeface="Montserrat"/>
              <a:sym typeface="Montserrat"/>
            </a:endParaRPr>
          </a:p>
        </p:txBody>
      </p:sp>
      <p:grpSp>
        <p:nvGrpSpPr>
          <p:cNvPr id="866" name="Google Shape;866;p40"/>
          <p:cNvGrpSpPr/>
          <p:nvPr/>
        </p:nvGrpSpPr>
        <p:grpSpPr>
          <a:xfrm>
            <a:off x="690576" y="4386843"/>
            <a:ext cx="7762851" cy="1189891"/>
            <a:chOff x="801125" y="3213932"/>
            <a:chExt cx="7762851" cy="892418"/>
          </a:xfrm>
        </p:grpSpPr>
        <p:sp>
          <p:nvSpPr>
            <p:cNvPr id="868" name="Google Shape;868;p40"/>
            <p:cNvSpPr txBox="1"/>
            <p:nvPr/>
          </p:nvSpPr>
          <p:spPr>
            <a:xfrm>
              <a:off x="4845759" y="3469450"/>
              <a:ext cx="1695900" cy="636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200" dirty="0" smtClean="0">
                  <a:solidFill>
                    <a:srgbClr val="434343"/>
                  </a:solidFill>
                  <a:latin typeface="Montserrat"/>
                  <a:ea typeface="Montserrat"/>
                  <a:cs typeface="Montserrat"/>
                  <a:sym typeface="Montserrat"/>
                </a:rPr>
                <a:t>SEARCH(10pts)</a:t>
              </a:r>
              <a:endParaRPr sz="1200" dirty="0">
                <a:solidFill>
                  <a:srgbClr val="434343"/>
                </a:solidFill>
                <a:latin typeface="Montserrat"/>
                <a:ea typeface="Montserrat"/>
                <a:cs typeface="Montserrat"/>
                <a:sym typeface="Montserrat"/>
              </a:endParaRPr>
            </a:p>
          </p:txBody>
        </p:sp>
        <p:sp>
          <p:nvSpPr>
            <p:cNvPr id="871" name="Google Shape;871;p40"/>
            <p:cNvSpPr txBox="1"/>
            <p:nvPr/>
          </p:nvSpPr>
          <p:spPr>
            <a:xfrm>
              <a:off x="2823442" y="3469450"/>
              <a:ext cx="1695900" cy="636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200" dirty="0" smtClean="0">
                  <a:solidFill>
                    <a:srgbClr val="434343"/>
                  </a:solidFill>
                  <a:latin typeface="Montserrat"/>
                  <a:ea typeface="Montserrat"/>
                  <a:cs typeface="Montserrat"/>
                  <a:sym typeface="Montserrat"/>
                </a:rPr>
                <a:t>SAVE(5pst)</a:t>
              </a:r>
              <a:endParaRPr sz="1200" dirty="0">
                <a:solidFill>
                  <a:srgbClr val="434343"/>
                </a:solidFill>
                <a:latin typeface="Montserrat"/>
                <a:ea typeface="Montserrat"/>
                <a:cs typeface="Montserrat"/>
                <a:sym typeface="Montserrat"/>
              </a:endParaRPr>
            </a:p>
          </p:txBody>
        </p:sp>
        <p:grpSp>
          <p:nvGrpSpPr>
            <p:cNvPr id="873" name="Google Shape;873;p40"/>
            <p:cNvGrpSpPr/>
            <p:nvPr/>
          </p:nvGrpSpPr>
          <p:grpSpPr>
            <a:xfrm>
              <a:off x="6868076" y="3213932"/>
              <a:ext cx="1695900" cy="892418"/>
              <a:chOff x="6868076" y="3213932"/>
              <a:chExt cx="1695900" cy="892418"/>
            </a:xfrm>
          </p:grpSpPr>
          <p:sp>
            <p:nvSpPr>
              <p:cNvPr id="874" name="Google Shape;874;p40"/>
              <p:cNvSpPr txBox="1"/>
              <p:nvPr/>
            </p:nvSpPr>
            <p:spPr>
              <a:xfrm>
                <a:off x="6868076" y="3469450"/>
                <a:ext cx="1695900" cy="636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200" dirty="0" smtClean="0">
                    <a:solidFill>
                      <a:srgbClr val="434343"/>
                    </a:solidFill>
                    <a:latin typeface="Montserrat"/>
                    <a:ea typeface="Montserrat"/>
                    <a:cs typeface="Montserrat"/>
                    <a:sym typeface="Montserrat"/>
                  </a:rPr>
                  <a:t>Total (20pts)</a:t>
                </a:r>
                <a:endParaRPr sz="1200" dirty="0">
                  <a:solidFill>
                    <a:srgbClr val="434343"/>
                  </a:solidFill>
                  <a:latin typeface="Montserrat"/>
                  <a:ea typeface="Montserrat"/>
                  <a:cs typeface="Montserrat"/>
                  <a:sym typeface="Montserrat"/>
                </a:endParaRPr>
              </a:p>
            </p:txBody>
          </p:sp>
          <p:sp>
            <p:nvSpPr>
              <p:cNvPr id="875" name="Google Shape;875;p40"/>
              <p:cNvSpPr/>
              <p:nvPr/>
            </p:nvSpPr>
            <p:spPr>
              <a:xfrm>
                <a:off x="7625712" y="3213932"/>
                <a:ext cx="180627" cy="181175"/>
              </a:xfrm>
              <a:custGeom>
                <a:avLst/>
                <a:gdLst/>
                <a:ahLst/>
                <a:cxnLst/>
                <a:rect l="l" t="t" r="r" b="b"/>
                <a:pathLst>
                  <a:path w="5929" h="5947" extrusionOk="0">
                    <a:moveTo>
                      <a:pt x="784" y="4940"/>
                    </a:moveTo>
                    <a:lnTo>
                      <a:pt x="839" y="4958"/>
                    </a:lnTo>
                    <a:lnTo>
                      <a:pt x="933" y="5014"/>
                    </a:lnTo>
                    <a:lnTo>
                      <a:pt x="989" y="5107"/>
                    </a:lnTo>
                    <a:lnTo>
                      <a:pt x="1007" y="5145"/>
                    </a:lnTo>
                    <a:lnTo>
                      <a:pt x="1007" y="5201"/>
                    </a:lnTo>
                    <a:lnTo>
                      <a:pt x="1007" y="5257"/>
                    </a:lnTo>
                    <a:lnTo>
                      <a:pt x="989" y="5313"/>
                    </a:lnTo>
                    <a:lnTo>
                      <a:pt x="933" y="5406"/>
                    </a:lnTo>
                    <a:lnTo>
                      <a:pt x="839" y="5462"/>
                    </a:lnTo>
                    <a:lnTo>
                      <a:pt x="784" y="5480"/>
                    </a:lnTo>
                    <a:lnTo>
                      <a:pt x="672" y="5480"/>
                    </a:lnTo>
                    <a:lnTo>
                      <a:pt x="634" y="5462"/>
                    </a:lnTo>
                    <a:lnTo>
                      <a:pt x="541" y="5406"/>
                    </a:lnTo>
                    <a:lnTo>
                      <a:pt x="485" y="5313"/>
                    </a:lnTo>
                    <a:lnTo>
                      <a:pt x="467" y="5257"/>
                    </a:lnTo>
                    <a:lnTo>
                      <a:pt x="448" y="5201"/>
                    </a:lnTo>
                    <a:lnTo>
                      <a:pt x="467" y="5145"/>
                    </a:lnTo>
                    <a:lnTo>
                      <a:pt x="485" y="5107"/>
                    </a:lnTo>
                    <a:lnTo>
                      <a:pt x="541" y="5014"/>
                    </a:lnTo>
                    <a:lnTo>
                      <a:pt x="634" y="4958"/>
                    </a:lnTo>
                    <a:lnTo>
                      <a:pt x="672" y="4940"/>
                    </a:lnTo>
                    <a:close/>
                    <a:moveTo>
                      <a:pt x="206" y="2610"/>
                    </a:moveTo>
                    <a:lnTo>
                      <a:pt x="168" y="2628"/>
                    </a:lnTo>
                    <a:lnTo>
                      <a:pt x="75" y="2684"/>
                    </a:lnTo>
                    <a:lnTo>
                      <a:pt x="19" y="2777"/>
                    </a:lnTo>
                    <a:lnTo>
                      <a:pt x="1" y="2833"/>
                    </a:lnTo>
                    <a:lnTo>
                      <a:pt x="1" y="2889"/>
                    </a:lnTo>
                    <a:lnTo>
                      <a:pt x="1" y="5667"/>
                    </a:lnTo>
                    <a:lnTo>
                      <a:pt x="1" y="5723"/>
                    </a:lnTo>
                    <a:lnTo>
                      <a:pt x="19" y="5779"/>
                    </a:lnTo>
                    <a:lnTo>
                      <a:pt x="75" y="5872"/>
                    </a:lnTo>
                    <a:lnTo>
                      <a:pt x="168" y="5928"/>
                    </a:lnTo>
                    <a:lnTo>
                      <a:pt x="206" y="5946"/>
                    </a:lnTo>
                    <a:lnTo>
                      <a:pt x="1250" y="5946"/>
                    </a:lnTo>
                    <a:lnTo>
                      <a:pt x="1305" y="5928"/>
                    </a:lnTo>
                    <a:lnTo>
                      <a:pt x="1399" y="5872"/>
                    </a:lnTo>
                    <a:lnTo>
                      <a:pt x="1455" y="5779"/>
                    </a:lnTo>
                    <a:lnTo>
                      <a:pt x="1473" y="5723"/>
                    </a:lnTo>
                    <a:lnTo>
                      <a:pt x="1473" y="5667"/>
                    </a:lnTo>
                    <a:lnTo>
                      <a:pt x="1473" y="2889"/>
                    </a:lnTo>
                    <a:lnTo>
                      <a:pt x="1473" y="2833"/>
                    </a:lnTo>
                    <a:lnTo>
                      <a:pt x="1455" y="2777"/>
                    </a:lnTo>
                    <a:lnTo>
                      <a:pt x="1399" y="2684"/>
                    </a:lnTo>
                    <a:lnTo>
                      <a:pt x="1305" y="2628"/>
                    </a:lnTo>
                    <a:lnTo>
                      <a:pt x="1250" y="2610"/>
                    </a:lnTo>
                    <a:close/>
                    <a:moveTo>
                      <a:pt x="3617" y="0"/>
                    </a:moveTo>
                    <a:lnTo>
                      <a:pt x="3524" y="19"/>
                    </a:lnTo>
                    <a:lnTo>
                      <a:pt x="3468" y="75"/>
                    </a:lnTo>
                    <a:lnTo>
                      <a:pt x="3393" y="168"/>
                    </a:lnTo>
                    <a:lnTo>
                      <a:pt x="3337" y="261"/>
                    </a:lnTo>
                    <a:lnTo>
                      <a:pt x="3263" y="485"/>
                    </a:lnTo>
                    <a:lnTo>
                      <a:pt x="3225" y="671"/>
                    </a:lnTo>
                    <a:lnTo>
                      <a:pt x="3169" y="858"/>
                    </a:lnTo>
                    <a:lnTo>
                      <a:pt x="3114" y="1044"/>
                    </a:lnTo>
                    <a:lnTo>
                      <a:pt x="3039" y="1212"/>
                    </a:lnTo>
                    <a:lnTo>
                      <a:pt x="2983" y="1286"/>
                    </a:lnTo>
                    <a:lnTo>
                      <a:pt x="2927" y="1361"/>
                    </a:lnTo>
                    <a:lnTo>
                      <a:pt x="2797" y="1510"/>
                    </a:lnTo>
                    <a:lnTo>
                      <a:pt x="2666" y="1659"/>
                    </a:lnTo>
                    <a:lnTo>
                      <a:pt x="2442" y="1995"/>
                    </a:lnTo>
                    <a:lnTo>
                      <a:pt x="2200" y="2330"/>
                    </a:lnTo>
                    <a:lnTo>
                      <a:pt x="2051" y="2498"/>
                    </a:lnTo>
                    <a:lnTo>
                      <a:pt x="1883" y="2666"/>
                    </a:lnTo>
                    <a:lnTo>
                      <a:pt x="1865" y="2722"/>
                    </a:lnTo>
                    <a:lnTo>
                      <a:pt x="1846" y="2777"/>
                    </a:lnTo>
                    <a:lnTo>
                      <a:pt x="1846" y="5257"/>
                    </a:lnTo>
                    <a:lnTo>
                      <a:pt x="1865" y="5313"/>
                    </a:lnTo>
                    <a:lnTo>
                      <a:pt x="1883" y="5350"/>
                    </a:lnTo>
                    <a:lnTo>
                      <a:pt x="1939" y="5387"/>
                    </a:lnTo>
                    <a:lnTo>
                      <a:pt x="1995" y="5387"/>
                    </a:lnTo>
                    <a:lnTo>
                      <a:pt x="2126" y="5406"/>
                    </a:lnTo>
                    <a:lnTo>
                      <a:pt x="2293" y="5462"/>
                    </a:lnTo>
                    <a:lnTo>
                      <a:pt x="2592" y="5573"/>
                    </a:lnTo>
                    <a:lnTo>
                      <a:pt x="2890" y="5704"/>
                    </a:lnTo>
                    <a:lnTo>
                      <a:pt x="3225" y="5816"/>
                    </a:lnTo>
                    <a:lnTo>
                      <a:pt x="3393" y="5872"/>
                    </a:lnTo>
                    <a:lnTo>
                      <a:pt x="3580" y="5909"/>
                    </a:lnTo>
                    <a:lnTo>
                      <a:pt x="3785" y="5946"/>
                    </a:lnTo>
                    <a:lnTo>
                      <a:pt x="4400" y="5946"/>
                    </a:lnTo>
                    <a:lnTo>
                      <a:pt x="4586" y="5928"/>
                    </a:lnTo>
                    <a:lnTo>
                      <a:pt x="4772" y="5909"/>
                    </a:lnTo>
                    <a:lnTo>
                      <a:pt x="4940" y="5853"/>
                    </a:lnTo>
                    <a:lnTo>
                      <a:pt x="5108" y="5797"/>
                    </a:lnTo>
                    <a:lnTo>
                      <a:pt x="5238" y="5723"/>
                    </a:lnTo>
                    <a:lnTo>
                      <a:pt x="5332" y="5611"/>
                    </a:lnTo>
                    <a:lnTo>
                      <a:pt x="5388" y="5499"/>
                    </a:lnTo>
                    <a:lnTo>
                      <a:pt x="5425" y="5368"/>
                    </a:lnTo>
                    <a:lnTo>
                      <a:pt x="5425" y="5238"/>
                    </a:lnTo>
                    <a:lnTo>
                      <a:pt x="5406" y="5089"/>
                    </a:lnTo>
                    <a:lnTo>
                      <a:pt x="5481" y="4996"/>
                    </a:lnTo>
                    <a:lnTo>
                      <a:pt x="5537" y="4902"/>
                    </a:lnTo>
                    <a:lnTo>
                      <a:pt x="5574" y="4809"/>
                    </a:lnTo>
                    <a:lnTo>
                      <a:pt x="5611" y="4697"/>
                    </a:lnTo>
                    <a:lnTo>
                      <a:pt x="5630" y="4567"/>
                    </a:lnTo>
                    <a:lnTo>
                      <a:pt x="5630" y="4455"/>
                    </a:lnTo>
                    <a:lnTo>
                      <a:pt x="5630" y="4325"/>
                    </a:lnTo>
                    <a:lnTo>
                      <a:pt x="5593" y="4213"/>
                    </a:lnTo>
                    <a:lnTo>
                      <a:pt x="5667" y="4101"/>
                    </a:lnTo>
                    <a:lnTo>
                      <a:pt x="5723" y="3989"/>
                    </a:lnTo>
                    <a:lnTo>
                      <a:pt x="5742" y="3877"/>
                    </a:lnTo>
                    <a:lnTo>
                      <a:pt x="5779" y="3747"/>
                    </a:lnTo>
                    <a:lnTo>
                      <a:pt x="5779" y="3635"/>
                    </a:lnTo>
                    <a:lnTo>
                      <a:pt x="5760" y="3523"/>
                    </a:lnTo>
                    <a:lnTo>
                      <a:pt x="5742" y="3393"/>
                    </a:lnTo>
                    <a:lnTo>
                      <a:pt x="5704" y="3299"/>
                    </a:lnTo>
                    <a:lnTo>
                      <a:pt x="5798" y="3169"/>
                    </a:lnTo>
                    <a:lnTo>
                      <a:pt x="5872" y="3038"/>
                    </a:lnTo>
                    <a:lnTo>
                      <a:pt x="5909" y="2889"/>
                    </a:lnTo>
                    <a:lnTo>
                      <a:pt x="5928" y="2722"/>
                    </a:lnTo>
                    <a:lnTo>
                      <a:pt x="5909" y="2591"/>
                    </a:lnTo>
                    <a:lnTo>
                      <a:pt x="5872" y="2461"/>
                    </a:lnTo>
                    <a:lnTo>
                      <a:pt x="5816" y="2349"/>
                    </a:lnTo>
                    <a:lnTo>
                      <a:pt x="5723" y="2256"/>
                    </a:lnTo>
                    <a:lnTo>
                      <a:pt x="5630" y="2162"/>
                    </a:lnTo>
                    <a:lnTo>
                      <a:pt x="5518" y="2106"/>
                    </a:lnTo>
                    <a:lnTo>
                      <a:pt x="5388" y="2069"/>
                    </a:lnTo>
                    <a:lnTo>
                      <a:pt x="5238" y="2051"/>
                    </a:lnTo>
                    <a:lnTo>
                      <a:pt x="4064" y="2051"/>
                    </a:lnTo>
                    <a:lnTo>
                      <a:pt x="4101" y="1920"/>
                    </a:lnTo>
                    <a:lnTo>
                      <a:pt x="4157" y="1808"/>
                    </a:lnTo>
                    <a:lnTo>
                      <a:pt x="4288" y="1566"/>
                    </a:lnTo>
                    <a:lnTo>
                      <a:pt x="4344" y="1435"/>
                    </a:lnTo>
                    <a:lnTo>
                      <a:pt x="4400" y="1286"/>
                    </a:lnTo>
                    <a:lnTo>
                      <a:pt x="4437" y="1119"/>
                    </a:lnTo>
                    <a:lnTo>
                      <a:pt x="4456" y="951"/>
                    </a:lnTo>
                    <a:lnTo>
                      <a:pt x="4437" y="802"/>
                    </a:lnTo>
                    <a:lnTo>
                      <a:pt x="4418" y="671"/>
                    </a:lnTo>
                    <a:lnTo>
                      <a:pt x="4400" y="541"/>
                    </a:lnTo>
                    <a:lnTo>
                      <a:pt x="4362" y="447"/>
                    </a:lnTo>
                    <a:lnTo>
                      <a:pt x="4306" y="354"/>
                    </a:lnTo>
                    <a:lnTo>
                      <a:pt x="4251" y="280"/>
                    </a:lnTo>
                    <a:lnTo>
                      <a:pt x="4195" y="205"/>
                    </a:lnTo>
                    <a:lnTo>
                      <a:pt x="4139" y="168"/>
                    </a:lnTo>
                    <a:lnTo>
                      <a:pt x="3990" y="75"/>
                    </a:lnTo>
                    <a:lnTo>
                      <a:pt x="3859" y="37"/>
                    </a:lnTo>
                    <a:lnTo>
                      <a:pt x="3729" y="19"/>
                    </a:lnTo>
                    <a:lnTo>
                      <a:pt x="361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grpSp>
        <p:grpSp>
          <p:nvGrpSpPr>
            <p:cNvPr id="876" name="Google Shape;876;p40"/>
            <p:cNvGrpSpPr/>
            <p:nvPr/>
          </p:nvGrpSpPr>
          <p:grpSpPr>
            <a:xfrm>
              <a:off x="801125" y="3214206"/>
              <a:ext cx="1695900" cy="892144"/>
              <a:chOff x="801125" y="3214206"/>
              <a:chExt cx="1695900" cy="892144"/>
            </a:xfrm>
          </p:grpSpPr>
          <p:sp>
            <p:nvSpPr>
              <p:cNvPr id="877" name="Google Shape;877;p40"/>
              <p:cNvSpPr txBox="1"/>
              <p:nvPr/>
            </p:nvSpPr>
            <p:spPr>
              <a:xfrm>
                <a:off x="801125" y="3469450"/>
                <a:ext cx="1695900" cy="636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200" dirty="0" smtClean="0">
                    <a:solidFill>
                      <a:srgbClr val="434343"/>
                    </a:solidFill>
                    <a:latin typeface="Montserrat"/>
                    <a:ea typeface="Montserrat"/>
                    <a:cs typeface="Montserrat"/>
                    <a:sym typeface="Montserrat"/>
                  </a:rPr>
                  <a:t>ACC (5pts)</a:t>
                </a:r>
                <a:endParaRPr sz="1200" dirty="0">
                  <a:solidFill>
                    <a:srgbClr val="434343"/>
                  </a:solidFill>
                  <a:latin typeface="Montserrat"/>
                  <a:ea typeface="Montserrat"/>
                  <a:cs typeface="Montserrat"/>
                  <a:sym typeface="Montserrat"/>
                </a:endParaRPr>
              </a:p>
            </p:txBody>
          </p:sp>
          <p:sp>
            <p:nvSpPr>
              <p:cNvPr id="878" name="Google Shape;878;p40"/>
              <p:cNvSpPr/>
              <p:nvPr/>
            </p:nvSpPr>
            <p:spPr>
              <a:xfrm>
                <a:off x="1535764" y="3214206"/>
                <a:ext cx="226629" cy="180627"/>
              </a:xfrm>
              <a:custGeom>
                <a:avLst/>
                <a:gdLst/>
                <a:ahLst/>
                <a:cxnLst/>
                <a:rect l="l" t="t" r="r" b="b"/>
                <a:pathLst>
                  <a:path w="7439" h="5929" extrusionOk="0">
                    <a:moveTo>
                      <a:pt x="5947" y="728"/>
                    </a:moveTo>
                    <a:lnTo>
                      <a:pt x="5947" y="3710"/>
                    </a:lnTo>
                    <a:lnTo>
                      <a:pt x="1492" y="3710"/>
                    </a:lnTo>
                    <a:lnTo>
                      <a:pt x="1492" y="728"/>
                    </a:lnTo>
                    <a:close/>
                    <a:moveTo>
                      <a:pt x="1194" y="1"/>
                    </a:moveTo>
                    <a:lnTo>
                      <a:pt x="1101" y="38"/>
                    </a:lnTo>
                    <a:lnTo>
                      <a:pt x="989" y="94"/>
                    </a:lnTo>
                    <a:lnTo>
                      <a:pt x="914" y="150"/>
                    </a:lnTo>
                    <a:lnTo>
                      <a:pt x="840" y="243"/>
                    </a:lnTo>
                    <a:lnTo>
                      <a:pt x="802" y="336"/>
                    </a:lnTo>
                    <a:lnTo>
                      <a:pt x="765" y="430"/>
                    </a:lnTo>
                    <a:lnTo>
                      <a:pt x="746" y="542"/>
                    </a:lnTo>
                    <a:lnTo>
                      <a:pt x="746" y="4437"/>
                    </a:lnTo>
                    <a:lnTo>
                      <a:pt x="6693" y="4437"/>
                    </a:lnTo>
                    <a:lnTo>
                      <a:pt x="6693" y="542"/>
                    </a:lnTo>
                    <a:lnTo>
                      <a:pt x="6674" y="430"/>
                    </a:lnTo>
                    <a:lnTo>
                      <a:pt x="6655" y="336"/>
                    </a:lnTo>
                    <a:lnTo>
                      <a:pt x="6599" y="243"/>
                    </a:lnTo>
                    <a:lnTo>
                      <a:pt x="6525" y="150"/>
                    </a:lnTo>
                    <a:lnTo>
                      <a:pt x="6450" y="94"/>
                    </a:lnTo>
                    <a:lnTo>
                      <a:pt x="6357" y="38"/>
                    </a:lnTo>
                    <a:lnTo>
                      <a:pt x="6245" y="1"/>
                    </a:lnTo>
                    <a:close/>
                    <a:moveTo>
                      <a:pt x="187" y="4810"/>
                    </a:moveTo>
                    <a:lnTo>
                      <a:pt x="131" y="4829"/>
                    </a:lnTo>
                    <a:lnTo>
                      <a:pt x="57" y="4866"/>
                    </a:lnTo>
                    <a:lnTo>
                      <a:pt x="20" y="4941"/>
                    </a:lnTo>
                    <a:lnTo>
                      <a:pt x="1" y="4996"/>
                    </a:lnTo>
                    <a:lnTo>
                      <a:pt x="1" y="5183"/>
                    </a:lnTo>
                    <a:lnTo>
                      <a:pt x="20" y="5332"/>
                    </a:lnTo>
                    <a:lnTo>
                      <a:pt x="75" y="5481"/>
                    </a:lnTo>
                    <a:lnTo>
                      <a:pt x="131" y="5612"/>
                    </a:lnTo>
                    <a:lnTo>
                      <a:pt x="225" y="5705"/>
                    </a:lnTo>
                    <a:lnTo>
                      <a:pt x="336" y="5798"/>
                    </a:lnTo>
                    <a:lnTo>
                      <a:pt x="467" y="5873"/>
                    </a:lnTo>
                    <a:lnTo>
                      <a:pt x="597" y="5910"/>
                    </a:lnTo>
                    <a:lnTo>
                      <a:pt x="746" y="5928"/>
                    </a:lnTo>
                    <a:lnTo>
                      <a:pt x="6693" y="5928"/>
                    </a:lnTo>
                    <a:lnTo>
                      <a:pt x="6842" y="5910"/>
                    </a:lnTo>
                    <a:lnTo>
                      <a:pt x="6972" y="5873"/>
                    </a:lnTo>
                    <a:lnTo>
                      <a:pt x="7103" y="5798"/>
                    </a:lnTo>
                    <a:lnTo>
                      <a:pt x="7214" y="5705"/>
                    </a:lnTo>
                    <a:lnTo>
                      <a:pt x="7308" y="5612"/>
                    </a:lnTo>
                    <a:lnTo>
                      <a:pt x="7382" y="5481"/>
                    </a:lnTo>
                    <a:lnTo>
                      <a:pt x="7420" y="5332"/>
                    </a:lnTo>
                    <a:lnTo>
                      <a:pt x="7438" y="5183"/>
                    </a:lnTo>
                    <a:lnTo>
                      <a:pt x="7438" y="4996"/>
                    </a:lnTo>
                    <a:lnTo>
                      <a:pt x="7420" y="4941"/>
                    </a:lnTo>
                    <a:lnTo>
                      <a:pt x="7382" y="4866"/>
                    </a:lnTo>
                    <a:lnTo>
                      <a:pt x="7326" y="4829"/>
                    </a:lnTo>
                    <a:lnTo>
                      <a:pt x="7252" y="4810"/>
                    </a:lnTo>
                    <a:lnTo>
                      <a:pt x="4437" y="4810"/>
                    </a:lnTo>
                    <a:lnTo>
                      <a:pt x="4419" y="4903"/>
                    </a:lnTo>
                    <a:lnTo>
                      <a:pt x="4400" y="4978"/>
                    </a:lnTo>
                    <a:lnTo>
                      <a:pt x="4363" y="5034"/>
                    </a:lnTo>
                    <a:lnTo>
                      <a:pt x="4325" y="5090"/>
                    </a:lnTo>
                    <a:lnTo>
                      <a:pt x="4269" y="5127"/>
                    </a:lnTo>
                    <a:lnTo>
                      <a:pt x="4195" y="5164"/>
                    </a:lnTo>
                    <a:lnTo>
                      <a:pt x="4139" y="5183"/>
                    </a:lnTo>
                    <a:lnTo>
                      <a:pt x="3263" y="5183"/>
                    </a:lnTo>
                    <a:lnTo>
                      <a:pt x="3207" y="5146"/>
                    </a:lnTo>
                    <a:lnTo>
                      <a:pt x="3132" y="5108"/>
                    </a:lnTo>
                    <a:lnTo>
                      <a:pt x="3076" y="5071"/>
                    </a:lnTo>
                    <a:lnTo>
                      <a:pt x="3039" y="5015"/>
                    </a:lnTo>
                    <a:lnTo>
                      <a:pt x="3002" y="4941"/>
                    </a:lnTo>
                    <a:lnTo>
                      <a:pt x="2983" y="4885"/>
                    </a:lnTo>
                    <a:lnTo>
                      <a:pt x="2965" y="481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grpSp>
      </p:grpSp>
      <p:sp>
        <p:nvSpPr>
          <p:cNvPr id="18" name="Google Shape;878;p40"/>
          <p:cNvSpPr/>
          <p:nvPr/>
        </p:nvSpPr>
        <p:spPr>
          <a:xfrm>
            <a:off x="3447528" y="4364958"/>
            <a:ext cx="226629" cy="240836"/>
          </a:xfrm>
          <a:custGeom>
            <a:avLst/>
            <a:gdLst/>
            <a:ahLst/>
            <a:cxnLst/>
            <a:rect l="l" t="t" r="r" b="b"/>
            <a:pathLst>
              <a:path w="7439" h="5929" extrusionOk="0">
                <a:moveTo>
                  <a:pt x="5947" y="728"/>
                </a:moveTo>
                <a:lnTo>
                  <a:pt x="5947" y="3710"/>
                </a:lnTo>
                <a:lnTo>
                  <a:pt x="1492" y="3710"/>
                </a:lnTo>
                <a:lnTo>
                  <a:pt x="1492" y="728"/>
                </a:lnTo>
                <a:close/>
                <a:moveTo>
                  <a:pt x="1194" y="1"/>
                </a:moveTo>
                <a:lnTo>
                  <a:pt x="1101" y="38"/>
                </a:lnTo>
                <a:lnTo>
                  <a:pt x="989" y="94"/>
                </a:lnTo>
                <a:lnTo>
                  <a:pt x="914" y="150"/>
                </a:lnTo>
                <a:lnTo>
                  <a:pt x="840" y="243"/>
                </a:lnTo>
                <a:lnTo>
                  <a:pt x="802" y="336"/>
                </a:lnTo>
                <a:lnTo>
                  <a:pt x="765" y="430"/>
                </a:lnTo>
                <a:lnTo>
                  <a:pt x="746" y="542"/>
                </a:lnTo>
                <a:lnTo>
                  <a:pt x="746" y="4437"/>
                </a:lnTo>
                <a:lnTo>
                  <a:pt x="6693" y="4437"/>
                </a:lnTo>
                <a:lnTo>
                  <a:pt x="6693" y="542"/>
                </a:lnTo>
                <a:lnTo>
                  <a:pt x="6674" y="430"/>
                </a:lnTo>
                <a:lnTo>
                  <a:pt x="6655" y="336"/>
                </a:lnTo>
                <a:lnTo>
                  <a:pt x="6599" y="243"/>
                </a:lnTo>
                <a:lnTo>
                  <a:pt x="6525" y="150"/>
                </a:lnTo>
                <a:lnTo>
                  <a:pt x="6450" y="94"/>
                </a:lnTo>
                <a:lnTo>
                  <a:pt x="6357" y="38"/>
                </a:lnTo>
                <a:lnTo>
                  <a:pt x="6245" y="1"/>
                </a:lnTo>
                <a:close/>
                <a:moveTo>
                  <a:pt x="187" y="4810"/>
                </a:moveTo>
                <a:lnTo>
                  <a:pt x="131" y="4829"/>
                </a:lnTo>
                <a:lnTo>
                  <a:pt x="57" y="4866"/>
                </a:lnTo>
                <a:lnTo>
                  <a:pt x="20" y="4941"/>
                </a:lnTo>
                <a:lnTo>
                  <a:pt x="1" y="4996"/>
                </a:lnTo>
                <a:lnTo>
                  <a:pt x="1" y="5183"/>
                </a:lnTo>
                <a:lnTo>
                  <a:pt x="20" y="5332"/>
                </a:lnTo>
                <a:lnTo>
                  <a:pt x="75" y="5481"/>
                </a:lnTo>
                <a:lnTo>
                  <a:pt x="131" y="5612"/>
                </a:lnTo>
                <a:lnTo>
                  <a:pt x="225" y="5705"/>
                </a:lnTo>
                <a:lnTo>
                  <a:pt x="336" y="5798"/>
                </a:lnTo>
                <a:lnTo>
                  <a:pt x="467" y="5873"/>
                </a:lnTo>
                <a:lnTo>
                  <a:pt x="597" y="5910"/>
                </a:lnTo>
                <a:lnTo>
                  <a:pt x="746" y="5928"/>
                </a:lnTo>
                <a:lnTo>
                  <a:pt x="6693" y="5928"/>
                </a:lnTo>
                <a:lnTo>
                  <a:pt x="6842" y="5910"/>
                </a:lnTo>
                <a:lnTo>
                  <a:pt x="6972" y="5873"/>
                </a:lnTo>
                <a:lnTo>
                  <a:pt x="7103" y="5798"/>
                </a:lnTo>
                <a:lnTo>
                  <a:pt x="7214" y="5705"/>
                </a:lnTo>
                <a:lnTo>
                  <a:pt x="7308" y="5612"/>
                </a:lnTo>
                <a:lnTo>
                  <a:pt x="7382" y="5481"/>
                </a:lnTo>
                <a:lnTo>
                  <a:pt x="7420" y="5332"/>
                </a:lnTo>
                <a:lnTo>
                  <a:pt x="7438" y="5183"/>
                </a:lnTo>
                <a:lnTo>
                  <a:pt x="7438" y="4996"/>
                </a:lnTo>
                <a:lnTo>
                  <a:pt x="7420" y="4941"/>
                </a:lnTo>
                <a:lnTo>
                  <a:pt x="7382" y="4866"/>
                </a:lnTo>
                <a:lnTo>
                  <a:pt x="7326" y="4829"/>
                </a:lnTo>
                <a:lnTo>
                  <a:pt x="7252" y="4810"/>
                </a:lnTo>
                <a:lnTo>
                  <a:pt x="4437" y="4810"/>
                </a:lnTo>
                <a:lnTo>
                  <a:pt x="4419" y="4903"/>
                </a:lnTo>
                <a:lnTo>
                  <a:pt x="4400" y="4978"/>
                </a:lnTo>
                <a:lnTo>
                  <a:pt x="4363" y="5034"/>
                </a:lnTo>
                <a:lnTo>
                  <a:pt x="4325" y="5090"/>
                </a:lnTo>
                <a:lnTo>
                  <a:pt x="4269" y="5127"/>
                </a:lnTo>
                <a:lnTo>
                  <a:pt x="4195" y="5164"/>
                </a:lnTo>
                <a:lnTo>
                  <a:pt x="4139" y="5183"/>
                </a:lnTo>
                <a:lnTo>
                  <a:pt x="3263" y="5183"/>
                </a:lnTo>
                <a:lnTo>
                  <a:pt x="3207" y="5146"/>
                </a:lnTo>
                <a:lnTo>
                  <a:pt x="3132" y="5108"/>
                </a:lnTo>
                <a:lnTo>
                  <a:pt x="3076" y="5071"/>
                </a:lnTo>
                <a:lnTo>
                  <a:pt x="3039" y="5015"/>
                </a:lnTo>
                <a:lnTo>
                  <a:pt x="3002" y="4941"/>
                </a:lnTo>
                <a:lnTo>
                  <a:pt x="2983" y="4885"/>
                </a:lnTo>
                <a:lnTo>
                  <a:pt x="2965" y="481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sp>
        <p:nvSpPr>
          <p:cNvPr id="19" name="Google Shape;878;p40"/>
          <p:cNvSpPr/>
          <p:nvPr/>
        </p:nvSpPr>
        <p:spPr>
          <a:xfrm>
            <a:off x="5356531" y="4271086"/>
            <a:ext cx="226629" cy="240836"/>
          </a:xfrm>
          <a:custGeom>
            <a:avLst/>
            <a:gdLst/>
            <a:ahLst/>
            <a:cxnLst/>
            <a:rect l="l" t="t" r="r" b="b"/>
            <a:pathLst>
              <a:path w="7439" h="5929" extrusionOk="0">
                <a:moveTo>
                  <a:pt x="5947" y="728"/>
                </a:moveTo>
                <a:lnTo>
                  <a:pt x="5947" y="3710"/>
                </a:lnTo>
                <a:lnTo>
                  <a:pt x="1492" y="3710"/>
                </a:lnTo>
                <a:lnTo>
                  <a:pt x="1492" y="728"/>
                </a:lnTo>
                <a:close/>
                <a:moveTo>
                  <a:pt x="1194" y="1"/>
                </a:moveTo>
                <a:lnTo>
                  <a:pt x="1101" y="38"/>
                </a:lnTo>
                <a:lnTo>
                  <a:pt x="989" y="94"/>
                </a:lnTo>
                <a:lnTo>
                  <a:pt x="914" y="150"/>
                </a:lnTo>
                <a:lnTo>
                  <a:pt x="840" y="243"/>
                </a:lnTo>
                <a:lnTo>
                  <a:pt x="802" y="336"/>
                </a:lnTo>
                <a:lnTo>
                  <a:pt x="765" y="430"/>
                </a:lnTo>
                <a:lnTo>
                  <a:pt x="746" y="542"/>
                </a:lnTo>
                <a:lnTo>
                  <a:pt x="746" y="4437"/>
                </a:lnTo>
                <a:lnTo>
                  <a:pt x="6693" y="4437"/>
                </a:lnTo>
                <a:lnTo>
                  <a:pt x="6693" y="542"/>
                </a:lnTo>
                <a:lnTo>
                  <a:pt x="6674" y="430"/>
                </a:lnTo>
                <a:lnTo>
                  <a:pt x="6655" y="336"/>
                </a:lnTo>
                <a:lnTo>
                  <a:pt x="6599" y="243"/>
                </a:lnTo>
                <a:lnTo>
                  <a:pt x="6525" y="150"/>
                </a:lnTo>
                <a:lnTo>
                  <a:pt x="6450" y="94"/>
                </a:lnTo>
                <a:lnTo>
                  <a:pt x="6357" y="38"/>
                </a:lnTo>
                <a:lnTo>
                  <a:pt x="6245" y="1"/>
                </a:lnTo>
                <a:close/>
                <a:moveTo>
                  <a:pt x="187" y="4810"/>
                </a:moveTo>
                <a:lnTo>
                  <a:pt x="131" y="4829"/>
                </a:lnTo>
                <a:lnTo>
                  <a:pt x="57" y="4866"/>
                </a:lnTo>
                <a:lnTo>
                  <a:pt x="20" y="4941"/>
                </a:lnTo>
                <a:lnTo>
                  <a:pt x="1" y="4996"/>
                </a:lnTo>
                <a:lnTo>
                  <a:pt x="1" y="5183"/>
                </a:lnTo>
                <a:lnTo>
                  <a:pt x="20" y="5332"/>
                </a:lnTo>
                <a:lnTo>
                  <a:pt x="75" y="5481"/>
                </a:lnTo>
                <a:lnTo>
                  <a:pt x="131" y="5612"/>
                </a:lnTo>
                <a:lnTo>
                  <a:pt x="225" y="5705"/>
                </a:lnTo>
                <a:lnTo>
                  <a:pt x="336" y="5798"/>
                </a:lnTo>
                <a:lnTo>
                  <a:pt x="467" y="5873"/>
                </a:lnTo>
                <a:lnTo>
                  <a:pt x="597" y="5910"/>
                </a:lnTo>
                <a:lnTo>
                  <a:pt x="746" y="5928"/>
                </a:lnTo>
                <a:lnTo>
                  <a:pt x="6693" y="5928"/>
                </a:lnTo>
                <a:lnTo>
                  <a:pt x="6842" y="5910"/>
                </a:lnTo>
                <a:lnTo>
                  <a:pt x="6972" y="5873"/>
                </a:lnTo>
                <a:lnTo>
                  <a:pt x="7103" y="5798"/>
                </a:lnTo>
                <a:lnTo>
                  <a:pt x="7214" y="5705"/>
                </a:lnTo>
                <a:lnTo>
                  <a:pt x="7308" y="5612"/>
                </a:lnTo>
                <a:lnTo>
                  <a:pt x="7382" y="5481"/>
                </a:lnTo>
                <a:lnTo>
                  <a:pt x="7420" y="5332"/>
                </a:lnTo>
                <a:lnTo>
                  <a:pt x="7438" y="5183"/>
                </a:lnTo>
                <a:lnTo>
                  <a:pt x="7438" y="4996"/>
                </a:lnTo>
                <a:lnTo>
                  <a:pt x="7420" y="4941"/>
                </a:lnTo>
                <a:lnTo>
                  <a:pt x="7382" y="4866"/>
                </a:lnTo>
                <a:lnTo>
                  <a:pt x="7326" y="4829"/>
                </a:lnTo>
                <a:lnTo>
                  <a:pt x="7252" y="4810"/>
                </a:lnTo>
                <a:lnTo>
                  <a:pt x="4437" y="4810"/>
                </a:lnTo>
                <a:lnTo>
                  <a:pt x="4419" y="4903"/>
                </a:lnTo>
                <a:lnTo>
                  <a:pt x="4400" y="4978"/>
                </a:lnTo>
                <a:lnTo>
                  <a:pt x="4363" y="5034"/>
                </a:lnTo>
                <a:lnTo>
                  <a:pt x="4325" y="5090"/>
                </a:lnTo>
                <a:lnTo>
                  <a:pt x="4269" y="5127"/>
                </a:lnTo>
                <a:lnTo>
                  <a:pt x="4195" y="5164"/>
                </a:lnTo>
                <a:lnTo>
                  <a:pt x="4139" y="5183"/>
                </a:lnTo>
                <a:lnTo>
                  <a:pt x="3263" y="5183"/>
                </a:lnTo>
                <a:lnTo>
                  <a:pt x="3207" y="5146"/>
                </a:lnTo>
                <a:lnTo>
                  <a:pt x="3132" y="5108"/>
                </a:lnTo>
                <a:lnTo>
                  <a:pt x="3076" y="5071"/>
                </a:lnTo>
                <a:lnTo>
                  <a:pt x="3039" y="5015"/>
                </a:lnTo>
                <a:lnTo>
                  <a:pt x="3002" y="4941"/>
                </a:lnTo>
                <a:lnTo>
                  <a:pt x="2983" y="4885"/>
                </a:lnTo>
                <a:lnTo>
                  <a:pt x="2965" y="481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spTree>
    <p:extLst>
      <p:ext uri="{BB962C8B-B14F-4D97-AF65-F5344CB8AC3E}">
        <p14:creationId xmlns:p14="http://schemas.microsoft.com/office/powerpoint/2010/main" val="416662231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smtClean="0"/>
              <a:t>$_SERVER</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75</a:t>
            </a:fld>
            <a:endParaRPr lang="fr-FR"/>
          </a:p>
        </p:txBody>
      </p:sp>
      <p:sp>
        <p:nvSpPr>
          <p:cNvPr id="3" name="Espace réservé du contenu 2"/>
          <p:cNvSpPr>
            <a:spLocks noGrp="1"/>
          </p:cNvSpPr>
          <p:nvPr>
            <p:ph sz="quarter" idx="1"/>
          </p:nvPr>
        </p:nvSpPr>
        <p:spPr/>
        <p:txBody>
          <a:bodyPr/>
          <a:lstStyle/>
          <a:p>
            <a:endParaRPr lang="fr-FR" dirty="0" smtClean="0"/>
          </a:p>
          <a:p>
            <a:r>
              <a:rPr lang="fr-FR" dirty="0"/>
              <a:t> </a:t>
            </a:r>
            <a:r>
              <a:rPr lang="fr-FR" dirty="0" err="1"/>
              <a:t>print_r</a:t>
            </a:r>
            <a:r>
              <a:rPr lang="fr-FR" dirty="0"/>
              <a:t>($_SERVER);</a:t>
            </a:r>
          </a:p>
          <a:p>
            <a:endParaRPr lang="fr-FR" dirty="0" smtClean="0"/>
          </a:p>
          <a:p>
            <a:r>
              <a:rPr lang="fr-FR"/>
              <a:t>$_SERVER['REQUEST_METHOD']</a:t>
            </a:r>
            <a:endParaRPr lang="fr-FR" dirty="0"/>
          </a:p>
        </p:txBody>
      </p:sp>
    </p:spTree>
    <p:extLst>
      <p:ext uri="{BB962C8B-B14F-4D97-AF65-F5344CB8AC3E}">
        <p14:creationId xmlns:p14="http://schemas.microsoft.com/office/powerpoint/2010/main" val="73290064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smtClean="0"/>
              <a:t>$_REQUEST</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76</a:t>
            </a:fld>
            <a:endParaRPr lang="fr-F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2852936"/>
            <a:ext cx="6219825" cy="218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0115760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Ternary</a:t>
            </a:r>
            <a:r>
              <a:rPr lang="fr-FR" dirty="0"/>
              <a:t> </a:t>
            </a:r>
            <a:r>
              <a:rPr lang="fr-FR" dirty="0" err="1"/>
              <a:t>operator</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77</a:t>
            </a:fld>
            <a:endParaRPr lang="fr-F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492896"/>
            <a:ext cx="7772400" cy="1872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8765682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err="1"/>
              <a:t>Coalescing</a:t>
            </a:r>
            <a:r>
              <a:rPr lang="fr-FR" dirty="0"/>
              <a:t> </a:t>
            </a:r>
            <a:r>
              <a:rPr lang="fr-FR" dirty="0" err="1" smtClean="0"/>
              <a:t>Operator</a:t>
            </a:r>
            <a:r>
              <a:rPr lang="fr-FR" dirty="0" smtClean="0"/>
              <a:t> (PHP 7)</a:t>
            </a:r>
            <a:r>
              <a:rPr lang="fr-FR" dirty="0"/>
              <a:t/>
            </a:r>
            <a:br>
              <a:rPr lang="fr-FR" dirty="0"/>
            </a:b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78</a:t>
            </a:fld>
            <a:endParaRPr lang="fr-F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2060848"/>
            <a:ext cx="7848871" cy="280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0986693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re 1"/>
          <p:cNvSpPr>
            <a:spLocks noGrp="1"/>
          </p:cNvSpPr>
          <p:nvPr>
            <p:ph type="title"/>
          </p:nvPr>
        </p:nvSpPr>
        <p:spPr>
          <a:xfrm>
            <a:off x="2357438" y="2928938"/>
            <a:ext cx="4857750" cy="1071562"/>
          </a:xfrm>
        </p:spPr>
        <p:txBody>
          <a:bodyPr/>
          <a:lstStyle/>
          <a:p>
            <a:r>
              <a:rPr lang="fr-FR" sz="4800" smtClean="0"/>
              <a:t>Les Sessions</a:t>
            </a:r>
          </a:p>
        </p:txBody>
      </p:sp>
      <p:sp>
        <p:nvSpPr>
          <p:cNvPr id="4" name="Espace réservé du numéro de diapositive 3"/>
          <p:cNvSpPr>
            <a:spLocks noGrp="1"/>
          </p:cNvSpPr>
          <p:nvPr>
            <p:ph type="sldNum" sz="quarter" idx="12"/>
          </p:nvPr>
        </p:nvSpPr>
        <p:spPr/>
        <p:txBody>
          <a:bodyPr/>
          <a:lstStyle/>
          <a:p>
            <a:pPr>
              <a:defRPr/>
            </a:pPr>
            <a:fld id="{405D9782-F183-4F20-A821-ABDCCD8D8B5A}" type="slidenum">
              <a:rPr lang="fr-FR" smtClean="0"/>
              <a:pPr>
                <a:defRPr/>
              </a:pPr>
              <a:t>79</a:t>
            </a:fld>
            <a:endParaRPr lang="fr-F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re 1"/>
          <p:cNvSpPr>
            <a:spLocks noGrp="1"/>
          </p:cNvSpPr>
          <p:nvPr>
            <p:ph type="title"/>
          </p:nvPr>
        </p:nvSpPr>
        <p:spPr/>
        <p:txBody>
          <a:bodyPr>
            <a:normAutofit fontScale="90000"/>
          </a:bodyPr>
          <a:lstStyle/>
          <a:p>
            <a:r>
              <a:rPr lang="fr-FR" sz="2400" dirty="0" smtClean="0"/>
              <a:t>conserver des variables  de page en pages</a:t>
            </a:r>
            <a:br>
              <a:rPr lang="fr-FR" sz="2400" dirty="0" smtClean="0"/>
            </a:br>
            <a:r>
              <a:rPr lang="fr-FR" sz="2400" dirty="0" smtClean="0"/>
              <a:t>(rendre des variables </a:t>
            </a:r>
            <a:r>
              <a:rPr lang="fr-FR" sz="2400" smtClean="0"/>
              <a:t>accéssibles </a:t>
            </a:r>
            <a:r>
              <a:rPr lang="fr-FR" sz="2400" dirty="0" smtClean="0"/>
              <a:t>dans plusieurs pages)</a:t>
            </a:r>
            <a:br>
              <a:rPr lang="fr-FR" sz="2400" dirty="0" smtClean="0"/>
            </a:br>
            <a:endParaRPr lang="fr-FR" sz="2400" dirty="0" smtClean="0"/>
          </a:p>
        </p:txBody>
      </p:sp>
      <p:sp>
        <p:nvSpPr>
          <p:cNvPr id="4" name="Espace réservé du numéro de diapositive 3"/>
          <p:cNvSpPr>
            <a:spLocks noGrp="1"/>
          </p:cNvSpPr>
          <p:nvPr>
            <p:ph type="sldNum" sz="quarter" idx="12"/>
          </p:nvPr>
        </p:nvSpPr>
        <p:spPr/>
        <p:txBody>
          <a:bodyPr/>
          <a:lstStyle/>
          <a:p>
            <a:pPr>
              <a:defRPr/>
            </a:pPr>
            <a:fld id="{4F33B929-F8CE-487A-AE03-77C018844AF9}" type="slidenum">
              <a:rPr lang="fr-FR" smtClean="0"/>
              <a:pPr>
                <a:defRPr/>
              </a:pPr>
              <a:t>80</a:t>
            </a:fld>
            <a:endParaRPr lang="fr-FR"/>
          </a:p>
        </p:txBody>
      </p:sp>
      <p:pic>
        <p:nvPicPr>
          <p:cNvPr id="74756" name="Picture 3"/>
          <p:cNvPicPr>
            <a:picLocks noGrp="1" noChangeAspect="1" noChangeArrowheads="1"/>
          </p:cNvPicPr>
          <p:nvPr>
            <p:ph sz="quarter" idx="1"/>
          </p:nvPr>
        </p:nvPicPr>
        <p:blipFill>
          <a:blip r:embed="rId2"/>
          <a:stretch>
            <a:fillRect/>
          </a:stretch>
        </p:blipFill>
        <p:spPr>
          <a:xfrm>
            <a:off x="1700600" y="2814752"/>
            <a:ext cx="6200000" cy="1838095"/>
          </a:xfrm>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re 1"/>
          <p:cNvSpPr>
            <a:spLocks noGrp="1"/>
          </p:cNvSpPr>
          <p:nvPr>
            <p:ph type="title"/>
          </p:nvPr>
        </p:nvSpPr>
        <p:spPr/>
        <p:txBody>
          <a:bodyPr/>
          <a:lstStyle/>
          <a:p>
            <a:r>
              <a:rPr lang="fr-FR" smtClean="0"/>
              <a:t>Bonne solution :Les sessions</a:t>
            </a:r>
          </a:p>
        </p:txBody>
      </p:sp>
      <p:sp>
        <p:nvSpPr>
          <p:cNvPr id="4" name="Espace réservé du numéro de diapositive 3"/>
          <p:cNvSpPr>
            <a:spLocks noGrp="1"/>
          </p:cNvSpPr>
          <p:nvPr>
            <p:ph type="sldNum" sz="quarter" idx="12"/>
          </p:nvPr>
        </p:nvSpPr>
        <p:spPr/>
        <p:txBody>
          <a:bodyPr/>
          <a:lstStyle/>
          <a:p>
            <a:pPr>
              <a:defRPr/>
            </a:pPr>
            <a:fld id="{BC38DDCE-31EC-4AFE-849E-A7925945F045}" type="slidenum">
              <a:rPr lang="fr-FR" smtClean="0"/>
              <a:pPr>
                <a:defRPr/>
              </a:pPr>
              <a:t>81</a:t>
            </a:fld>
            <a:endParaRPr lang="fr-FR"/>
          </a:p>
        </p:txBody>
      </p:sp>
      <p:sp>
        <p:nvSpPr>
          <p:cNvPr id="75779" name="Espace réservé du contenu 2"/>
          <p:cNvSpPr>
            <a:spLocks noGrp="1"/>
          </p:cNvSpPr>
          <p:nvPr>
            <p:ph sz="quarter" idx="1"/>
          </p:nvPr>
        </p:nvSpPr>
        <p:spPr/>
        <p:txBody>
          <a:bodyPr/>
          <a:lstStyle/>
          <a:p>
            <a:r>
              <a:rPr lang="fr-FR" smtClean="0"/>
              <a:t>Définition : c’est un moyen qui permet de conserver les informations de façon simple et de les réutiliser dans toutes les pages d’un site pour un même visiteur.</a:t>
            </a:r>
          </a:p>
          <a:p>
            <a:r>
              <a:rPr lang="fr-FR" smtClean="0"/>
              <a:t> Aucun autre visiteur n’a accès à ces données.</a:t>
            </a:r>
          </a:p>
          <a:p>
            <a:endParaRPr lang="fr-FR" smtClean="0"/>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re 1"/>
          <p:cNvSpPr>
            <a:spLocks noGrp="1"/>
          </p:cNvSpPr>
          <p:nvPr>
            <p:ph type="title"/>
          </p:nvPr>
        </p:nvSpPr>
        <p:spPr/>
        <p:txBody>
          <a:bodyPr/>
          <a:lstStyle/>
          <a:p>
            <a:r>
              <a:rPr lang="fr-FR" smtClean="0"/>
              <a:t>Fonctionnement des sessions</a:t>
            </a:r>
          </a:p>
        </p:txBody>
      </p:sp>
      <p:sp>
        <p:nvSpPr>
          <p:cNvPr id="4" name="Espace réservé du numéro de diapositive 3"/>
          <p:cNvSpPr>
            <a:spLocks noGrp="1"/>
          </p:cNvSpPr>
          <p:nvPr>
            <p:ph type="sldNum" sz="quarter" idx="12"/>
          </p:nvPr>
        </p:nvSpPr>
        <p:spPr/>
        <p:txBody>
          <a:bodyPr/>
          <a:lstStyle/>
          <a:p>
            <a:pPr>
              <a:defRPr/>
            </a:pPr>
            <a:fld id="{8B5F1D2D-DA4B-4073-8A12-379DC135F9BA}" type="slidenum">
              <a:rPr lang="fr-FR" smtClean="0"/>
              <a:pPr>
                <a:defRPr/>
              </a:pPr>
              <a:t>82</a:t>
            </a:fld>
            <a:endParaRPr lang="fr-FR"/>
          </a:p>
        </p:txBody>
      </p:sp>
      <p:sp>
        <p:nvSpPr>
          <p:cNvPr id="76803" name="Espace réservé du contenu 2"/>
          <p:cNvSpPr>
            <a:spLocks noGrp="1"/>
          </p:cNvSpPr>
          <p:nvPr>
            <p:ph sz="quarter" idx="1"/>
          </p:nvPr>
        </p:nvSpPr>
        <p:spPr/>
        <p:txBody>
          <a:bodyPr/>
          <a:lstStyle/>
          <a:p>
            <a:pPr eaLnBrk="1" hangingPunct="1"/>
            <a:r>
              <a:rPr lang="fr-FR" sz="2000" smtClean="0"/>
              <a:t>1. Une fois un visiteur arrive sur votre site. On demande à créer une session pour lui. PHP génère alors un numéro unique. Ce numéro est souvent très gros et écrit en hexadécimal1,par exemple : a02bbffc6198e6e</a:t>
            </a:r>
          </a:p>
          <a:p>
            <a:pPr eaLnBrk="1" hangingPunct="1">
              <a:buFont typeface="Wingdings" pitchFamily="2" charset="2"/>
              <a:buNone/>
            </a:pPr>
            <a:r>
              <a:rPr lang="fr-FR" sz="2000" smtClean="0"/>
              <a:t>     0cc2715047bc3766f.</a:t>
            </a:r>
          </a:p>
          <a:p>
            <a:pPr eaLnBrk="1" hangingPunct="1">
              <a:buFont typeface="Wingdings" pitchFamily="2" charset="2"/>
              <a:buNone/>
            </a:pPr>
            <a:endParaRPr lang="fr-FR" sz="2000" smtClean="0"/>
          </a:p>
          <a:p>
            <a:pPr eaLnBrk="1" hangingPunct="1"/>
            <a:r>
              <a:rPr lang="fr-FR" sz="2000" smtClean="0"/>
              <a:t>2. Une fois la session générée, on peut créer une infinité de variables de session pour nos besoins. Par exemple, on peut créer une variable $_SESSION[’nom’] qui contient le nom du visiteur, $_SESSION[’prenom’] qui contient le prénom, etc.Le serveur conserve ces variables même lorsque la page PHP a fini d’être générée.</a:t>
            </a:r>
          </a:p>
          <a:p>
            <a:pPr eaLnBrk="1" hangingPunct="1"/>
            <a:endParaRPr lang="fr-FR" sz="2000" smtClean="0"/>
          </a:p>
          <a:p>
            <a:pPr eaLnBrk="1" hangingPunct="1"/>
            <a:r>
              <a:rPr lang="fr-FR" sz="2000" smtClean="0"/>
              <a:t>3. Lorsque le visiteur se déconnecte de votre site, la session est fermée et PHP« oublie » alors toutes les variables de session que vous avez créées.</a:t>
            </a:r>
          </a:p>
          <a:p>
            <a:endParaRPr lang="fr-FR" sz="2000" smtClean="0"/>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re 1"/>
          <p:cNvSpPr>
            <a:spLocks noGrp="1"/>
          </p:cNvSpPr>
          <p:nvPr>
            <p:ph type="title"/>
          </p:nvPr>
        </p:nvSpPr>
        <p:spPr/>
        <p:txBody>
          <a:bodyPr/>
          <a:lstStyle/>
          <a:p>
            <a:r>
              <a:rPr lang="fr-FR" smtClean="0"/>
              <a:t>Utilisation en php</a:t>
            </a:r>
          </a:p>
        </p:txBody>
      </p:sp>
      <p:sp>
        <p:nvSpPr>
          <p:cNvPr id="4" name="Espace réservé du numéro de diapositive 3"/>
          <p:cNvSpPr>
            <a:spLocks noGrp="1"/>
          </p:cNvSpPr>
          <p:nvPr>
            <p:ph type="sldNum" sz="quarter" idx="12"/>
          </p:nvPr>
        </p:nvSpPr>
        <p:spPr/>
        <p:txBody>
          <a:bodyPr/>
          <a:lstStyle/>
          <a:p>
            <a:pPr>
              <a:defRPr/>
            </a:pPr>
            <a:fld id="{0B0E5F78-283D-4635-9499-13C670C9B667}" type="slidenum">
              <a:rPr lang="fr-FR" smtClean="0"/>
              <a:pPr>
                <a:defRPr/>
              </a:pPr>
              <a:t>83</a:t>
            </a:fld>
            <a:endParaRPr lang="fr-FR"/>
          </a:p>
        </p:txBody>
      </p:sp>
      <p:sp>
        <p:nvSpPr>
          <p:cNvPr id="77827" name="Espace réservé du contenu 2"/>
          <p:cNvSpPr>
            <a:spLocks noGrp="1"/>
          </p:cNvSpPr>
          <p:nvPr>
            <p:ph sz="quarter" idx="1"/>
          </p:nvPr>
        </p:nvSpPr>
        <p:spPr>
          <a:xfrm>
            <a:off x="914400" y="1447800"/>
            <a:ext cx="7772400" cy="5410200"/>
          </a:xfrm>
        </p:spPr>
        <p:txBody>
          <a:bodyPr/>
          <a:lstStyle/>
          <a:p>
            <a:pPr eaLnBrk="1" hangingPunct="1"/>
            <a:r>
              <a:rPr lang="fr-FR" sz="2800" smtClean="0"/>
              <a:t>session_start() : pour démarrer(pour la premiere fois) ou récupérer une session. Vous devez appeler cette fonction au tout début de chacune des pages où vous avez besoin des variables de session.</a:t>
            </a:r>
          </a:p>
          <a:p>
            <a:pPr eaLnBrk="1" hangingPunct="1"/>
            <a:endParaRPr lang="fr-FR" sz="2800" smtClean="0"/>
          </a:p>
          <a:p>
            <a:pPr eaLnBrk="1" hangingPunct="1"/>
            <a:r>
              <a:rPr lang="fr-FR" sz="2800" smtClean="0"/>
              <a:t>session_destroy() : ferme la session du visiteur. Cette fonction est automatiquement appelée lorsque le visiteur ne charge plus de page de votre site pendant plusieurs minutes (c’est le timeout), mais vous pouvez aussi créer une page « Déconnexion »si le visiteur souhaite se déconnecter manuellement.</a:t>
            </a:r>
          </a:p>
          <a:p>
            <a:endParaRPr lang="fr-FR" smtClean="0"/>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re 1"/>
          <p:cNvSpPr>
            <a:spLocks noGrp="1"/>
          </p:cNvSpPr>
          <p:nvPr>
            <p:ph type="title"/>
          </p:nvPr>
        </p:nvSpPr>
        <p:spPr/>
        <p:txBody>
          <a:bodyPr>
            <a:normAutofit fontScale="90000"/>
          </a:bodyPr>
          <a:lstStyle/>
          <a:p>
            <a:r>
              <a:rPr lang="fr-FR" smtClean="0"/>
              <a:t>Exemples courants de leur mise en application </a:t>
            </a:r>
          </a:p>
        </p:txBody>
      </p:sp>
      <p:sp>
        <p:nvSpPr>
          <p:cNvPr id="4" name="Espace réservé du numéro de diapositive 3"/>
          <p:cNvSpPr>
            <a:spLocks noGrp="1"/>
          </p:cNvSpPr>
          <p:nvPr>
            <p:ph type="sldNum" sz="quarter" idx="12"/>
          </p:nvPr>
        </p:nvSpPr>
        <p:spPr/>
        <p:txBody>
          <a:bodyPr/>
          <a:lstStyle/>
          <a:p>
            <a:pPr>
              <a:defRPr/>
            </a:pPr>
            <a:fld id="{517F6FF7-3F39-40FB-B42A-26362667C9E3}" type="slidenum">
              <a:rPr lang="fr-FR" smtClean="0"/>
              <a:pPr>
                <a:defRPr/>
              </a:pPr>
              <a:t>84</a:t>
            </a:fld>
            <a:endParaRPr lang="fr-FR"/>
          </a:p>
        </p:txBody>
      </p:sp>
      <p:sp>
        <p:nvSpPr>
          <p:cNvPr id="78851" name="Espace réservé du contenu 2"/>
          <p:cNvSpPr>
            <a:spLocks noGrp="1"/>
          </p:cNvSpPr>
          <p:nvPr>
            <p:ph sz="quarter" idx="1"/>
          </p:nvPr>
        </p:nvSpPr>
        <p:spPr/>
        <p:txBody>
          <a:bodyPr/>
          <a:lstStyle/>
          <a:p>
            <a:pPr eaLnBrk="1" hangingPunct="1"/>
            <a:endParaRPr lang="fr-FR" dirty="0" smtClean="0"/>
          </a:p>
          <a:p>
            <a:pPr eaLnBrk="1" hangingPunct="1"/>
            <a:endParaRPr lang="fr-FR" dirty="0" smtClean="0"/>
          </a:p>
          <a:p>
            <a:pPr eaLnBrk="1" hangingPunct="1"/>
            <a:r>
              <a:rPr lang="fr-FR" dirty="0" smtClean="0"/>
              <a:t>authentifier un visiteur.</a:t>
            </a:r>
          </a:p>
          <a:p>
            <a:pPr eaLnBrk="1" hangingPunct="1"/>
            <a:endParaRPr lang="fr-FR" dirty="0" smtClean="0"/>
          </a:p>
          <a:p>
            <a:pPr eaLnBrk="1" hangingPunct="1"/>
            <a:endParaRPr lang="fr-FR" dirty="0" smtClean="0"/>
          </a:p>
          <a:p>
            <a:pPr eaLnBrk="1" hangingPunct="1"/>
            <a:endParaRPr lang="fr-FR" dirty="0" smtClean="0"/>
          </a:p>
          <a:p>
            <a:pPr eaLnBrk="1" hangingPunct="1"/>
            <a:r>
              <a:rPr lang="fr-FR" dirty="0" smtClean="0"/>
              <a:t> gérer le panier d’achat d’un internaute sur votre </a:t>
            </a:r>
            <a:r>
              <a:rPr lang="fr-FR" smtClean="0"/>
              <a:t>site e-commerce. </a:t>
            </a:r>
            <a:endParaRPr lang="fr-FR" dirty="0" smtClean="0"/>
          </a:p>
          <a:p>
            <a:endParaRPr lang="fr-FR" dirty="0" smtClean="0"/>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re 1"/>
          <p:cNvSpPr>
            <a:spLocks noGrp="1"/>
          </p:cNvSpPr>
          <p:nvPr>
            <p:ph type="title"/>
          </p:nvPr>
        </p:nvSpPr>
        <p:spPr>
          <a:xfrm>
            <a:off x="2571750" y="3000375"/>
            <a:ext cx="5214938" cy="1143000"/>
          </a:xfrm>
        </p:spPr>
        <p:txBody>
          <a:bodyPr/>
          <a:lstStyle/>
          <a:p>
            <a:r>
              <a:rPr lang="fr-FR" sz="4800" dirty="0" smtClean="0"/>
              <a:t>Les Cookies</a:t>
            </a:r>
          </a:p>
        </p:txBody>
      </p:sp>
      <p:sp>
        <p:nvSpPr>
          <p:cNvPr id="4" name="Espace réservé du numéro de diapositive 3"/>
          <p:cNvSpPr>
            <a:spLocks noGrp="1"/>
          </p:cNvSpPr>
          <p:nvPr>
            <p:ph type="sldNum" sz="quarter" idx="12"/>
          </p:nvPr>
        </p:nvSpPr>
        <p:spPr/>
        <p:txBody>
          <a:bodyPr/>
          <a:lstStyle/>
          <a:p>
            <a:pPr>
              <a:defRPr/>
            </a:pPr>
            <a:fld id="{276C0A58-5A7B-4B2C-89B6-77F738EB5A79}" type="slidenum">
              <a:rPr lang="fr-FR" smtClean="0"/>
              <a:pPr>
                <a:defRPr/>
              </a:pPr>
              <a:t>85</a:t>
            </a:fld>
            <a:endParaRPr lang="fr-F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re 1"/>
          <p:cNvSpPr>
            <a:spLocks noGrp="1"/>
          </p:cNvSpPr>
          <p:nvPr>
            <p:ph type="title"/>
          </p:nvPr>
        </p:nvSpPr>
        <p:spPr>
          <a:xfrm>
            <a:off x="928688" y="285750"/>
            <a:ext cx="7772400" cy="1143000"/>
          </a:xfrm>
        </p:spPr>
        <p:txBody>
          <a:bodyPr>
            <a:normAutofit fontScale="90000"/>
          </a:bodyPr>
          <a:lstStyle/>
          <a:p>
            <a:r>
              <a:rPr lang="fr-FR" dirty="0" smtClean="0"/>
              <a:t>Authentification persistante</a:t>
            </a:r>
            <a:br>
              <a:rPr lang="fr-FR" dirty="0" smtClean="0"/>
            </a:br>
            <a:endParaRPr lang="fr-FR" dirty="0" smtClean="0"/>
          </a:p>
        </p:txBody>
      </p:sp>
      <p:sp>
        <p:nvSpPr>
          <p:cNvPr id="4" name="Espace réservé du numéro de diapositive 3"/>
          <p:cNvSpPr>
            <a:spLocks noGrp="1"/>
          </p:cNvSpPr>
          <p:nvPr>
            <p:ph type="sldNum" sz="quarter" idx="12"/>
          </p:nvPr>
        </p:nvSpPr>
        <p:spPr/>
        <p:txBody>
          <a:bodyPr/>
          <a:lstStyle/>
          <a:p>
            <a:pPr>
              <a:defRPr/>
            </a:pPr>
            <a:fld id="{FB276B73-C878-4C61-85D9-71029C5D92C5}" type="slidenum">
              <a:rPr lang="fr-FR" smtClean="0"/>
              <a:pPr>
                <a:defRPr/>
              </a:pPr>
              <a:t>86</a:t>
            </a:fld>
            <a:endParaRPr lang="fr-FR"/>
          </a:p>
        </p:txBody>
      </p:sp>
      <p:pic>
        <p:nvPicPr>
          <p:cNvPr id="80900" name="Picture 2"/>
          <p:cNvPicPr>
            <a:picLocks noChangeAspect="1" noChangeArrowheads="1"/>
          </p:cNvPicPr>
          <p:nvPr/>
        </p:nvPicPr>
        <p:blipFill>
          <a:blip r:embed="rId2"/>
          <a:srcRect/>
          <a:stretch>
            <a:fillRect/>
          </a:stretch>
        </p:blipFill>
        <p:spPr bwMode="auto">
          <a:xfrm>
            <a:off x="1052513" y="1543050"/>
            <a:ext cx="7038975" cy="37719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re 1"/>
          <p:cNvSpPr>
            <a:spLocks noGrp="1"/>
          </p:cNvSpPr>
          <p:nvPr>
            <p:ph type="title"/>
          </p:nvPr>
        </p:nvSpPr>
        <p:spPr/>
        <p:txBody>
          <a:bodyPr/>
          <a:lstStyle/>
          <a:p>
            <a:endParaRPr lang="fr-FR" smtClean="0"/>
          </a:p>
        </p:txBody>
      </p:sp>
      <p:sp>
        <p:nvSpPr>
          <p:cNvPr id="4" name="Espace réservé du numéro de diapositive 3"/>
          <p:cNvSpPr>
            <a:spLocks noGrp="1"/>
          </p:cNvSpPr>
          <p:nvPr>
            <p:ph type="sldNum" sz="quarter" idx="12"/>
          </p:nvPr>
        </p:nvSpPr>
        <p:spPr/>
        <p:txBody>
          <a:bodyPr/>
          <a:lstStyle/>
          <a:p>
            <a:pPr>
              <a:defRPr/>
            </a:pPr>
            <a:fld id="{C557870F-A6BB-40EC-BA69-27D1D0A187B7}" type="slidenum">
              <a:rPr lang="fr-FR" smtClean="0"/>
              <a:pPr>
                <a:defRPr/>
              </a:pPr>
              <a:t>87</a:t>
            </a:fld>
            <a:endParaRPr lang="fr-FR"/>
          </a:p>
        </p:txBody>
      </p:sp>
      <p:sp>
        <p:nvSpPr>
          <p:cNvPr id="81923" name="Espace réservé du contenu 2"/>
          <p:cNvSpPr>
            <a:spLocks noGrp="1"/>
          </p:cNvSpPr>
          <p:nvPr>
            <p:ph sz="quarter" idx="1"/>
          </p:nvPr>
        </p:nvSpPr>
        <p:spPr>
          <a:xfrm>
            <a:off x="428625" y="1643063"/>
            <a:ext cx="8401050" cy="4572000"/>
          </a:xfrm>
        </p:spPr>
        <p:txBody>
          <a:bodyPr/>
          <a:lstStyle/>
          <a:p>
            <a:pPr>
              <a:buNone/>
            </a:pPr>
            <a:r>
              <a:rPr lang="en-US" dirty="0" smtClean="0"/>
              <a:t>&lt;form  action="index.php" method="POST"&gt;</a:t>
            </a:r>
          </a:p>
          <a:p>
            <a:pPr>
              <a:buNone/>
            </a:pPr>
            <a:r>
              <a:rPr lang="en-US" dirty="0" smtClean="0"/>
              <a:t>Login Here:&lt;input type="text" name="login"   value="&lt;?=$username?&gt;" /&gt;</a:t>
            </a:r>
          </a:p>
          <a:p>
            <a:pPr>
              <a:buNone/>
            </a:pPr>
            <a:r>
              <a:rPr lang="en-US" dirty="0" smtClean="0"/>
              <a:t>Password :&lt;input type="password" name="pass" value="&lt;?=$password?&gt;" /&gt;</a:t>
            </a:r>
          </a:p>
          <a:p>
            <a:pPr>
              <a:buNone/>
            </a:pPr>
            <a:r>
              <a:rPr lang="en-US" dirty="0" smtClean="0"/>
              <a:t>&lt;input type="checkbox" name="remember"  /&gt;          Remember Me on this PC for 1 Hour</a:t>
            </a:r>
          </a:p>
          <a:p>
            <a:pPr>
              <a:buNone/>
            </a:pPr>
            <a:r>
              <a:rPr lang="en-US" dirty="0" smtClean="0"/>
              <a:t>&lt;input type="submit" value="</a:t>
            </a:r>
            <a:r>
              <a:rPr lang="en-US" dirty="0" err="1" smtClean="0"/>
              <a:t>connexion</a:t>
            </a:r>
            <a:r>
              <a:rPr lang="en-US" dirty="0" smtClean="0"/>
              <a:t>" name="action" /&gt;</a:t>
            </a:r>
          </a:p>
          <a:p>
            <a:pPr>
              <a:buNone/>
            </a:pPr>
            <a:r>
              <a:rPr lang="en-US" dirty="0" smtClean="0"/>
              <a:t> &lt;/form&gt;</a:t>
            </a:r>
            <a:endParaRPr lang="fr-FR" dirty="0" smtClean="0"/>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defRPr/>
            </a:pPr>
            <a:r>
              <a:rPr lang="fr-FR" dirty="0" smtClean="0"/>
              <a:t>Cas1 : si l’utilisateur clique sur </a:t>
            </a:r>
            <a:r>
              <a:rPr lang="fr-FR" dirty="0" err="1" smtClean="0"/>
              <a:t>submit</a:t>
            </a:r>
            <a:endParaRPr lang="fr-FR" dirty="0"/>
          </a:p>
        </p:txBody>
      </p:sp>
      <p:sp>
        <p:nvSpPr>
          <p:cNvPr id="3" name="Espace réservé du contenu 2"/>
          <p:cNvSpPr>
            <a:spLocks noGrp="1"/>
          </p:cNvSpPr>
          <p:nvPr>
            <p:ph sz="quarter" idx="1"/>
          </p:nvPr>
        </p:nvSpPr>
        <p:spPr>
          <a:xfrm>
            <a:off x="857250" y="1428750"/>
            <a:ext cx="7772400" cy="5624513"/>
          </a:xfrm>
        </p:spPr>
        <p:txBody>
          <a:bodyPr>
            <a:noAutofit/>
          </a:bodyPr>
          <a:lstStyle/>
          <a:p>
            <a:pPr>
              <a:buNone/>
              <a:defRPr/>
            </a:pPr>
            <a:r>
              <a:rPr lang="fr-FR" sz="1050" dirty="0" err="1" smtClean="0"/>
              <a:t>include_once</a:t>
            </a:r>
            <a:r>
              <a:rPr lang="fr-FR" sz="1050" dirty="0" smtClean="0"/>
              <a:t> ‘traitements.php';</a:t>
            </a:r>
          </a:p>
          <a:p>
            <a:pPr>
              <a:buNone/>
              <a:defRPr/>
            </a:pPr>
            <a:r>
              <a:rPr lang="fr-FR" sz="1050" dirty="0" smtClean="0"/>
              <a:t>       $</a:t>
            </a:r>
            <a:r>
              <a:rPr lang="fr-FR" sz="1050" dirty="0" err="1" smtClean="0"/>
              <a:t>username</a:t>
            </a:r>
            <a:r>
              <a:rPr lang="fr-FR" sz="1050" dirty="0" smtClean="0"/>
              <a:t> = '';             $</a:t>
            </a:r>
            <a:r>
              <a:rPr lang="fr-FR" sz="1050" dirty="0" err="1" smtClean="0"/>
              <a:t>password</a:t>
            </a:r>
            <a:r>
              <a:rPr lang="fr-FR" sz="1050" dirty="0" smtClean="0"/>
              <a:t> = '';</a:t>
            </a:r>
          </a:p>
          <a:p>
            <a:pPr>
              <a:buNone/>
              <a:defRPr/>
            </a:pPr>
            <a:r>
              <a:rPr lang="fr-FR" sz="1050" dirty="0" smtClean="0"/>
              <a:t>         if (!</a:t>
            </a:r>
            <a:r>
              <a:rPr lang="fr-FR" sz="1050" dirty="0" err="1" smtClean="0"/>
              <a:t>empty</a:t>
            </a:r>
            <a:r>
              <a:rPr lang="fr-FR" sz="1050" dirty="0" smtClean="0"/>
              <a:t>($_POST['action'])) {</a:t>
            </a:r>
          </a:p>
          <a:p>
            <a:pPr>
              <a:buNone/>
              <a:defRPr/>
            </a:pPr>
            <a:r>
              <a:rPr lang="fr-FR" sz="1050" dirty="0" smtClean="0"/>
              <a:t>   $</a:t>
            </a:r>
            <a:r>
              <a:rPr lang="fr-FR" sz="1050" dirty="0" err="1" smtClean="0"/>
              <a:t>username</a:t>
            </a:r>
            <a:r>
              <a:rPr lang="fr-FR" sz="1050" dirty="0" smtClean="0"/>
              <a:t> = $_POST['login'];</a:t>
            </a:r>
          </a:p>
          <a:p>
            <a:pPr>
              <a:buNone/>
              <a:defRPr/>
            </a:pPr>
            <a:r>
              <a:rPr lang="fr-FR" sz="1050" dirty="0" smtClean="0"/>
              <a:t>   $</a:t>
            </a:r>
            <a:r>
              <a:rPr lang="fr-FR" sz="1050" dirty="0" err="1" smtClean="0"/>
              <a:t>password</a:t>
            </a:r>
            <a:r>
              <a:rPr lang="fr-FR" sz="1050" dirty="0" smtClean="0"/>
              <a:t> = $_POST['</a:t>
            </a:r>
            <a:r>
              <a:rPr lang="fr-FR" sz="1050" dirty="0" err="1" smtClean="0"/>
              <a:t>pass</a:t>
            </a:r>
            <a:r>
              <a:rPr lang="fr-FR" sz="1050" dirty="0" smtClean="0"/>
              <a:t>'];</a:t>
            </a:r>
          </a:p>
          <a:p>
            <a:pPr>
              <a:buNone/>
              <a:defRPr/>
            </a:pPr>
            <a:r>
              <a:rPr lang="fr-FR" sz="1050" dirty="0" smtClean="0"/>
              <a:t>             $r=</a:t>
            </a:r>
            <a:r>
              <a:rPr lang="fr-FR" sz="1050" dirty="0" err="1" smtClean="0"/>
              <a:t>checkuser</a:t>
            </a:r>
            <a:r>
              <a:rPr lang="fr-FR" sz="1050" dirty="0" smtClean="0"/>
              <a:t>($</a:t>
            </a:r>
            <a:r>
              <a:rPr lang="fr-FR" sz="1050" dirty="0" err="1" smtClean="0"/>
              <a:t>username</a:t>
            </a:r>
            <a:r>
              <a:rPr lang="fr-FR" sz="1050" dirty="0" smtClean="0"/>
              <a:t>, $</a:t>
            </a:r>
            <a:r>
              <a:rPr lang="fr-FR" sz="1050" dirty="0" err="1" smtClean="0"/>
              <a:t>password</a:t>
            </a:r>
            <a:r>
              <a:rPr lang="fr-FR" sz="1050" dirty="0" smtClean="0"/>
              <a:t>);</a:t>
            </a:r>
          </a:p>
          <a:p>
            <a:pPr>
              <a:buNone/>
              <a:defRPr/>
            </a:pPr>
            <a:r>
              <a:rPr lang="fr-FR" sz="1050" dirty="0" smtClean="0"/>
              <a:t>      if($r==0)</a:t>
            </a:r>
          </a:p>
          <a:p>
            <a:pPr>
              <a:buNone/>
              <a:defRPr/>
            </a:pPr>
            <a:r>
              <a:rPr lang="fr-FR" sz="1050" dirty="0" smtClean="0"/>
              <a:t>      {</a:t>
            </a:r>
          </a:p>
          <a:p>
            <a:pPr>
              <a:buNone/>
              <a:defRPr/>
            </a:pPr>
            <a:r>
              <a:rPr lang="fr-FR" sz="1050" dirty="0" smtClean="0"/>
              <a:t>            </a:t>
            </a:r>
            <a:r>
              <a:rPr lang="fr-FR" sz="1050" dirty="0" err="1" smtClean="0"/>
              <a:t>echo</a:t>
            </a:r>
            <a:r>
              <a:rPr lang="fr-FR" sz="1050" dirty="0" smtClean="0"/>
              <a:t> "login ou mot de passe incorrect";</a:t>
            </a:r>
          </a:p>
          <a:p>
            <a:pPr>
              <a:buNone/>
              <a:defRPr/>
            </a:pPr>
            <a:r>
              <a:rPr lang="fr-FR" sz="1050" dirty="0" smtClean="0"/>
              <a:t>      }</a:t>
            </a:r>
          </a:p>
          <a:p>
            <a:pPr>
              <a:buNone/>
              <a:defRPr/>
            </a:pPr>
            <a:r>
              <a:rPr lang="fr-FR" sz="1050" dirty="0" smtClean="0"/>
              <a:t>      </a:t>
            </a:r>
            <a:r>
              <a:rPr lang="fr-FR" sz="1050" dirty="0" err="1" smtClean="0"/>
              <a:t>else</a:t>
            </a:r>
            <a:r>
              <a:rPr lang="fr-FR" sz="1050" dirty="0" smtClean="0"/>
              <a:t>{</a:t>
            </a:r>
          </a:p>
          <a:p>
            <a:pPr>
              <a:buNone/>
              <a:defRPr/>
            </a:pPr>
            <a:r>
              <a:rPr lang="fr-FR" sz="1050" dirty="0" smtClean="0"/>
              <a:t>          </a:t>
            </a:r>
          </a:p>
          <a:p>
            <a:pPr>
              <a:buNone/>
              <a:defRPr/>
            </a:pPr>
            <a:r>
              <a:rPr lang="fr-FR" sz="1050" dirty="0" smtClean="0"/>
              <a:t> if($r==1 &amp;&amp;  !</a:t>
            </a:r>
            <a:r>
              <a:rPr lang="fr-FR" sz="1050" dirty="0" err="1" smtClean="0"/>
              <a:t>empty</a:t>
            </a:r>
            <a:r>
              <a:rPr lang="fr-FR" sz="1050" dirty="0" smtClean="0"/>
              <a:t>($_POST['</a:t>
            </a:r>
            <a:r>
              <a:rPr lang="fr-FR" sz="1050" dirty="0" err="1" smtClean="0"/>
              <a:t>remember</a:t>
            </a:r>
            <a:r>
              <a:rPr lang="fr-FR" sz="1050" dirty="0" smtClean="0"/>
              <a:t>'])  )</a:t>
            </a:r>
          </a:p>
          <a:p>
            <a:pPr>
              <a:buNone/>
              <a:defRPr/>
            </a:pPr>
            <a:r>
              <a:rPr lang="fr-FR" sz="1050" dirty="0" smtClean="0"/>
              <a:t>          {</a:t>
            </a:r>
          </a:p>
          <a:p>
            <a:pPr>
              <a:buNone/>
              <a:defRPr/>
            </a:pPr>
            <a:r>
              <a:rPr lang="fr-FR" sz="1050" dirty="0" smtClean="0"/>
              <a:t>     </a:t>
            </a:r>
          </a:p>
          <a:p>
            <a:pPr>
              <a:buNone/>
              <a:defRPr/>
            </a:pPr>
            <a:r>
              <a:rPr lang="fr-FR" sz="1050" dirty="0" smtClean="0"/>
              <a:t>    </a:t>
            </a:r>
            <a:r>
              <a:rPr lang="fr-FR" sz="1050" dirty="0" err="1" smtClean="0"/>
              <a:t>setcookie</a:t>
            </a:r>
            <a:r>
              <a:rPr lang="fr-FR" sz="1050" dirty="0" smtClean="0"/>
              <a:t>("</a:t>
            </a:r>
            <a:r>
              <a:rPr lang="fr-FR" sz="1050" dirty="0" err="1" smtClean="0"/>
              <a:t>username</a:t>
            </a:r>
            <a:r>
              <a:rPr lang="fr-FR" sz="1050" dirty="0" smtClean="0"/>
              <a:t>", $</a:t>
            </a:r>
            <a:r>
              <a:rPr lang="fr-FR" sz="1050" dirty="0" err="1" smtClean="0"/>
              <a:t>username</a:t>
            </a:r>
            <a:r>
              <a:rPr lang="fr-FR" sz="1050" dirty="0" smtClean="0"/>
              <a:t>, time()+120);</a:t>
            </a:r>
          </a:p>
          <a:p>
            <a:pPr>
              <a:buNone/>
              <a:defRPr/>
            </a:pPr>
            <a:r>
              <a:rPr lang="fr-FR" sz="1050" dirty="0" smtClean="0"/>
              <a:t>    </a:t>
            </a:r>
            <a:r>
              <a:rPr lang="fr-FR" sz="1050" dirty="0" err="1" smtClean="0"/>
              <a:t>setcookie</a:t>
            </a:r>
            <a:r>
              <a:rPr lang="fr-FR" sz="1050" dirty="0" smtClean="0"/>
              <a:t>("</a:t>
            </a:r>
            <a:r>
              <a:rPr lang="fr-FR" sz="1050" dirty="0" err="1" smtClean="0"/>
              <a:t>password</a:t>
            </a:r>
            <a:r>
              <a:rPr lang="fr-FR" sz="1050" dirty="0" smtClean="0"/>
              <a:t>", $</a:t>
            </a:r>
            <a:r>
              <a:rPr lang="fr-FR" sz="1050" dirty="0" err="1" smtClean="0"/>
              <a:t>password</a:t>
            </a:r>
            <a:r>
              <a:rPr lang="fr-FR" sz="1050" dirty="0" smtClean="0"/>
              <a:t>, time()+120);  /* expire in 2 min */</a:t>
            </a:r>
          </a:p>
          <a:p>
            <a:pPr>
              <a:buNone/>
              <a:defRPr/>
            </a:pPr>
            <a:r>
              <a:rPr lang="fr-FR" sz="1050" dirty="0" smtClean="0"/>
              <a:t>   header("</a:t>
            </a:r>
            <a:r>
              <a:rPr lang="fr-FR" sz="1050" dirty="0" err="1" smtClean="0"/>
              <a:t>Location:ex3.php</a:t>
            </a:r>
            <a:r>
              <a:rPr lang="fr-FR" sz="1050" dirty="0" smtClean="0"/>
              <a:t>"); </a:t>
            </a:r>
          </a:p>
          <a:p>
            <a:pPr>
              <a:buNone/>
              <a:defRPr/>
            </a:pPr>
            <a:r>
              <a:rPr lang="fr-FR" sz="1050" dirty="0" smtClean="0"/>
              <a:t>          }</a:t>
            </a:r>
          </a:p>
          <a:p>
            <a:pPr>
              <a:buNone/>
              <a:defRPr/>
            </a:pPr>
            <a:r>
              <a:rPr lang="fr-FR" sz="1050" dirty="0" smtClean="0"/>
              <a:t>         if($r==1 &amp;&amp; </a:t>
            </a:r>
            <a:r>
              <a:rPr lang="fr-FR" sz="1050" dirty="0" err="1" smtClean="0"/>
              <a:t>empty</a:t>
            </a:r>
            <a:r>
              <a:rPr lang="fr-FR" sz="1050" dirty="0" smtClean="0"/>
              <a:t>($_POST['</a:t>
            </a:r>
            <a:r>
              <a:rPr lang="fr-FR" sz="1050" dirty="0" err="1" smtClean="0"/>
              <a:t>remember</a:t>
            </a:r>
            <a:r>
              <a:rPr lang="fr-FR" sz="1050" dirty="0" smtClean="0"/>
              <a:t>'])){</a:t>
            </a:r>
          </a:p>
          <a:p>
            <a:pPr>
              <a:buNone/>
              <a:defRPr/>
            </a:pPr>
            <a:r>
              <a:rPr lang="fr-FR" sz="1050" dirty="0" smtClean="0"/>
              <a:t>              header("</a:t>
            </a:r>
            <a:r>
              <a:rPr lang="fr-FR" sz="1050" dirty="0" err="1" smtClean="0"/>
              <a:t>Location:ex3.php</a:t>
            </a:r>
            <a:r>
              <a:rPr lang="fr-FR" sz="1050" dirty="0" smtClean="0"/>
              <a:t>");  </a:t>
            </a:r>
          </a:p>
          <a:p>
            <a:pPr>
              <a:buNone/>
              <a:defRPr/>
            </a:pPr>
            <a:r>
              <a:rPr lang="fr-FR" sz="1050" dirty="0" smtClean="0"/>
              <a:t>          }      </a:t>
            </a:r>
          </a:p>
          <a:p>
            <a:pPr>
              <a:buNone/>
              <a:defRPr/>
            </a:pPr>
            <a:r>
              <a:rPr lang="fr-FR" sz="1050" dirty="0" smtClean="0"/>
              <a:t>      }</a:t>
            </a:r>
          </a:p>
          <a:p>
            <a:pPr>
              <a:buNone/>
              <a:defRPr/>
            </a:pPr>
            <a:r>
              <a:rPr lang="fr-FR" sz="1050" dirty="0" smtClean="0"/>
              <a:t>  }</a:t>
            </a: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defRPr/>
            </a:pPr>
            <a:r>
              <a:rPr lang="fr-FR" dirty="0" smtClean="0"/>
              <a:t>Cas2 : sinon (au chargement de la page)</a:t>
            </a:r>
            <a:endParaRPr lang="fr-FR" dirty="0"/>
          </a:p>
        </p:txBody>
      </p:sp>
      <p:sp>
        <p:nvSpPr>
          <p:cNvPr id="3" name="Espace réservé du contenu 2"/>
          <p:cNvSpPr>
            <a:spLocks noGrp="1"/>
          </p:cNvSpPr>
          <p:nvPr>
            <p:ph sz="quarter" idx="1"/>
          </p:nvPr>
        </p:nvSpPr>
        <p:spPr>
          <a:xfrm>
            <a:off x="1142976" y="1500174"/>
            <a:ext cx="7772400" cy="4572000"/>
          </a:xfrm>
        </p:spPr>
        <p:txBody>
          <a:bodyPr>
            <a:normAutofit fontScale="92500" lnSpcReduction="10000"/>
          </a:bodyPr>
          <a:lstStyle/>
          <a:p>
            <a:pPr>
              <a:buFont typeface="Wingdings 2" pitchFamily="18" charset="2"/>
              <a:buNone/>
              <a:defRPr/>
            </a:pPr>
            <a:r>
              <a:rPr lang="fr-FR" dirty="0" err="1" smtClean="0"/>
              <a:t>else</a:t>
            </a:r>
            <a:r>
              <a:rPr lang="fr-FR" dirty="0" smtClean="0"/>
              <a:t> {</a:t>
            </a:r>
          </a:p>
          <a:p>
            <a:pPr>
              <a:buFont typeface="Wingdings 2" pitchFamily="18" charset="2"/>
              <a:buNone/>
              <a:defRPr/>
            </a:pPr>
            <a:r>
              <a:rPr lang="fr-FR" dirty="0" smtClean="0"/>
              <a:t>    // pour afficher les cookies </a:t>
            </a:r>
            <a:r>
              <a:rPr lang="fr-FR" dirty="0" err="1" smtClean="0"/>
              <a:t>deja</a:t>
            </a:r>
            <a:r>
              <a:rPr lang="fr-FR" dirty="0" smtClean="0"/>
              <a:t> stockées </a:t>
            </a:r>
          </a:p>
          <a:p>
            <a:pPr>
              <a:buFont typeface="Wingdings 2" pitchFamily="18" charset="2"/>
              <a:buNone/>
              <a:defRPr/>
            </a:pPr>
            <a:r>
              <a:rPr lang="fr-FR" dirty="0" smtClean="0"/>
              <a:t>  </a:t>
            </a:r>
          </a:p>
          <a:p>
            <a:pPr>
              <a:buFont typeface="Wingdings 2" pitchFamily="18" charset="2"/>
              <a:buNone/>
              <a:defRPr/>
            </a:pPr>
            <a:r>
              <a:rPr lang="fr-FR" dirty="0" smtClean="0"/>
              <a:t>  if (</a:t>
            </a:r>
            <a:r>
              <a:rPr lang="fr-FR" dirty="0" err="1" smtClean="0"/>
              <a:t>isset</a:t>
            </a:r>
            <a:r>
              <a:rPr lang="fr-FR" dirty="0" smtClean="0"/>
              <a:t>($_COOKIE['</a:t>
            </a:r>
            <a:r>
              <a:rPr lang="fr-FR" dirty="0" err="1" smtClean="0"/>
              <a:t>username</a:t>
            </a:r>
            <a:r>
              <a:rPr lang="fr-FR" dirty="0" smtClean="0"/>
              <a:t>'])) {</a:t>
            </a:r>
          </a:p>
          <a:p>
            <a:pPr>
              <a:buFont typeface="Wingdings 2" pitchFamily="18" charset="2"/>
              <a:buNone/>
              <a:defRPr/>
            </a:pPr>
            <a:r>
              <a:rPr lang="fr-FR" dirty="0" smtClean="0"/>
              <a:t>    $</a:t>
            </a:r>
            <a:r>
              <a:rPr lang="fr-FR" dirty="0" err="1" smtClean="0"/>
              <a:t>username</a:t>
            </a:r>
            <a:r>
              <a:rPr lang="fr-FR" dirty="0" smtClean="0"/>
              <a:t> = $_COOKIE['</a:t>
            </a:r>
            <a:r>
              <a:rPr lang="fr-FR" dirty="0" err="1" smtClean="0"/>
              <a:t>username</a:t>
            </a:r>
            <a:r>
              <a:rPr lang="fr-FR" dirty="0" smtClean="0"/>
              <a:t>'];</a:t>
            </a:r>
          </a:p>
          <a:p>
            <a:pPr>
              <a:buFont typeface="Wingdings 2" pitchFamily="18" charset="2"/>
              <a:buNone/>
              <a:defRPr/>
            </a:pPr>
            <a:r>
              <a:rPr lang="fr-FR" dirty="0" smtClean="0"/>
              <a:t>  }</a:t>
            </a:r>
          </a:p>
          <a:p>
            <a:pPr>
              <a:defRPr/>
            </a:pPr>
            <a:endParaRPr lang="fr-FR" dirty="0" smtClean="0"/>
          </a:p>
          <a:p>
            <a:pPr>
              <a:buFont typeface="Wingdings 2" pitchFamily="18" charset="2"/>
              <a:buNone/>
              <a:defRPr/>
            </a:pPr>
            <a:r>
              <a:rPr lang="fr-FR" dirty="0" smtClean="0"/>
              <a:t>  if (</a:t>
            </a:r>
            <a:r>
              <a:rPr lang="fr-FR" dirty="0" err="1" smtClean="0"/>
              <a:t>isset</a:t>
            </a:r>
            <a:r>
              <a:rPr lang="fr-FR" dirty="0" smtClean="0"/>
              <a:t>($_COOKIE['</a:t>
            </a:r>
            <a:r>
              <a:rPr lang="fr-FR" dirty="0" err="1" smtClean="0"/>
              <a:t>password</a:t>
            </a:r>
            <a:r>
              <a:rPr lang="fr-FR" dirty="0" smtClean="0"/>
              <a:t>'])) {</a:t>
            </a:r>
          </a:p>
          <a:p>
            <a:pPr>
              <a:buFont typeface="Wingdings 2" pitchFamily="18" charset="2"/>
              <a:buNone/>
              <a:defRPr/>
            </a:pPr>
            <a:r>
              <a:rPr lang="fr-FR" dirty="0" smtClean="0"/>
              <a:t>    $</a:t>
            </a:r>
            <a:r>
              <a:rPr lang="fr-FR" dirty="0" err="1" smtClean="0"/>
              <a:t>password</a:t>
            </a:r>
            <a:r>
              <a:rPr lang="fr-FR" dirty="0" smtClean="0"/>
              <a:t> = $_COOKIE['</a:t>
            </a:r>
            <a:r>
              <a:rPr lang="fr-FR" dirty="0" err="1" smtClean="0"/>
              <a:t>password</a:t>
            </a:r>
            <a:r>
              <a:rPr lang="fr-FR" dirty="0" smtClean="0"/>
              <a:t>'];</a:t>
            </a:r>
          </a:p>
          <a:p>
            <a:pPr>
              <a:buFont typeface="Wingdings 2" pitchFamily="18" charset="2"/>
              <a:buNone/>
              <a:defRPr/>
            </a:pPr>
            <a:r>
              <a:rPr lang="fr-FR" dirty="0" smtClean="0"/>
              <a:t>  }</a:t>
            </a:r>
          </a:p>
          <a:p>
            <a:pPr>
              <a:buFont typeface="Wingdings 2" pitchFamily="18" charset="2"/>
              <a:buNone/>
              <a:defRPr/>
            </a:pPr>
            <a:r>
              <a:rPr lang="fr-FR" dirty="0" smtClean="0"/>
              <a:t>}</a:t>
            </a:r>
            <a:endParaRPr lang="fr-FR" dirty="0"/>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Exercice 1:</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90</a:t>
            </a:fld>
            <a:endParaRPr lang="fr-FR"/>
          </a:p>
        </p:txBody>
      </p:sp>
      <p:sp>
        <p:nvSpPr>
          <p:cNvPr id="3" name="Espace réservé du contenu 2"/>
          <p:cNvSpPr>
            <a:spLocks noGrp="1"/>
          </p:cNvSpPr>
          <p:nvPr>
            <p:ph sz="quarter" idx="1"/>
          </p:nvPr>
        </p:nvSpPr>
        <p:spPr/>
        <p:txBody>
          <a:bodyPr/>
          <a:lstStyle/>
          <a:p>
            <a:r>
              <a:rPr lang="fr-FR" dirty="0" smtClean="0"/>
              <a:t>utiliser les cookies pour l’Authentification persistante.</a:t>
            </a:r>
          </a:p>
          <a:p>
            <a:endParaRPr lang="fr-FR" dirty="0" smtClean="0"/>
          </a:p>
          <a:p>
            <a:pPr>
              <a:buNone/>
            </a:pPr>
            <a:endParaRPr lang="fr-FR" dirty="0" smtClean="0"/>
          </a:p>
          <a:p>
            <a:r>
              <a:rPr lang="fr-FR" dirty="0" smtClean="0"/>
              <a:t>Utiliser les session pour sécuriser l’</a:t>
            </a:r>
            <a:r>
              <a:rPr lang="fr-FR" dirty="0" err="1" smtClean="0"/>
              <a:t>acces</a:t>
            </a:r>
            <a:r>
              <a:rPr lang="fr-FR" dirty="0" smtClean="0"/>
              <a:t> à la page .</a:t>
            </a:r>
            <a:endParaRPr lang="fr-FR" dirty="0"/>
          </a:p>
        </p:txBody>
      </p:sp>
      <p:pic>
        <p:nvPicPr>
          <p:cNvPr id="5" name="Picture 2"/>
          <p:cNvPicPr>
            <a:picLocks noChangeAspect="1" noChangeArrowheads="1"/>
          </p:cNvPicPr>
          <p:nvPr/>
        </p:nvPicPr>
        <p:blipFill>
          <a:blip r:embed="rId2"/>
          <a:srcRect/>
          <a:stretch>
            <a:fillRect/>
          </a:stretch>
        </p:blipFill>
        <p:spPr bwMode="auto">
          <a:xfrm>
            <a:off x="4071934" y="3357562"/>
            <a:ext cx="4819650" cy="3114675"/>
          </a:xfrm>
          <a:prstGeom prst="rect">
            <a:avLst/>
          </a:prstGeom>
          <a:noFill/>
          <a:ln w="9525">
            <a:noFill/>
            <a:miter lim="800000"/>
            <a:headEnd/>
            <a:tailEnd/>
          </a:ln>
        </p:spPr>
      </p:pic>
      <p:pic>
        <p:nvPicPr>
          <p:cNvPr id="1026" name="Picture 2"/>
          <p:cNvPicPr>
            <a:picLocks noChangeAspect="1" noChangeArrowheads="1"/>
          </p:cNvPicPr>
          <p:nvPr/>
        </p:nvPicPr>
        <p:blipFill>
          <a:blip r:embed="rId3"/>
          <a:srcRect/>
          <a:stretch>
            <a:fillRect/>
          </a:stretch>
        </p:blipFill>
        <p:spPr bwMode="auto">
          <a:xfrm>
            <a:off x="642910" y="4000504"/>
            <a:ext cx="3071816" cy="153021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re 1"/>
          <p:cNvSpPr>
            <a:spLocks noGrp="1"/>
          </p:cNvSpPr>
          <p:nvPr>
            <p:ph type="title"/>
          </p:nvPr>
        </p:nvSpPr>
        <p:spPr>
          <a:xfrm>
            <a:off x="642938" y="2643188"/>
            <a:ext cx="7772400" cy="1143000"/>
          </a:xfrm>
        </p:spPr>
        <p:txBody>
          <a:bodyPr/>
          <a:lstStyle/>
          <a:p>
            <a:r>
              <a:rPr lang="fr-FR" dirty="0" smtClean="0"/>
              <a:t>Programmation Orienté Objet</a:t>
            </a:r>
          </a:p>
        </p:txBody>
      </p:sp>
      <p:sp>
        <p:nvSpPr>
          <p:cNvPr id="4" name="Espace réservé du numéro de diapositive 3"/>
          <p:cNvSpPr>
            <a:spLocks noGrp="1"/>
          </p:cNvSpPr>
          <p:nvPr>
            <p:ph type="sldNum" sz="quarter" idx="12"/>
          </p:nvPr>
        </p:nvSpPr>
        <p:spPr/>
        <p:txBody>
          <a:bodyPr/>
          <a:lstStyle/>
          <a:p>
            <a:pPr>
              <a:defRPr/>
            </a:pPr>
            <a:fld id="{8EC378CE-4725-4CA3-A5C6-F46EA33043A4}" type="slidenum">
              <a:rPr lang="fr-FR" smtClean="0"/>
              <a:pPr>
                <a:defRPr/>
              </a:pPr>
              <a:t>91</a:t>
            </a:fld>
            <a:endParaRPr lang="fr-F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re 1"/>
          <p:cNvSpPr>
            <a:spLocks noGrp="1"/>
          </p:cNvSpPr>
          <p:nvPr>
            <p:ph type="title"/>
          </p:nvPr>
        </p:nvSpPr>
        <p:spPr/>
        <p:txBody>
          <a:bodyPr/>
          <a:lstStyle/>
          <a:p>
            <a:r>
              <a:rPr lang="fr-FR" smtClean="0"/>
              <a:t>1-Créer une classe</a:t>
            </a:r>
          </a:p>
        </p:txBody>
      </p:sp>
      <p:sp>
        <p:nvSpPr>
          <p:cNvPr id="4" name="Espace réservé du numéro de diapositive 3"/>
          <p:cNvSpPr>
            <a:spLocks noGrp="1"/>
          </p:cNvSpPr>
          <p:nvPr>
            <p:ph type="sldNum" sz="quarter" idx="12"/>
          </p:nvPr>
        </p:nvSpPr>
        <p:spPr/>
        <p:txBody>
          <a:bodyPr/>
          <a:lstStyle/>
          <a:p>
            <a:pPr>
              <a:defRPr/>
            </a:pPr>
            <a:fld id="{7A671CBE-3195-4B58-9BCF-D8EB4888C158}" type="slidenum">
              <a:rPr lang="fr-FR" smtClean="0"/>
              <a:pPr>
                <a:defRPr/>
              </a:pPr>
              <a:t>92</a:t>
            </a:fld>
            <a:endParaRPr lang="fr-FR"/>
          </a:p>
        </p:txBody>
      </p:sp>
      <p:sp>
        <p:nvSpPr>
          <p:cNvPr id="5" name="Rectangle 4"/>
          <p:cNvSpPr/>
          <p:nvPr/>
        </p:nvSpPr>
        <p:spPr>
          <a:xfrm>
            <a:off x="1357313" y="1357313"/>
            <a:ext cx="6000750" cy="457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fr-FR" sz="2000" dirty="0"/>
              <a:t>class </a:t>
            </a:r>
            <a:r>
              <a:rPr lang="fr-FR" sz="2000" dirty="0" err="1"/>
              <a:t>Nom_class</a:t>
            </a:r>
            <a:r>
              <a:rPr lang="fr-FR" sz="2000" dirty="0"/>
              <a:t>{</a:t>
            </a:r>
          </a:p>
          <a:p>
            <a:pPr>
              <a:defRPr/>
            </a:pPr>
            <a:r>
              <a:rPr lang="fr-FR" sz="2000" dirty="0"/>
              <a:t>//1- </a:t>
            </a:r>
            <a:r>
              <a:rPr lang="fr-FR" sz="2000" dirty="0" err="1"/>
              <a:t>declaration</a:t>
            </a:r>
            <a:r>
              <a:rPr lang="fr-FR" sz="2000" dirty="0"/>
              <a:t> des attributs </a:t>
            </a:r>
          </a:p>
          <a:p>
            <a:pPr>
              <a:defRPr/>
            </a:pPr>
            <a:endParaRPr lang="fr-FR" sz="2000" dirty="0"/>
          </a:p>
          <a:p>
            <a:pPr>
              <a:defRPr/>
            </a:pPr>
            <a:r>
              <a:rPr lang="fr-FR" sz="2000" dirty="0"/>
              <a:t>//2-</a:t>
            </a:r>
            <a:r>
              <a:rPr lang="fr-FR" sz="2000" dirty="0" err="1"/>
              <a:t>declaration</a:t>
            </a:r>
            <a:r>
              <a:rPr lang="fr-FR" sz="2000" dirty="0"/>
              <a:t> du(des) constructeur(s)</a:t>
            </a:r>
          </a:p>
          <a:p>
            <a:pPr>
              <a:defRPr/>
            </a:pPr>
            <a:endParaRPr lang="fr-FR" sz="2000" dirty="0"/>
          </a:p>
          <a:p>
            <a:pPr>
              <a:defRPr/>
            </a:pPr>
            <a:endParaRPr lang="fr-FR" sz="2000" dirty="0"/>
          </a:p>
          <a:p>
            <a:pPr>
              <a:defRPr/>
            </a:pPr>
            <a:r>
              <a:rPr lang="fr-FR" sz="2000" dirty="0"/>
              <a:t>//3-</a:t>
            </a:r>
            <a:r>
              <a:rPr lang="fr-FR" sz="2000" dirty="0" err="1"/>
              <a:t>declaration</a:t>
            </a:r>
            <a:r>
              <a:rPr lang="fr-FR" sz="2000" dirty="0"/>
              <a:t> des setters et getters </a:t>
            </a:r>
          </a:p>
          <a:p>
            <a:pPr>
              <a:defRPr/>
            </a:pPr>
            <a:endParaRPr lang="fr-FR" sz="2000" dirty="0"/>
          </a:p>
          <a:p>
            <a:pPr>
              <a:defRPr/>
            </a:pPr>
            <a:r>
              <a:rPr lang="fr-FR" sz="2000" dirty="0"/>
              <a:t>//4-</a:t>
            </a:r>
            <a:r>
              <a:rPr lang="fr-FR" sz="2000" dirty="0" err="1"/>
              <a:t>declaration</a:t>
            </a:r>
            <a:r>
              <a:rPr lang="fr-FR" sz="2000" dirty="0"/>
              <a:t> des autres méthodes </a:t>
            </a:r>
          </a:p>
          <a:p>
            <a:pPr>
              <a:defRPr/>
            </a:pPr>
            <a:endParaRPr lang="fr-FR" sz="2000" dirty="0"/>
          </a:p>
          <a:p>
            <a:pPr>
              <a:defRPr/>
            </a:pPr>
            <a:r>
              <a:rPr lang="fr-FR" sz="2000" dirty="0"/>
              <a:t>}</a:t>
            </a: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re 1"/>
          <p:cNvSpPr>
            <a:spLocks noGrp="1"/>
          </p:cNvSpPr>
          <p:nvPr>
            <p:ph type="title"/>
          </p:nvPr>
        </p:nvSpPr>
        <p:spPr/>
        <p:txBody>
          <a:bodyPr/>
          <a:lstStyle/>
          <a:p>
            <a:r>
              <a:rPr lang="fr-FR" smtClean="0"/>
              <a:t>Exemple :  Personnage</a:t>
            </a:r>
          </a:p>
        </p:txBody>
      </p:sp>
      <p:sp>
        <p:nvSpPr>
          <p:cNvPr id="4" name="Espace réservé du numéro de diapositive 3"/>
          <p:cNvSpPr>
            <a:spLocks noGrp="1"/>
          </p:cNvSpPr>
          <p:nvPr>
            <p:ph type="sldNum" sz="quarter" idx="12"/>
          </p:nvPr>
        </p:nvSpPr>
        <p:spPr/>
        <p:txBody>
          <a:bodyPr/>
          <a:lstStyle/>
          <a:p>
            <a:pPr>
              <a:defRPr/>
            </a:pPr>
            <a:fld id="{75AEEACE-90FE-4D7E-B1E7-BBA5BA9F82B0}" type="slidenum">
              <a:rPr lang="fr-FR" smtClean="0"/>
              <a:pPr>
                <a:defRPr/>
              </a:pPr>
              <a:t>93</a:t>
            </a:fld>
            <a:endParaRPr lang="fr-FR"/>
          </a:p>
        </p:txBody>
      </p:sp>
      <p:sp>
        <p:nvSpPr>
          <p:cNvPr id="87043" name="Espace réservé du contenu 2"/>
          <p:cNvSpPr>
            <a:spLocks noGrp="1"/>
          </p:cNvSpPr>
          <p:nvPr>
            <p:ph sz="quarter" idx="1"/>
          </p:nvPr>
        </p:nvSpPr>
        <p:spPr>
          <a:xfrm>
            <a:off x="857250" y="1571625"/>
            <a:ext cx="7772400" cy="4572000"/>
          </a:xfrm>
        </p:spPr>
        <p:txBody>
          <a:bodyPr/>
          <a:lstStyle/>
          <a:p>
            <a:pPr>
              <a:buFont typeface="Wingdings 2" pitchFamily="18" charset="2"/>
              <a:buNone/>
            </a:pPr>
            <a:r>
              <a:rPr lang="fr-FR" dirty="0" smtClean="0"/>
              <a:t>class Personnage{</a:t>
            </a:r>
          </a:p>
          <a:p>
            <a:pPr>
              <a:buFont typeface="Wingdings 2" pitchFamily="18" charset="2"/>
              <a:buNone/>
            </a:pPr>
            <a:r>
              <a:rPr lang="fr-FR" dirty="0" smtClean="0"/>
              <a:t>// 1-les attributs </a:t>
            </a:r>
          </a:p>
          <a:p>
            <a:pPr>
              <a:buFont typeface="Wingdings 2" pitchFamily="18" charset="2"/>
              <a:buNone/>
            </a:pPr>
            <a:r>
              <a:rPr lang="fr-FR" dirty="0" smtClean="0"/>
              <a:t>                    </a:t>
            </a:r>
            <a:r>
              <a:rPr lang="fr-FR" dirty="0" err="1" smtClean="0"/>
              <a:t>private</a:t>
            </a:r>
            <a:r>
              <a:rPr lang="fr-FR" dirty="0" smtClean="0"/>
              <a:t> $nom;</a:t>
            </a:r>
          </a:p>
          <a:p>
            <a:pPr>
              <a:buFont typeface="Wingdings 2" pitchFamily="18" charset="2"/>
              <a:buNone/>
            </a:pPr>
            <a:r>
              <a:rPr lang="fr-FR" dirty="0" smtClean="0"/>
              <a:t>                    </a:t>
            </a:r>
            <a:r>
              <a:rPr lang="fr-FR" dirty="0" err="1" smtClean="0"/>
              <a:t>private</a:t>
            </a:r>
            <a:r>
              <a:rPr lang="fr-FR" dirty="0" smtClean="0"/>
              <a:t> $</a:t>
            </a:r>
            <a:r>
              <a:rPr lang="fr-FR" dirty="0" err="1" smtClean="0"/>
              <a:t>img</a:t>
            </a:r>
            <a:r>
              <a:rPr lang="fr-FR" dirty="0" smtClean="0"/>
              <a:t>;</a:t>
            </a:r>
          </a:p>
          <a:p>
            <a:pPr>
              <a:buFont typeface="Wingdings 2" pitchFamily="18" charset="2"/>
              <a:buNone/>
            </a:pPr>
            <a:r>
              <a:rPr lang="fr-FR" dirty="0" smtClean="0"/>
              <a:t>                    </a:t>
            </a:r>
            <a:r>
              <a:rPr lang="fr-FR" dirty="0" err="1" smtClean="0"/>
              <a:t>private</a:t>
            </a:r>
            <a:r>
              <a:rPr lang="fr-FR" dirty="0" smtClean="0"/>
              <a:t> $</a:t>
            </a:r>
            <a:r>
              <a:rPr lang="fr-FR" dirty="0" err="1" smtClean="0"/>
              <a:t>age</a:t>
            </a:r>
            <a:r>
              <a:rPr lang="fr-FR" dirty="0" smtClean="0"/>
              <a:t>;</a:t>
            </a:r>
          </a:p>
          <a:p>
            <a:pPr>
              <a:buFont typeface="Wingdings 2" pitchFamily="18" charset="2"/>
              <a:buNone/>
            </a:pPr>
            <a:r>
              <a:rPr lang="fr-FR" dirty="0" smtClean="0"/>
              <a:t>                    </a:t>
            </a:r>
            <a:r>
              <a:rPr lang="fr-FR" dirty="0" err="1" smtClean="0"/>
              <a:t>private</a:t>
            </a:r>
            <a:r>
              <a:rPr lang="fr-FR" dirty="0" smtClean="0"/>
              <a:t> $sexe;</a:t>
            </a:r>
          </a:p>
          <a:p>
            <a:pPr>
              <a:buFont typeface="Wingdings 2" pitchFamily="18" charset="2"/>
              <a:buNone/>
            </a:pPr>
            <a:r>
              <a:rPr lang="fr-FR" dirty="0" smtClean="0"/>
              <a:t>                    </a:t>
            </a:r>
            <a:r>
              <a:rPr lang="fr-FR" dirty="0" err="1" smtClean="0"/>
              <a:t>const</a:t>
            </a:r>
            <a:r>
              <a:rPr lang="fr-FR" dirty="0" smtClean="0"/>
              <a:t> NATIONALITE= "marocaine " </a:t>
            </a:r>
          </a:p>
          <a:p>
            <a:pPr>
              <a:buFont typeface="Wingdings 2" pitchFamily="18" charset="2"/>
              <a:buNone/>
            </a:pPr>
            <a:r>
              <a:rPr lang="fr-FR" dirty="0" smtClean="0"/>
              <a:t>                    </a:t>
            </a:r>
            <a:r>
              <a:rPr lang="fr-FR" dirty="0" err="1" smtClean="0"/>
              <a:t>static</a:t>
            </a:r>
            <a:r>
              <a:rPr lang="fr-FR" dirty="0" smtClean="0"/>
              <a:t> $</a:t>
            </a:r>
            <a:r>
              <a:rPr lang="fr-FR" dirty="0" err="1" smtClean="0"/>
              <a:t>pay</a:t>
            </a:r>
            <a:r>
              <a:rPr lang="fr-FR" dirty="0" smtClean="0"/>
              <a:t>= " </a:t>
            </a:r>
            <a:r>
              <a:rPr lang="fr-FR" dirty="0" err="1" smtClean="0"/>
              <a:t>maroc</a:t>
            </a:r>
            <a:r>
              <a:rPr lang="fr-FR" dirty="0" smtClean="0"/>
              <a:t> " </a:t>
            </a:r>
          </a:p>
          <a:p>
            <a:pPr>
              <a:buFont typeface="Wingdings 2" pitchFamily="18" charset="2"/>
              <a:buNone/>
            </a:pPr>
            <a:r>
              <a:rPr lang="fr-FR" dirty="0" smtClean="0"/>
              <a:t>                    </a:t>
            </a:r>
          </a:p>
        </p:txBody>
      </p:sp>
      <p:sp>
        <p:nvSpPr>
          <p:cNvPr id="5" name="Rectangle 4"/>
          <p:cNvSpPr/>
          <p:nvPr/>
        </p:nvSpPr>
        <p:spPr>
          <a:xfrm>
            <a:off x="5214938" y="2500313"/>
            <a:ext cx="3571875" cy="1571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dirty="0"/>
              <a:t>On peut </a:t>
            </a:r>
            <a:r>
              <a:rPr lang="fr-FR" dirty="0" err="1"/>
              <a:t>declarer</a:t>
            </a:r>
            <a:r>
              <a:rPr lang="fr-FR" dirty="0"/>
              <a:t> des constantes</a:t>
            </a:r>
          </a:p>
          <a:p>
            <a:pPr algn="ctr">
              <a:defRPr/>
            </a:pPr>
            <a:r>
              <a:rPr lang="fr-FR" dirty="0"/>
              <a:t>Appel </a:t>
            </a:r>
            <a:r>
              <a:rPr lang="fr-FR" sz="2000" b="1" dirty="0" err="1"/>
              <a:t>nom_class</a:t>
            </a:r>
            <a:r>
              <a:rPr lang="fr-FR" sz="2000" b="1" dirty="0"/>
              <a:t>::</a:t>
            </a:r>
            <a:r>
              <a:rPr lang="fr-FR" sz="2000" b="1" dirty="0" err="1"/>
              <a:t>nom_constante</a:t>
            </a:r>
            <a:endParaRPr lang="fr-FR" sz="2000" b="1" dirty="0"/>
          </a:p>
        </p:txBody>
      </p:sp>
      <p:cxnSp>
        <p:nvCxnSpPr>
          <p:cNvPr id="7" name="Connecteur droit avec flèche 6"/>
          <p:cNvCxnSpPr/>
          <p:nvPr/>
        </p:nvCxnSpPr>
        <p:spPr>
          <a:xfrm rot="10800000" flipV="1">
            <a:off x="4000500" y="3714750"/>
            <a:ext cx="1428750" cy="7858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5357818" y="5000636"/>
            <a:ext cx="3571875" cy="1571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dirty="0"/>
              <a:t>On peut </a:t>
            </a:r>
            <a:r>
              <a:rPr lang="fr-FR" dirty="0" err="1"/>
              <a:t>declarer</a:t>
            </a:r>
            <a:r>
              <a:rPr lang="fr-FR" dirty="0"/>
              <a:t> des  attributs </a:t>
            </a:r>
            <a:r>
              <a:rPr lang="fr-FR" dirty="0" err="1"/>
              <a:t>static</a:t>
            </a:r>
            <a:endParaRPr lang="fr-FR" dirty="0"/>
          </a:p>
          <a:p>
            <a:pPr algn="ctr">
              <a:defRPr/>
            </a:pPr>
            <a:r>
              <a:rPr lang="fr-FR" dirty="0"/>
              <a:t>Appel </a:t>
            </a:r>
            <a:r>
              <a:rPr lang="fr-FR" sz="2000" b="1" dirty="0" err="1"/>
              <a:t>nom_class</a:t>
            </a:r>
            <a:r>
              <a:rPr lang="fr-FR" sz="2000" b="1" dirty="0"/>
              <a:t>::</a:t>
            </a:r>
            <a:r>
              <a:rPr lang="fr-FR" sz="2000" b="1" dirty="0" err="1"/>
              <a:t>nom_attribut</a:t>
            </a:r>
            <a:endParaRPr lang="fr-FR" sz="2000" b="1" dirty="0"/>
          </a:p>
        </p:txBody>
      </p:sp>
      <p:cxnSp>
        <p:nvCxnSpPr>
          <p:cNvPr id="11" name="Connecteur droit avec flèche 10"/>
          <p:cNvCxnSpPr/>
          <p:nvPr/>
        </p:nvCxnSpPr>
        <p:spPr>
          <a:xfrm rot="10800000">
            <a:off x="3571875" y="5429250"/>
            <a:ext cx="1928813" cy="7858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re 1"/>
          <p:cNvSpPr>
            <a:spLocks noGrp="1"/>
          </p:cNvSpPr>
          <p:nvPr>
            <p:ph type="title"/>
          </p:nvPr>
        </p:nvSpPr>
        <p:spPr/>
        <p:txBody>
          <a:bodyPr/>
          <a:lstStyle/>
          <a:p>
            <a:endParaRPr lang="fr-FR" smtClean="0"/>
          </a:p>
        </p:txBody>
      </p:sp>
      <p:sp>
        <p:nvSpPr>
          <p:cNvPr id="4" name="Espace réservé du numéro de diapositive 3"/>
          <p:cNvSpPr>
            <a:spLocks noGrp="1"/>
          </p:cNvSpPr>
          <p:nvPr>
            <p:ph type="sldNum" sz="quarter" idx="12"/>
          </p:nvPr>
        </p:nvSpPr>
        <p:spPr/>
        <p:txBody>
          <a:bodyPr/>
          <a:lstStyle/>
          <a:p>
            <a:pPr>
              <a:defRPr/>
            </a:pPr>
            <a:fld id="{D47C85C7-1740-47FA-8C20-53C52030CD10}" type="slidenum">
              <a:rPr lang="fr-FR" smtClean="0"/>
              <a:pPr>
                <a:defRPr/>
              </a:pPr>
              <a:t>94</a:t>
            </a:fld>
            <a:endParaRPr lang="fr-FR"/>
          </a:p>
        </p:txBody>
      </p:sp>
      <p:sp>
        <p:nvSpPr>
          <p:cNvPr id="88067" name="Espace réservé du contenu 2"/>
          <p:cNvSpPr>
            <a:spLocks noGrp="1"/>
          </p:cNvSpPr>
          <p:nvPr>
            <p:ph sz="quarter" idx="1"/>
          </p:nvPr>
        </p:nvSpPr>
        <p:spPr/>
        <p:txBody>
          <a:bodyPr/>
          <a:lstStyle/>
          <a:p>
            <a:r>
              <a:rPr lang="fr-FR" smtClean="0"/>
              <a:t>// 2-Le constructeur </a:t>
            </a:r>
          </a:p>
          <a:p>
            <a:pPr>
              <a:buFont typeface="Wingdings 2" pitchFamily="18" charset="2"/>
              <a:buNone/>
            </a:pPr>
            <a:r>
              <a:rPr lang="fr-FR" smtClean="0"/>
              <a:t>function </a:t>
            </a:r>
            <a:r>
              <a:rPr lang="fr-FR" smtClean="0">
                <a:solidFill>
                  <a:srgbClr val="FF0000"/>
                </a:solidFill>
              </a:rPr>
              <a:t>__construct</a:t>
            </a:r>
            <a:r>
              <a:rPr lang="fr-FR" smtClean="0"/>
              <a:t>($nom,$img,$age,$sexe){</a:t>
            </a:r>
          </a:p>
          <a:p>
            <a:pPr>
              <a:buFont typeface="Wingdings 2" pitchFamily="18" charset="2"/>
              <a:buNone/>
            </a:pPr>
            <a:r>
              <a:rPr lang="fr-FR" smtClean="0"/>
              <a:t>     $this-&gt;nom = $nom;</a:t>
            </a:r>
          </a:p>
          <a:p>
            <a:pPr>
              <a:buFont typeface="Wingdings 2" pitchFamily="18" charset="2"/>
              <a:buNone/>
            </a:pPr>
            <a:r>
              <a:rPr lang="fr-FR" smtClean="0"/>
              <a:t>     $this-&gt;img = $img;</a:t>
            </a:r>
          </a:p>
          <a:p>
            <a:pPr>
              <a:buFont typeface="Wingdings 2" pitchFamily="18" charset="2"/>
              <a:buNone/>
            </a:pPr>
            <a:r>
              <a:rPr lang="fr-FR" smtClean="0"/>
              <a:t>     $this-&gt;age = $age;</a:t>
            </a:r>
          </a:p>
          <a:p>
            <a:pPr>
              <a:buFont typeface="Wingdings 2" pitchFamily="18" charset="2"/>
              <a:buNone/>
            </a:pPr>
            <a:r>
              <a:rPr lang="fr-FR" smtClean="0"/>
              <a:t>     $this-&gt;sexe = $sexe;</a:t>
            </a:r>
          </a:p>
          <a:p>
            <a:pPr>
              <a:buFont typeface="Wingdings 2" pitchFamily="18" charset="2"/>
              <a:buNone/>
            </a:pPr>
            <a:r>
              <a:rPr lang="fr-FR" smtClean="0"/>
              <a:t>}</a:t>
            </a: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re 1"/>
          <p:cNvSpPr>
            <a:spLocks noGrp="1"/>
          </p:cNvSpPr>
          <p:nvPr>
            <p:ph type="title"/>
          </p:nvPr>
        </p:nvSpPr>
        <p:spPr/>
        <p:txBody>
          <a:bodyPr/>
          <a:lstStyle/>
          <a:p>
            <a:endParaRPr lang="fr-FR" smtClean="0"/>
          </a:p>
        </p:txBody>
      </p:sp>
      <p:sp>
        <p:nvSpPr>
          <p:cNvPr id="4" name="Espace réservé du numéro de diapositive 3"/>
          <p:cNvSpPr>
            <a:spLocks noGrp="1"/>
          </p:cNvSpPr>
          <p:nvPr>
            <p:ph type="sldNum" sz="quarter" idx="12"/>
          </p:nvPr>
        </p:nvSpPr>
        <p:spPr/>
        <p:txBody>
          <a:bodyPr/>
          <a:lstStyle/>
          <a:p>
            <a:pPr>
              <a:defRPr/>
            </a:pPr>
            <a:fld id="{2B8C25EA-5DE4-4EB6-BB38-BDF9867A0422}" type="slidenum">
              <a:rPr lang="fr-FR" smtClean="0"/>
              <a:pPr>
                <a:defRPr/>
              </a:pPr>
              <a:t>95</a:t>
            </a:fld>
            <a:endParaRPr lang="fr-FR"/>
          </a:p>
        </p:txBody>
      </p:sp>
      <p:sp>
        <p:nvSpPr>
          <p:cNvPr id="89091" name="Espace réservé du contenu 2"/>
          <p:cNvSpPr>
            <a:spLocks noGrp="1"/>
          </p:cNvSpPr>
          <p:nvPr>
            <p:ph sz="quarter" idx="1"/>
          </p:nvPr>
        </p:nvSpPr>
        <p:spPr/>
        <p:txBody>
          <a:bodyPr/>
          <a:lstStyle/>
          <a:p>
            <a:pPr>
              <a:buFont typeface="Wingdings 2" pitchFamily="18" charset="2"/>
              <a:buNone/>
            </a:pPr>
            <a:r>
              <a:rPr lang="fr-FR" smtClean="0"/>
              <a:t>// 3-les getters </a:t>
            </a:r>
          </a:p>
          <a:p>
            <a:pPr>
              <a:buFont typeface="Wingdings 2" pitchFamily="18" charset="2"/>
              <a:buNone/>
            </a:pPr>
            <a:endParaRPr lang="fr-FR" smtClean="0"/>
          </a:p>
          <a:p>
            <a:pPr>
              <a:buFont typeface="Wingdings 2" pitchFamily="18" charset="2"/>
              <a:buNone/>
            </a:pPr>
            <a:r>
              <a:rPr lang="fr-FR" smtClean="0"/>
              <a:t> function getNom(){return $this-&gt;nom;}</a:t>
            </a:r>
          </a:p>
          <a:p>
            <a:pPr>
              <a:buFont typeface="Wingdings 2" pitchFamily="18" charset="2"/>
              <a:buNone/>
            </a:pPr>
            <a:r>
              <a:rPr lang="fr-FR" smtClean="0"/>
              <a:t> function getImg(){return $this-&gt;img;}</a:t>
            </a:r>
          </a:p>
          <a:p>
            <a:pPr>
              <a:buFont typeface="Wingdings 2" pitchFamily="18" charset="2"/>
              <a:buNone/>
            </a:pPr>
            <a:r>
              <a:rPr lang="fr-FR" smtClean="0"/>
              <a:t> function getAge(){return $this-&gt;age;}</a:t>
            </a:r>
          </a:p>
          <a:p>
            <a:pPr>
              <a:buFont typeface="Wingdings 2" pitchFamily="18" charset="2"/>
              <a:buNone/>
            </a:pPr>
            <a:r>
              <a:rPr lang="fr-FR" smtClean="0"/>
              <a:t> function getSexe(){return $this-&gt;sexe;}</a:t>
            </a: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re 1"/>
          <p:cNvSpPr>
            <a:spLocks noGrp="1"/>
          </p:cNvSpPr>
          <p:nvPr>
            <p:ph type="title"/>
          </p:nvPr>
        </p:nvSpPr>
        <p:spPr/>
        <p:txBody>
          <a:bodyPr/>
          <a:lstStyle/>
          <a:p>
            <a:endParaRPr lang="fr-FR" smtClean="0"/>
          </a:p>
        </p:txBody>
      </p:sp>
      <p:sp>
        <p:nvSpPr>
          <p:cNvPr id="4" name="Espace réservé du numéro de diapositive 3"/>
          <p:cNvSpPr>
            <a:spLocks noGrp="1"/>
          </p:cNvSpPr>
          <p:nvPr>
            <p:ph type="sldNum" sz="quarter" idx="12"/>
          </p:nvPr>
        </p:nvSpPr>
        <p:spPr/>
        <p:txBody>
          <a:bodyPr/>
          <a:lstStyle/>
          <a:p>
            <a:pPr>
              <a:defRPr/>
            </a:pPr>
            <a:fld id="{8DB61D94-1164-489E-AE16-F2E2F1238E64}" type="slidenum">
              <a:rPr lang="fr-FR" smtClean="0"/>
              <a:pPr>
                <a:defRPr/>
              </a:pPr>
              <a:t>96</a:t>
            </a:fld>
            <a:endParaRPr lang="fr-FR"/>
          </a:p>
        </p:txBody>
      </p:sp>
      <p:sp>
        <p:nvSpPr>
          <p:cNvPr id="90115" name="Espace réservé du contenu 2"/>
          <p:cNvSpPr>
            <a:spLocks noGrp="1"/>
          </p:cNvSpPr>
          <p:nvPr>
            <p:ph sz="quarter" idx="1"/>
          </p:nvPr>
        </p:nvSpPr>
        <p:spPr/>
        <p:txBody>
          <a:bodyPr/>
          <a:lstStyle/>
          <a:p>
            <a:r>
              <a:rPr lang="fr-FR" dirty="0" smtClean="0"/>
              <a:t>//3- setters</a:t>
            </a:r>
          </a:p>
          <a:p>
            <a:pPr>
              <a:buNone/>
            </a:pPr>
            <a:endParaRPr lang="fr-FR" dirty="0" smtClean="0"/>
          </a:p>
          <a:p>
            <a:pPr>
              <a:buNone/>
            </a:pPr>
            <a:r>
              <a:rPr lang="fr-FR" dirty="0" err="1" smtClean="0"/>
              <a:t>function</a:t>
            </a:r>
            <a:r>
              <a:rPr lang="fr-FR" dirty="0" smtClean="0"/>
              <a:t> </a:t>
            </a:r>
            <a:r>
              <a:rPr lang="fr-FR" dirty="0" err="1" smtClean="0"/>
              <a:t>setNom</a:t>
            </a:r>
            <a:r>
              <a:rPr lang="fr-FR" dirty="0" smtClean="0"/>
              <a:t>($nom){$</a:t>
            </a:r>
            <a:r>
              <a:rPr lang="fr-FR" dirty="0" err="1" smtClean="0"/>
              <a:t>this</a:t>
            </a:r>
            <a:r>
              <a:rPr lang="fr-FR" dirty="0" smtClean="0"/>
              <a:t>-&gt;nom=$nom;}</a:t>
            </a:r>
          </a:p>
          <a:p>
            <a:pPr>
              <a:buNone/>
            </a:pPr>
            <a:r>
              <a:rPr lang="fr-FR" dirty="0" err="1" smtClean="0"/>
              <a:t>function</a:t>
            </a:r>
            <a:r>
              <a:rPr lang="fr-FR" dirty="0" smtClean="0"/>
              <a:t> </a:t>
            </a:r>
            <a:r>
              <a:rPr lang="fr-FR" dirty="0" err="1" smtClean="0"/>
              <a:t>setImg</a:t>
            </a:r>
            <a:r>
              <a:rPr lang="fr-FR" dirty="0" smtClean="0"/>
              <a:t>($</a:t>
            </a:r>
            <a:r>
              <a:rPr lang="fr-FR" dirty="0" err="1" smtClean="0"/>
              <a:t>img</a:t>
            </a:r>
            <a:r>
              <a:rPr lang="fr-FR" dirty="0" smtClean="0"/>
              <a:t>){$</a:t>
            </a:r>
            <a:r>
              <a:rPr lang="fr-FR" dirty="0" err="1" smtClean="0"/>
              <a:t>this</a:t>
            </a:r>
            <a:r>
              <a:rPr lang="fr-FR" dirty="0" smtClean="0"/>
              <a:t>-&gt;</a:t>
            </a:r>
            <a:r>
              <a:rPr lang="fr-FR" dirty="0" err="1" smtClean="0"/>
              <a:t>img</a:t>
            </a:r>
            <a:r>
              <a:rPr lang="fr-FR" dirty="0" smtClean="0"/>
              <a:t>=$</a:t>
            </a:r>
            <a:r>
              <a:rPr lang="fr-FR" dirty="0" err="1" smtClean="0"/>
              <a:t>img</a:t>
            </a:r>
            <a:r>
              <a:rPr lang="fr-FR" dirty="0" smtClean="0"/>
              <a:t>;}</a:t>
            </a:r>
          </a:p>
          <a:p>
            <a:pPr>
              <a:buNone/>
            </a:pPr>
            <a:r>
              <a:rPr lang="fr-FR" dirty="0" smtClean="0"/>
              <a:t> </a:t>
            </a:r>
            <a:r>
              <a:rPr lang="fr-FR" dirty="0" err="1" smtClean="0"/>
              <a:t>function</a:t>
            </a:r>
            <a:r>
              <a:rPr lang="fr-FR" dirty="0" smtClean="0"/>
              <a:t> </a:t>
            </a:r>
            <a:r>
              <a:rPr lang="fr-FR" dirty="0" err="1" smtClean="0"/>
              <a:t>setAge</a:t>
            </a:r>
            <a:r>
              <a:rPr lang="fr-FR" dirty="0" smtClean="0"/>
              <a:t>($</a:t>
            </a:r>
            <a:r>
              <a:rPr lang="fr-FR" dirty="0" err="1" smtClean="0"/>
              <a:t>age</a:t>
            </a:r>
            <a:r>
              <a:rPr lang="fr-FR" dirty="0" smtClean="0"/>
              <a:t>){$</a:t>
            </a:r>
            <a:r>
              <a:rPr lang="fr-FR" dirty="0" err="1" smtClean="0"/>
              <a:t>this</a:t>
            </a:r>
            <a:r>
              <a:rPr lang="fr-FR" dirty="0" smtClean="0"/>
              <a:t>-&gt;</a:t>
            </a:r>
            <a:r>
              <a:rPr lang="fr-FR" dirty="0" err="1" smtClean="0"/>
              <a:t>age</a:t>
            </a:r>
            <a:r>
              <a:rPr lang="fr-FR" dirty="0" smtClean="0"/>
              <a:t>=$</a:t>
            </a:r>
            <a:r>
              <a:rPr lang="fr-FR" dirty="0" err="1" smtClean="0"/>
              <a:t>age</a:t>
            </a:r>
            <a:r>
              <a:rPr lang="fr-FR" dirty="0" smtClean="0"/>
              <a:t>;}</a:t>
            </a:r>
          </a:p>
          <a:p>
            <a:pPr>
              <a:buNone/>
            </a:pPr>
            <a:r>
              <a:rPr lang="fr-FR" dirty="0" err="1" smtClean="0"/>
              <a:t>function</a:t>
            </a:r>
            <a:r>
              <a:rPr lang="fr-FR" dirty="0" smtClean="0"/>
              <a:t> </a:t>
            </a:r>
            <a:r>
              <a:rPr lang="fr-FR" dirty="0" err="1" smtClean="0"/>
              <a:t>setSexe</a:t>
            </a:r>
            <a:r>
              <a:rPr lang="fr-FR" dirty="0" smtClean="0"/>
              <a:t>($sexe){$</a:t>
            </a:r>
            <a:r>
              <a:rPr lang="fr-FR" dirty="0" err="1" smtClean="0"/>
              <a:t>this</a:t>
            </a:r>
            <a:r>
              <a:rPr lang="fr-FR" dirty="0" smtClean="0"/>
              <a:t>-&gt;sexe=$sexe;}</a:t>
            </a: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tre 1"/>
          <p:cNvSpPr>
            <a:spLocks noGrp="1"/>
          </p:cNvSpPr>
          <p:nvPr>
            <p:ph type="title"/>
          </p:nvPr>
        </p:nvSpPr>
        <p:spPr/>
        <p:txBody>
          <a:bodyPr/>
          <a:lstStyle/>
          <a:p>
            <a:endParaRPr lang="fr-FR" smtClean="0"/>
          </a:p>
        </p:txBody>
      </p:sp>
      <p:sp>
        <p:nvSpPr>
          <p:cNvPr id="4" name="Espace réservé du numéro de diapositive 3"/>
          <p:cNvSpPr>
            <a:spLocks noGrp="1"/>
          </p:cNvSpPr>
          <p:nvPr>
            <p:ph type="sldNum" sz="quarter" idx="12"/>
          </p:nvPr>
        </p:nvSpPr>
        <p:spPr/>
        <p:txBody>
          <a:bodyPr/>
          <a:lstStyle/>
          <a:p>
            <a:pPr>
              <a:defRPr/>
            </a:pPr>
            <a:fld id="{7BC0BDAD-DD5A-4DD6-A727-7FA00EFD80BD}" type="slidenum">
              <a:rPr lang="fr-FR" smtClean="0"/>
              <a:pPr>
                <a:defRPr/>
              </a:pPr>
              <a:t>97</a:t>
            </a:fld>
            <a:endParaRPr lang="fr-FR"/>
          </a:p>
        </p:txBody>
      </p:sp>
      <p:sp>
        <p:nvSpPr>
          <p:cNvPr id="91139" name="Espace réservé du contenu 2"/>
          <p:cNvSpPr>
            <a:spLocks noGrp="1"/>
          </p:cNvSpPr>
          <p:nvPr>
            <p:ph sz="quarter" idx="1"/>
          </p:nvPr>
        </p:nvSpPr>
        <p:spPr/>
        <p:txBody>
          <a:bodyPr/>
          <a:lstStyle/>
          <a:p>
            <a:r>
              <a:rPr lang="fr-FR" smtClean="0"/>
              <a:t>// 4-Méthode afficherInfos:</a:t>
            </a:r>
          </a:p>
          <a:p>
            <a:endParaRPr lang="fr-FR" smtClean="0"/>
          </a:p>
          <a:p>
            <a:pPr>
              <a:buFont typeface="Wingdings 2" pitchFamily="18" charset="2"/>
              <a:buNone/>
            </a:pPr>
            <a:r>
              <a:rPr lang="fr-FR" smtClean="0"/>
              <a:t>public function afficherMesInfos(){</a:t>
            </a:r>
          </a:p>
          <a:p>
            <a:pPr>
              <a:buFont typeface="Wingdings 2" pitchFamily="18" charset="2"/>
              <a:buNone/>
            </a:pPr>
            <a:r>
              <a:rPr lang="fr-FR" smtClean="0"/>
              <a:t>    echo "&lt;b&gt;Nom : &lt;/b&gt;" . $this-&gt;nom ."&lt;br/&gt;";</a:t>
            </a:r>
          </a:p>
          <a:p>
            <a:pPr>
              <a:buFont typeface="Wingdings 2" pitchFamily="18" charset="2"/>
              <a:buNone/>
            </a:pPr>
            <a:r>
              <a:rPr lang="fr-FR" smtClean="0"/>
              <a:t>    echo "&lt;b&gt;Age : &lt;/b&gt;" . $this-&gt;age ."&lt;br/&gt;";</a:t>
            </a:r>
          </a:p>
          <a:p>
            <a:pPr>
              <a:buFont typeface="Wingdings 2" pitchFamily="18" charset="2"/>
              <a:buNone/>
            </a:pPr>
            <a:r>
              <a:rPr lang="fr-FR" smtClean="0"/>
              <a:t>    echo "&lt;b&gt;Sexe&lt;/b&gt; :" . $this-&gt;sexe ."&lt;br/&gt;";</a:t>
            </a:r>
          </a:p>
          <a:p>
            <a:pPr>
              <a:buFont typeface="Wingdings 2" pitchFamily="18" charset="2"/>
              <a:buNone/>
            </a:pPr>
            <a:r>
              <a:rPr lang="en-US" smtClean="0"/>
              <a:t>    echo "&lt;img src = 'sources/images/".$this-&gt;img."' alt = '".$this-&gt;img."' /&gt;";</a:t>
            </a:r>
            <a:endParaRPr lang="fr-FR" smtClean="0"/>
          </a:p>
          <a:p>
            <a:pPr>
              <a:buFont typeface="Wingdings 2" pitchFamily="18" charset="2"/>
              <a:buNone/>
            </a:pPr>
            <a:r>
              <a:rPr lang="fr-FR" smtClean="0"/>
              <a:t>}</a:t>
            </a: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re 1"/>
          <p:cNvSpPr>
            <a:spLocks noGrp="1"/>
          </p:cNvSpPr>
          <p:nvPr>
            <p:ph type="title"/>
          </p:nvPr>
        </p:nvSpPr>
        <p:spPr/>
        <p:txBody>
          <a:bodyPr/>
          <a:lstStyle/>
          <a:p>
            <a:endParaRPr lang="fr-FR" smtClean="0"/>
          </a:p>
        </p:txBody>
      </p:sp>
      <p:sp>
        <p:nvSpPr>
          <p:cNvPr id="4" name="Espace réservé du numéro de diapositive 3"/>
          <p:cNvSpPr>
            <a:spLocks noGrp="1"/>
          </p:cNvSpPr>
          <p:nvPr>
            <p:ph type="sldNum" sz="quarter" idx="12"/>
          </p:nvPr>
        </p:nvSpPr>
        <p:spPr/>
        <p:txBody>
          <a:bodyPr/>
          <a:lstStyle/>
          <a:p>
            <a:pPr>
              <a:defRPr/>
            </a:pPr>
            <a:fld id="{A5A95F2D-5B04-43FB-9D8F-EDE156CD69EF}" type="slidenum">
              <a:rPr lang="fr-FR" smtClean="0"/>
              <a:pPr>
                <a:defRPr/>
              </a:pPr>
              <a:t>98</a:t>
            </a:fld>
            <a:endParaRPr lang="fr-FR"/>
          </a:p>
        </p:txBody>
      </p:sp>
      <p:sp>
        <p:nvSpPr>
          <p:cNvPr id="92163" name="Espace réservé du contenu 2"/>
          <p:cNvSpPr>
            <a:spLocks noGrp="1"/>
          </p:cNvSpPr>
          <p:nvPr>
            <p:ph sz="quarter" idx="1"/>
          </p:nvPr>
        </p:nvSpPr>
        <p:spPr/>
        <p:txBody>
          <a:bodyPr/>
          <a:lstStyle/>
          <a:p>
            <a:r>
              <a:rPr lang="fr-FR" smtClean="0"/>
              <a:t>On peut declarer des méthodes static</a:t>
            </a:r>
          </a:p>
          <a:p>
            <a:endParaRPr lang="fr-FR" smtClean="0"/>
          </a:p>
          <a:p>
            <a:pPr>
              <a:buFont typeface="Wingdings 2" pitchFamily="18" charset="2"/>
              <a:buNone/>
            </a:pPr>
            <a:r>
              <a:rPr lang="fr-FR" smtClean="0"/>
              <a:t>static function  nom_de_la_méthode{</a:t>
            </a:r>
          </a:p>
          <a:p>
            <a:endParaRPr lang="fr-FR" smtClean="0"/>
          </a:p>
          <a:p>
            <a:endParaRPr lang="fr-FR" smtClean="0"/>
          </a:p>
          <a:p>
            <a:pPr>
              <a:buFont typeface="Wingdings 2" pitchFamily="18" charset="2"/>
              <a:buNone/>
            </a:pPr>
            <a:r>
              <a:rPr lang="fr-FR" smtClean="0"/>
              <a:t>}</a:t>
            </a:r>
          </a:p>
          <a:p>
            <a:endParaRPr lang="fr-FR" smtClean="0"/>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re 1"/>
          <p:cNvSpPr>
            <a:spLocks noGrp="1"/>
          </p:cNvSpPr>
          <p:nvPr>
            <p:ph type="title"/>
          </p:nvPr>
        </p:nvSpPr>
        <p:spPr/>
        <p:txBody>
          <a:bodyPr/>
          <a:lstStyle/>
          <a:p>
            <a:r>
              <a:rPr lang="fr-FR" smtClean="0"/>
              <a:t>Appel des méthodes:</a:t>
            </a:r>
          </a:p>
        </p:txBody>
      </p:sp>
      <p:sp>
        <p:nvSpPr>
          <p:cNvPr id="4" name="Espace réservé du numéro de diapositive 3"/>
          <p:cNvSpPr>
            <a:spLocks noGrp="1"/>
          </p:cNvSpPr>
          <p:nvPr>
            <p:ph type="sldNum" sz="quarter" idx="12"/>
          </p:nvPr>
        </p:nvSpPr>
        <p:spPr/>
        <p:txBody>
          <a:bodyPr/>
          <a:lstStyle/>
          <a:p>
            <a:pPr>
              <a:defRPr/>
            </a:pPr>
            <a:fld id="{18E35DD5-F86F-4098-9DDA-74E0D27C3C24}" type="slidenum">
              <a:rPr lang="fr-FR" smtClean="0"/>
              <a:pPr>
                <a:defRPr/>
              </a:pPr>
              <a:t>99</a:t>
            </a:fld>
            <a:endParaRPr lang="fr-FR"/>
          </a:p>
        </p:txBody>
      </p:sp>
      <p:sp>
        <p:nvSpPr>
          <p:cNvPr id="93187" name="Espace réservé du contenu 2"/>
          <p:cNvSpPr>
            <a:spLocks noGrp="1"/>
          </p:cNvSpPr>
          <p:nvPr>
            <p:ph sz="quarter" idx="1"/>
          </p:nvPr>
        </p:nvSpPr>
        <p:spPr/>
        <p:txBody>
          <a:bodyPr/>
          <a:lstStyle/>
          <a:p>
            <a:pPr>
              <a:buFont typeface="Wingdings 2" pitchFamily="18" charset="2"/>
              <a:buNone/>
            </a:pPr>
            <a:r>
              <a:rPr lang="fr-FR" b="1" u="sng" smtClean="0"/>
              <a:t>Si la méthode est non static </a:t>
            </a:r>
          </a:p>
          <a:p>
            <a:endParaRPr lang="fr-FR" smtClean="0"/>
          </a:p>
          <a:p>
            <a:r>
              <a:rPr lang="fr-FR" smtClean="0"/>
              <a:t>$objet- &gt; nom_methode(parametres …)</a:t>
            </a:r>
          </a:p>
          <a:p>
            <a:endParaRPr lang="fr-FR" smtClean="0"/>
          </a:p>
          <a:p>
            <a:endParaRPr lang="fr-FR" smtClean="0"/>
          </a:p>
          <a:p>
            <a:pPr>
              <a:buFont typeface="Wingdings 2" pitchFamily="18" charset="2"/>
              <a:buNone/>
            </a:pPr>
            <a:r>
              <a:rPr lang="fr-FR" b="1" u="sng" smtClean="0"/>
              <a:t>Si la méthode est static </a:t>
            </a:r>
          </a:p>
          <a:p>
            <a:endParaRPr lang="fr-FR" smtClean="0"/>
          </a:p>
          <a:p>
            <a:r>
              <a:rPr lang="fr-FR" smtClean="0"/>
              <a:t>Nomclass::nom_methode(parametres…)</a:t>
            </a: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re 1"/>
          <p:cNvSpPr>
            <a:spLocks noGrp="1"/>
          </p:cNvSpPr>
          <p:nvPr>
            <p:ph type="title"/>
          </p:nvPr>
        </p:nvSpPr>
        <p:spPr/>
        <p:txBody>
          <a:bodyPr/>
          <a:lstStyle/>
          <a:p>
            <a:r>
              <a:rPr lang="fr-FR" smtClean="0"/>
              <a:t>L’Héritage</a:t>
            </a:r>
          </a:p>
        </p:txBody>
      </p:sp>
      <p:sp>
        <p:nvSpPr>
          <p:cNvPr id="4" name="Espace réservé du numéro de diapositive 3"/>
          <p:cNvSpPr>
            <a:spLocks noGrp="1"/>
          </p:cNvSpPr>
          <p:nvPr>
            <p:ph type="sldNum" sz="quarter" idx="12"/>
          </p:nvPr>
        </p:nvSpPr>
        <p:spPr/>
        <p:txBody>
          <a:bodyPr/>
          <a:lstStyle/>
          <a:p>
            <a:pPr>
              <a:defRPr/>
            </a:pPr>
            <a:fld id="{EDA5F59A-479A-4D08-98A8-3429389FA515}" type="slidenum">
              <a:rPr lang="fr-FR" smtClean="0"/>
              <a:pPr>
                <a:defRPr/>
              </a:pPr>
              <a:t>100</a:t>
            </a:fld>
            <a:endParaRPr lang="fr-FR"/>
          </a:p>
        </p:txBody>
      </p:sp>
      <p:sp>
        <p:nvSpPr>
          <p:cNvPr id="10" name="Rectangle 9"/>
          <p:cNvSpPr/>
          <p:nvPr/>
        </p:nvSpPr>
        <p:spPr>
          <a:xfrm>
            <a:off x="3857625" y="1285875"/>
            <a:ext cx="3714750" cy="42862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dirty="0"/>
              <a:t>class Chat </a:t>
            </a:r>
            <a:r>
              <a:rPr lang="fr-FR" dirty="0" err="1"/>
              <a:t>extends</a:t>
            </a:r>
            <a:r>
              <a:rPr lang="fr-FR" dirty="0"/>
              <a:t> Animal{</a:t>
            </a:r>
          </a:p>
          <a:p>
            <a:pPr algn="ctr">
              <a:defRPr/>
            </a:pPr>
            <a:endParaRPr lang="fr-FR" dirty="0"/>
          </a:p>
          <a:p>
            <a:pPr algn="ctr">
              <a:defRPr/>
            </a:pPr>
            <a:r>
              <a:rPr lang="fr-FR" dirty="0"/>
              <a:t>// appel du constructeur de la class </a:t>
            </a:r>
            <a:r>
              <a:rPr lang="fr-FR" dirty="0" err="1"/>
              <a:t>Mere</a:t>
            </a:r>
            <a:r>
              <a:rPr lang="fr-FR" dirty="0"/>
              <a:t> </a:t>
            </a:r>
          </a:p>
          <a:p>
            <a:pPr algn="ctr">
              <a:defRPr/>
            </a:pPr>
            <a:r>
              <a:rPr lang="fr-FR" b="1" dirty="0"/>
              <a:t>parent::</a:t>
            </a:r>
            <a:r>
              <a:rPr lang="fr-FR" b="1" dirty="0" err="1"/>
              <a:t>__construct</a:t>
            </a:r>
            <a:r>
              <a:rPr lang="fr-FR" b="1" dirty="0"/>
              <a:t>()</a:t>
            </a:r>
          </a:p>
          <a:p>
            <a:pPr algn="ctr">
              <a:defRPr/>
            </a:pPr>
            <a:endParaRPr lang="fr-FR" dirty="0"/>
          </a:p>
          <a:p>
            <a:pPr algn="ctr">
              <a:defRPr/>
            </a:pPr>
            <a:endParaRPr lang="fr-FR" dirty="0"/>
          </a:p>
          <a:p>
            <a:pPr algn="ctr">
              <a:defRPr/>
            </a:pPr>
            <a:endParaRPr lang="fr-FR" dirty="0"/>
          </a:p>
          <a:p>
            <a:pPr algn="ctr">
              <a:defRPr/>
            </a:pPr>
            <a:endParaRPr lang="fr-FR" dirty="0"/>
          </a:p>
          <a:p>
            <a:pPr algn="ctr">
              <a:defRPr/>
            </a:pPr>
            <a:r>
              <a:rPr lang="fr-FR" dirty="0"/>
              <a:t>// appel d’une méthode de la class </a:t>
            </a:r>
            <a:r>
              <a:rPr lang="fr-FR" dirty="0" err="1"/>
              <a:t>Mere</a:t>
            </a:r>
            <a:r>
              <a:rPr lang="fr-FR" dirty="0"/>
              <a:t> </a:t>
            </a:r>
          </a:p>
          <a:p>
            <a:pPr algn="ctr">
              <a:defRPr/>
            </a:pPr>
            <a:r>
              <a:rPr lang="fr-FR" b="1" dirty="0"/>
              <a:t>parent::</a:t>
            </a:r>
            <a:r>
              <a:rPr lang="fr-FR" b="1" dirty="0" err="1"/>
              <a:t>nom_méthode</a:t>
            </a:r>
            <a:r>
              <a:rPr lang="fr-FR" b="1" dirty="0"/>
              <a:t>()</a:t>
            </a:r>
          </a:p>
          <a:p>
            <a:pPr algn="ctr">
              <a:defRPr/>
            </a:pPr>
            <a:endParaRPr lang="fr-FR" dirty="0"/>
          </a:p>
          <a:p>
            <a:pPr algn="ctr">
              <a:defRPr/>
            </a:pPr>
            <a:endParaRPr lang="fr-FR" dirty="0"/>
          </a:p>
          <a:p>
            <a:pPr algn="ctr">
              <a:defRPr/>
            </a:pPr>
            <a:endParaRPr lang="fr-FR" dirty="0"/>
          </a:p>
          <a:p>
            <a:pPr algn="ctr">
              <a:defRPr/>
            </a:pPr>
            <a:endParaRPr lang="fr-FR" dirty="0"/>
          </a:p>
          <a:p>
            <a:pPr algn="ctr">
              <a:defRPr/>
            </a:pPr>
            <a:r>
              <a:rPr lang="fr-FR" dirty="0"/>
              <a:t>}</a:t>
            </a:r>
          </a:p>
        </p:txBody>
      </p:sp>
      <p:pic>
        <p:nvPicPr>
          <p:cNvPr id="94213" name="Picture 10"/>
          <p:cNvPicPr>
            <a:picLocks noChangeAspect="1" noChangeArrowheads="1"/>
          </p:cNvPicPr>
          <p:nvPr/>
        </p:nvPicPr>
        <p:blipFill>
          <a:blip r:embed="rId2"/>
          <a:srcRect/>
          <a:stretch>
            <a:fillRect/>
          </a:stretch>
        </p:blipFill>
        <p:spPr bwMode="auto">
          <a:xfrm>
            <a:off x="214313" y="2071688"/>
            <a:ext cx="3429000" cy="30003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re 1"/>
          <p:cNvSpPr>
            <a:spLocks noGrp="1"/>
          </p:cNvSpPr>
          <p:nvPr>
            <p:ph type="title"/>
          </p:nvPr>
        </p:nvSpPr>
        <p:spPr/>
        <p:txBody>
          <a:bodyPr/>
          <a:lstStyle/>
          <a:p>
            <a:r>
              <a:rPr lang="fr-FR" dirty="0" smtClean="0"/>
              <a:t>TP 5 panier de fruits</a:t>
            </a:r>
          </a:p>
        </p:txBody>
      </p:sp>
      <p:sp>
        <p:nvSpPr>
          <p:cNvPr id="4" name="Espace réservé du numéro de diapositive 3"/>
          <p:cNvSpPr>
            <a:spLocks noGrp="1"/>
          </p:cNvSpPr>
          <p:nvPr>
            <p:ph type="sldNum" sz="quarter" idx="12"/>
          </p:nvPr>
        </p:nvSpPr>
        <p:spPr/>
        <p:txBody>
          <a:bodyPr/>
          <a:lstStyle/>
          <a:p>
            <a:pPr>
              <a:defRPr/>
            </a:pPr>
            <a:fld id="{EB198CDF-B732-4B9B-A92A-C7D92E358212}" type="slidenum">
              <a:rPr lang="fr-FR" smtClean="0"/>
              <a:pPr>
                <a:defRPr/>
              </a:pPr>
              <a:t>101</a:t>
            </a:fld>
            <a:endParaRPr lang="fr-FR"/>
          </a:p>
        </p:txBody>
      </p:sp>
      <p:pic>
        <p:nvPicPr>
          <p:cNvPr id="2" name="Picture 2"/>
          <p:cNvPicPr>
            <a:picLocks noChangeAspect="1" noChangeArrowheads="1"/>
          </p:cNvPicPr>
          <p:nvPr/>
        </p:nvPicPr>
        <p:blipFill>
          <a:blip r:embed="rId2"/>
          <a:srcRect/>
          <a:stretch>
            <a:fillRect/>
          </a:stretch>
        </p:blipFill>
        <p:spPr bwMode="auto">
          <a:xfrm>
            <a:off x="714348" y="1571612"/>
            <a:ext cx="8143932" cy="442915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smtClean="0"/>
              <a:t>TP E-Fruit</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102</a:t>
            </a:fld>
            <a:endParaRPr lang="fr-F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4048" y="1618239"/>
            <a:ext cx="3304406" cy="471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1618239"/>
            <a:ext cx="3367087" cy="471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37438547"/>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re 1"/>
          <p:cNvSpPr>
            <a:spLocks noGrp="1"/>
          </p:cNvSpPr>
          <p:nvPr>
            <p:ph type="title"/>
          </p:nvPr>
        </p:nvSpPr>
        <p:spPr>
          <a:xfrm>
            <a:off x="714375" y="2428875"/>
            <a:ext cx="8215313" cy="1143000"/>
          </a:xfrm>
        </p:spPr>
        <p:txBody>
          <a:bodyPr/>
          <a:lstStyle/>
          <a:p>
            <a:r>
              <a:rPr lang="fr-FR" smtClean="0"/>
              <a:t>Se connecter à une base de données </a:t>
            </a:r>
          </a:p>
        </p:txBody>
      </p:sp>
      <p:sp>
        <p:nvSpPr>
          <p:cNvPr id="4" name="Espace réservé du numéro de diapositive 3"/>
          <p:cNvSpPr>
            <a:spLocks noGrp="1"/>
          </p:cNvSpPr>
          <p:nvPr>
            <p:ph type="sldNum" sz="quarter" idx="12"/>
          </p:nvPr>
        </p:nvSpPr>
        <p:spPr/>
        <p:txBody>
          <a:bodyPr/>
          <a:lstStyle/>
          <a:p>
            <a:pPr>
              <a:defRPr/>
            </a:pPr>
            <a:fld id="{637A9CF8-7D14-4675-80E0-0DE56DE693BE}" type="slidenum">
              <a:rPr lang="fr-FR" smtClean="0"/>
              <a:pPr>
                <a:defRPr/>
              </a:pPr>
              <a:t>103</a:t>
            </a:fld>
            <a:endParaRPr lang="fr-F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re 1"/>
          <p:cNvSpPr>
            <a:spLocks noGrp="1"/>
          </p:cNvSpPr>
          <p:nvPr>
            <p:ph type="title"/>
          </p:nvPr>
        </p:nvSpPr>
        <p:spPr/>
        <p:txBody>
          <a:bodyPr/>
          <a:lstStyle/>
          <a:p>
            <a:r>
              <a:rPr lang="fr-FR" smtClean="0"/>
              <a:t>I-Accès procédural</a:t>
            </a:r>
          </a:p>
        </p:txBody>
      </p:sp>
      <p:sp>
        <p:nvSpPr>
          <p:cNvPr id="4" name="Espace réservé du numéro de diapositive 3"/>
          <p:cNvSpPr>
            <a:spLocks noGrp="1"/>
          </p:cNvSpPr>
          <p:nvPr>
            <p:ph type="sldNum" sz="quarter" idx="12"/>
          </p:nvPr>
        </p:nvSpPr>
        <p:spPr/>
        <p:txBody>
          <a:bodyPr/>
          <a:lstStyle/>
          <a:p>
            <a:pPr>
              <a:defRPr/>
            </a:pPr>
            <a:fld id="{26ABF5CE-29AD-44F0-B5D3-57D175866726}" type="slidenum">
              <a:rPr lang="fr-FR" smtClean="0"/>
              <a:pPr>
                <a:defRPr/>
              </a:pPr>
              <a:t>104</a:t>
            </a:fld>
            <a:endParaRPr lang="fr-FR"/>
          </a:p>
        </p:txBody>
      </p:sp>
      <p:sp>
        <p:nvSpPr>
          <p:cNvPr id="97283" name="Espace réservé du contenu 2"/>
          <p:cNvSpPr>
            <a:spLocks noGrp="1"/>
          </p:cNvSpPr>
          <p:nvPr>
            <p:ph sz="quarter" idx="1"/>
          </p:nvPr>
        </p:nvSpPr>
        <p:spPr/>
        <p:txBody>
          <a:bodyPr/>
          <a:lstStyle/>
          <a:p>
            <a:pPr>
              <a:buFont typeface="Wingdings 2" pitchFamily="18" charset="2"/>
              <a:buNone/>
            </a:pPr>
            <a:endParaRPr lang="fr-FR" smtClean="0"/>
          </a:p>
          <a:p>
            <a:endParaRPr lang="fr-FR" smtClean="0"/>
          </a:p>
          <a:p>
            <a:r>
              <a:rPr lang="fr-FR" smtClean="0"/>
              <a:t>    1-mysql_: base de données Mysql,obsolete</a:t>
            </a:r>
          </a:p>
          <a:p>
            <a:endParaRPr lang="fr-FR" smtClean="0"/>
          </a:p>
          <a:p>
            <a:endParaRPr lang="fr-FR" smtClean="0"/>
          </a:p>
          <a:p>
            <a:r>
              <a:rPr lang="fr-FR" smtClean="0"/>
              <a:t>   2-mysqli_:base de données Mysql,),</a:t>
            </a:r>
            <a:r>
              <a:rPr lang="fr-FR" b="1" smtClean="0"/>
              <a:t>~~</a:t>
            </a:r>
          </a:p>
          <a:p>
            <a:endParaRPr lang="fr-FR" smtClean="0"/>
          </a:p>
          <a:p>
            <a:endParaRPr lang="fr-FR" smtClean="0"/>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re 1"/>
          <p:cNvSpPr>
            <a:spLocks noGrp="1"/>
          </p:cNvSpPr>
          <p:nvPr>
            <p:ph type="title"/>
          </p:nvPr>
        </p:nvSpPr>
        <p:spPr/>
        <p:txBody>
          <a:bodyPr/>
          <a:lstStyle/>
          <a:p>
            <a:r>
              <a:rPr lang="fr-FR" smtClean="0"/>
              <a:t>II-Acces orienté objet :</a:t>
            </a:r>
          </a:p>
        </p:txBody>
      </p:sp>
      <p:sp>
        <p:nvSpPr>
          <p:cNvPr id="4" name="Espace réservé du numéro de diapositive 3"/>
          <p:cNvSpPr>
            <a:spLocks noGrp="1"/>
          </p:cNvSpPr>
          <p:nvPr>
            <p:ph type="sldNum" sz="quarter" idx="12"/>
          </p:nvPr>
        </p:nvSpPr>
        <p:spPr/>
        <p:txBody>
          <a:bodyPr/>
          <a:lstStyle/>
          <a:p>
            <a:pPr>
              <a:defRPr/>
            </a:pPr>
            <a:fld id="{388B0F26-F452-4076-B902-1F3BCBB73F50}" type="slidenum">
              <a:rPr lang="fr-FR" smtClean="0"/>
              <a:pPr>
                <a:defRPr/>
              </a:pPr>
              <a:t>105</a:t>
            </a:fld>
            <a:endParaRPr lang="fr-FR"/>
          </a:p>
        </p:txBody>
      </p:sp>
      <p:sp>
        <p:nvSpPr>
          <p:cNvPr id="98307" name="Espace réservé du contenu 2"/>
          <p:cNvSpPr>
            <a:spLocks noGrp="1"/>
          </p:cNvSpPr>
          <p:nvPr>
            <p:ph sz="quarter" idx="1"/>
          </p:nvPr>
        </p:nvSpPr>
        <p:spPr/>
        <p:txBody>
          <a:bodyPr/>
          <a:lstStyle/>
          <a:p>
            <a:endParaRPr lang="fr-FR" smtClean="0"/>
          </a:p>
          <a:p>
            <a:r>
              <a:rPr lang="fr-FR" smtClean="0"/>
              <a:t>PDO (php data object) :sécurisée ,se connceter à plusieurs bases de données</a:t>
            </a:r>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re 1"/>
          <p:cNvSpPr>
            <a:spLocks noGrp="1"/>
          </p:cNvSpPr>
          <p:nvPr>
            <p:ph type="title"/>
          </p:nvPr>
        </p:nvSpPr>
        <p:spPr/>
        <p:txBody>
          <a:bodyPr/>
          <a:lstStyle/>
          <a:p>
            <a:r>
              <a:rPr lang="fr-FR" smtClean="0"/>
              <a:t>PDO</a:t>
            </a:r>
          </a:p>
        </p:txBody>
      </p:sp>
      <p:sp>
        <p:nvSpPr>
          <p:cNvPr id="4" name="Espace réservé du numéro de diapositive 3"/>
          <p:cNvSpPr>
            <a:spLocks noGrp="1"/>
          </p:cNvSpPr>
          <p:nvPr>
            <p:ph type="sldNum" sz="quarter" idx="12"/>
          </p:nvPr>
        </p:nvSpPr>
        <p:spPr/>
        <p:txBody>
          <a:bodyPr/>
          <a:lstStyle/>
          <a:p>
            <a:pPr>
              <a:defRPr/>
            </a:pPr>
            <a:fld id="{3CA2E679-CE3A-4611-9C4A-98BF5B7CD2C0}" type="slidenum">
              <a:rPr lang="fr-FR" smtClean="0"/>
              <a:pPr>
                <a:defRPr/>
              </a:pPr>
              <a:t>106</a:t>
            </a:fld>
            <a:endParaRPr lang="fr-FR"/>
          </a:p>
        </p:txBody>
      </p:sp>
      <p:sp>
        <p:nvSpPr>
          <p:cNvPr id="99331" name="Espace réservé du contenu 2"/>
          <p:cNvSpPr>
            <a:spLocks noGrp="1"/>
          </p:cNvSpPr>
          <p:nvPr>
            <p:ph sz="quarter" idx="1"/>
          </p:nvPr>
        </p:nvSpPr>
        <p:spPr/>
        <p:txBody>
          <a:bodyPr/>
          <a:lstStyle/>
          <a:p>
            <a:r>
              <a:rPr lang="fr-FR" smtClean="0"/>
              <a:t>1-connexion à la base de données:</a:t>
            </a:r>
          </a:p>
          <a:p>
            <a:endParaRPr lang="fr-FR" smtClean="0"/>
          </a:p>
          <a:p>
            <a:pPr>
              <a:buFont typeface="Wingdings 2" pitchFamily="18" charset="2"/>
              <a:buNone/>
            </a:pPr>
            <a:r>
              <a:rPr lang="fr-FR" smtClean="0"/>
              <a:t>$db = new PDO('mysql:host=localhost;dbname='nombd';</a:t>
            </a:r>
          </a:p>
          <a:p>
            <a:pPr>
              <a:buFont typeface="Wingdings 2" pitchFamily="18" charset="2"/>
              <a:buNone/>
            </a:pPr>
            <a:r>
              <a:rPr lang="fr-FR" smtClean="0"/>
              <a:t>charset=utf8','root', '');</a:t>
            </a: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E410479D-E152-4EC9-BD02-433EF7936BD1}" type="slidenum">
              <a:rPr lang="fr-FR" smtClean="0"/>
              <a:pPr>
                <a:defRPr/>
              </a:pPr>
              <a:t>107</a:t>
            </a:fld>
            <a:endParaRPr lang="fr-FR"/>
          </a:p>
        </p:txBody>
      </p:sp>
      <p:sp>
        <p:nvSpPr>
          <p:cNvPr id="100354" name="Espace réservé du contenu 2"/>
          <p:cNvSpPr>
            <a:spLocks noGrp="1"/>
          </p:cNvSpPr>
          <p:nvPr>
            <p:ph sz="quarter" idx="1"/>
          </p:nvPr>
        </p:nvSpPr>
        <p:spPr>
          <a:xfrm>
            <a:off x="914400" y="571500"/>
            <a:ext cx="7772400" cy="5448300"/>
          </a:xfrm>
        </p:spPr>
        <p:txBody>
          <a:bodyPr/>
          <a:lstStyle/>
          <a:p>
            <a:r>
              <a:rPr lang="fr-FR" smtClean="0"/>
              <a:t>2-exécuter une requête de mise à jour :</a:t>
            </a:r>
          </a:p>
          <a:p>
            <a:pPr>
              <a:buFont typeface="Wingdings 2" pitchFamily="18" charset="2"/>
              <a:buNone/>
            </a:pPr>
            <a:r>
              <a:rPr lang="fr-FR" smtClean="0"/>
              <a:t>//déclarer la requete SQL:</a:t>
            </a:r>
          </a:p>
          <a:p>
            <a:pPr>
              <a:buFont typeface="Wingdings 2" pitchFamily="18" charset="2"/>
              <a:buNone/>
            </a:pPr>
            <a:r>
              <a:rPr lang="fr-FR" smtClean="0"/>
              <a:t>-$req=‘insert into ……….’;</a:t>
            </a:r>
          </a:p>
          <a:p>
            <a:pPr>
              <a:buFont typeface="Wingdings 2" pitchFamily="18" charset="2"/>
              <a:buNone/>
            </a:pPr>
            <a:r>
              <a:rPr lang="fr-FR" smtClean="0"/>
              <a:t>//executer la requete SQL:</a:t>
            </a:r>
          </a:p>
          <a:p>
            <a:pPr>
              <a:buFont typeface="Wingdings 2" pitchFamily="18" charset="2"/>
              <a:buNone/>
            </a:pPr>
            <a:r>
              <a:rPr lang="fr-FR" smtClean="0"/>
              <a:t>$r=$db </a:t>
            </a:r>
            <a:r>
              <a:rPr lang="fr-FR" sz="5400" smtClean="0"/>
              <a:t>-</a:t>
            </a:r>
            <a:r>
              <a:rPr lang="fr-FR" b="1" smtClean="0"/>
              <a:t>&gt;exec(</a:t>
            </a:r>
            <a:r>
              <a:rPr lang="fr-FR" smtClean="0"/>
              <a:t>$req</a:t>
            </a:r>
            <a:r>
              <a:rPr lang="fr-FR" b="1" smtClean="0"/>
              <a:t>);</a:t>
            </a:r>
          </a:p>
          <a:p>
            <a:pPr>
              <a:buFont typeface="Wingdings 2" pitchFamily="18" charset="2"/>
              <a:buNone/>
            </a:pPr>
            <a:endParaRPr lang="fr-FR" smtClean="0"/>
          </a:p>
          <a:p>
            <a:pPr>
              <a:buFont typeface="Wingdings 2" pitchFamily="18" charset="2"/>
              <a:buNone/>
            </a:pPr>
            <a:endParaRPr lang="fr-FR" smtClean="0"/>
          </a:p>
          <a:p>
            <a:pPr>
              <a:buFont typeface="Wingdings 2" pitchFamily="18" charset="2"/>
              <a:buNone/>
            </a:pPr>
            <a:r>
              <a:rPr lang="fr-FR" smtClean="0"/>
              <a:t>-$db=null;// fermer la connection</a:t>
            </a:r>
          </a:p>
          <a:p>
            <a:pPr>
              <a:buFont typeface="Wingdings 2" pitchFamily="18" charset="2"/>
              <a:buNone/>
            </a:pPr>
            <a:endParaRPr lang="fr-FR" smtClean="0"/>
          </a:p>
        </p:txBody>
      </p:sp>
      <p:cxnSp>
        <p:nvCxnSpPr>
          <p:cNvPr id="6" name="Connecteur droit avec flèche 5"/>
          <p:cNvCxnSpPr/>
          <p:nvPr/>
        </p:nvCxnSpPr>
        <p:spPr>
          <a:xfrm>
            <a:off x="1214438" y="3143250"/>
            <a:ext cx="3714750" cy="7858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5143500" y="3429000"/>
            <a:ext cx="4357688" cy="7858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dirty="0"/>
              <a:t>Entier qui représente le nombre de lignes affectées</a:t>
            </a:r>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F5DB1037-A7D1-411E-AAA4-136100B7B6CC}" type="slidenum">
              <a:rPr lang="fr-FR" smtClean="0"/>
              <a:pPr>
                <a:defRPr/>
              </a:pPr>
              <a:t>108</a:t>
            </a:fld>
            <a:endParaRPr lang="fr-FR"/>
          </a:p>
        </p:txBody>
      </p:sp>
      <p:sp>
        <p:nvSpPr>
          <p:cNvPr id="101378" name="Espace réservé du contenu 2"/>
          <p:cNvSpPr>
            <a:spLocks noGrp="1"/>
          </p:cNvSpPr>
          <p:nvPr>
            <p:ph sz="quarter" idx="1"/>
          </p:nvPr>
        </p:nvSpPr>
        <p:spPr>
          <a:xfrm>
            <a:off x="857250" y="571500"/>
            <a:ext cx="7758113" cy="6072188"/>
          </a:xfrm>
        </p:spPr>
        <p:txBody>
          <a:bodyPr/>
          <a:lstStyle/>
          <a:p>
            <a:r>
              <a:rPr lang="fr-FR" dirty="0" smtClean="0"/>
              <a:t>3-exécuter une requête de sélection</a:t>
            </a:r>
          </a:p>
          <a:p>
            <a:pPr>
              <a:buFont typeface="Wingdings 2" pitchFamily="18" charset="2"/>
              <a:buNone/>
            </a:pPr>
            <a:r>
              <a:rPr lang="fr-FR" dirty="0" smtClean="0"/>
              <a:t> -$</a:t>
            </a:r>
            <a:r>
              <a:rPr lang="fr-FR" dirty="0" err="1" smtClean="0"/>
              <a:t>rq</a:t>
            </a:r>
            <a:r>
              <a:rPr lang="fr-FR" dirty="0" smtClean="0"/>
              <a:t>="select * </a:t>
            </a:r>
            <a:r>
              <a:rPr lang="fr-FR" dirty="0" err="1" smtClean="0"/>
              <a:t>from</a:t>
            </a:r>
            <a:r>
              <a:rPr lang="fr-FR" dirty="0" smtClean="0"/>
              <a:t> test "; // </a:t>
            </a:r>
            <a:r>
              <a:rPr lang="fr-FR" dirty="0" err="1" smtClean="0"/>
              <a:t>declarer</a:t>
            </a:r>
            <a:r>
              <a:rPr lang="fr-FR" dirty="0" smtClean="0"/>
              <a:t> la </a:t>
            </a:r>
            <a:r>
              <a:rPr lang="fr-FR" dirty="0" err="1" smtClean="0"/>
              <a:t>req</a:t>
            </a:r>
            <a:r>
              <a:rPr lang="fr-FR" dirty="0" smtClean="0"/>
              <a:t> de </a:t>
            </a:r>
            <a:r>
              <a:rPr lang="fr-FR" dirty="0" err="1" smtClean="0"/>
              <a:t>selection</a:t>
            </a:r>
            <a:endParaRPr lang="fr-FR" dirty="0" smtClean="0"/>
          </a:p>
          <a:p>
            <a:pPr>
              <a:buFont typeface="Wingdings 2" pitchFamily="18" charset="2"/>
              <a:buNone/>
            </a:pPr>
            <a:r>
              <a:rPr lang="fr-FR" dirty="0" smtClean="0"/>
              <a:t> -$</a:t>
            </a:r>
            <a:r>
              <a:rPr lang="fr-FR" dirty="0" err="1" smtClean="0"/>
              <a:t>cur</a:t>
            </a:r>
            <a:r>
              <a:rPr lang="fr-FR" dirty="0" smtClean="0"/>
              <a:t>=$</a:t>
            </a:r>
            <a:r>
              <a:rPr lang="fr-FR" dirty="0" err="1" smtClean="0"/>
              <a:t>db</a:t>
            </a:r>
            <a:r>
              <a:rPr lang="fr-FR" sz="4400" dirty="0" smtClean="0"/>
              <a:t>-</a:t>
            </a:r>
            <a:r>
              <a:rPr lang="fr-FR" dirty="0" smtClean="0"/>
              <a:t>&gt;</a:t>
            </a:r>
            <a:r>
              <a:rPr lang="fr-FR" dirty="0" err="1" smtClean="0"/>
              <a:t>query</a:t>
            </a:r>
            <a:r>
              <a:rPr lang="fr-FR" dirty="0" smtClean="0"/>
              <a:t>($</a:t>
            </a:r>
            <a:r>
              <a:rPr lang="fr-FR" dirty="0" err="1" smtClean="0"/>
              <a:t>rq</a:t>
            </a:r>
            <a:r>
              <a:rPr lang="fr-FR" dirty="0" smtClean="0"/>
              <a:t>);// exécuter la </a:t>
            </a:r>
            <a:r>
              <a:rPr lang="fr-FR" dirty="0" err="1" smtClean="0"/>
              <a:t>req</a:t>
            </a:r>
            <a:r>
              <a:rPr lang="fr-FR" dirty="0" smtClean="0"/>
              <a:t> de </a:t>
            </a:r>
            <a:r>
              <a:rPr lang="fr-FR" dirty="0" err="1" smtClean="0"/>
              <a:t>selection</a:t>
            </a:r>
            <a:endParaRPr lang="fr-FR" dirty="0" smtClean="0"/>
          </a:p>
          <a:p>
            <a:pPr>
              <a:buFont typeface="Wingdings 2" pitchFamily="18" charset="2"/>
              <a:buNone/>
            </a:pPr>
            <a:r>
              <a:rPr lang="fr-FR" dirty="0" smtClean="0"/>
              <a:t>// parcourir le curseur              </a:t>
            </a:r>
          </a:p>
          <a:p>
            <a:pPr>
              <a:buFont typeface="Wingdings 2" pitchFamily="18" charset="2"/>
              <a:buNone/>
            </a:pPr>
            <a:r>
              <a:rPr lang="fr-FR" dirty="0" smtClean="0"/>
              <a:t>    </a:t>
            </a:r>
            <a:r>
              <a:rPr lang="fr-FR" dirty="0" err="1" smtClean="0"/>
              <a:t>while</a:t>
            </a:r>
            <a:r>
              <a:rPr lang="fr-FR" dirty="0" smtClean="0"/>
              <a:t> ($</a:t>
            </a:r>
            <a:r>
              <a:rPr lang="fr-FR" dirty="0" err="1" smtClean="0"/>
              <a:t>row</a:t>
            </a:r>
            <a:r>
              <a:rPr lang="fr-FR" dirty="0" smtClean="0"/>
              <a:t> = $</a:t>
            </a:r>
            <a:r>
              <a:rPr lang="fr-FR" dirty="0" err="1" smtClean="0"/>
              <a:t>cur</a:t>
            </a:r>
            <a:r>
              <a:rPr lang="fr-FR" sz="4400" dirty="0" smtClean="0"/>
              <a:t>-</a:t>
            </a:r>
            <a:r>
              <a:rPr lang="fr-FR" dirty="0" smtClean="0"/>
              <a:t>&gt;</a:t>
            </a:r>
            <a:r>
              <a:rPr lang="fr-FR" dirty="0" err="1" smtClean="0"/>
              <a:t>fetch</a:t>
            </a:r>
            <a:r>
              <a:rPr lang="fr-FR" dirty="0" smtClean="0"/>
              <a:t>()) {</a:t>
            </a:r>
          </a:p>
          <a:p>
            <a:pPr>
              <a:buFont typeface="Wingdings 2" pitchFamily="18" charset="2"/>
              <a:buNone/>
            </a:pPr>
            <a:r>
              <a:rPr lang="fr-FR" dirty="0" smtClean="0"/>
              <a:t>        </a:t>
            </a:r>
            <a:r>
              <a:rPr lang="fr-FR" dirty="0" err="1" smtClean="0"/>
              <a:t>echo</a:t>
            </a:r>
            <a:r>
              <a:rPr lang="fr-FR" dirty="0" smtClean="0"/>
              <a:t> ‘</a:t>
            </a:r>
            <a:r>
              <a:rPr lang="fr-FR" dirty="0" err="1" smtClean="0"/>
              <a:t>ch</a:t>
            </a:r>
            <a:r>
              <a:rPr lang="fr-FR" dirty="0" smtClean="0"/>
              <a:t> 1 :'.$</a:t>
            </a:r>
            <a:r>
              <a:rPr lang="fr-FR" dirty="0" err="1" smtClean="0"/>
              <a:t>row</a:t>
            </a:r>
            <a:r>
              <a:rPr lang="fr-FR" dirty="0" smtClean="0"/>
              <a:t>[‘nom colonne'].'---ch2:'.$</a:t>
            </a:r>
            <a:r>
              <a:rPr lang="fr-FR" dirty="0" err="1" smtClean="0"/>
              <a:t>row</a:t>
            </a:r>
            <a:r>
              <a:rPr lang="fr-FR" dirty="0" smtClean="0"/>
              <a:t>[indice].'  &lt;</a:t>
            </a:r>
            <a:r>
              <a:rPr lang="fr-FR" dirty="0" err="1" smtClean="0"/>
              <a:t>br</a:t>
            </a:r>
            <a:r>
              <a:rPr lang="fr-FR" dirty="0" smtClean="0"/>
              <a:t>/&gt;';   </a:t>
            </a:r>
          </a:p>
          <a:p>
            <a:pPr>
              <a:buFont typeface="Wingdings 2" pitchFamily="18" charset="2"/>
              <a:buNone/>
            </a:pPr>
            <a:r>
              <a:rPr lang="fr-FR" dirty="0" smtClean="0"/>
              <a:t>         }</a:t>
            </a:r>
          </a:p>
          <a:p>
            <a:pPr>
              <a:buFont typeface="Wingdings 2" pitchFamily="18" charset="2"/>
              <a:buNone/>
            </a:pPr>
            <a:r>
              <a:rPr lang="fr-FR" dirty="0" smtClean="0"/>
              <a:t>        $</a:t>
            </a:r>
            <a:r>
              <a:rPr lang="fr-FR" dirty="0" err="1" smtClean="0"/>
              <a:t>cur</a:t>
            </a:r>
            <a:r>
              <a:rPr lang="fr-FR" sz="4400" dirty="0" smtClean="0"/>
              <a:t>-</a:t>
            </a:r>
            <a:r>
              <a:rPr lang="fr-FR" b="1" dirty="0" smtClean="0"/>
              <a:t>&gt;</a:t>
            </a:r>
            <a:r>
              <a:rPr lang="fr-FR" dirty="0" err="1" smtClean="0"/>
              <a:t>closeCursor</a:t>
            </a:r>
            <a:r>
              <a:rPr lang="fr-FR" dirty="0" smtClean="0"/>
              <a:t>();   // fermer le curseur</a:t>
            </a:r>
          </a:p>
          <a:p>
            <a:pPr>
              <a:buFont typeface="Wingdings 2" pitchFamily="18" charset="2"/>
              <a:buNone/>
            </a:pPr>
            <a:r>
              <a:rPr lang="fr-FR" dirty="0" smtClean="0"/>
              <a:t>   $</a:t>
            </a:r>
            <a:r>
              <a:rPr lang="fr-FR" dirty="0" err="1" smtClean="0"/>
              <a:t>db</a:t>
            </a:r>
            <a:r>
              <a:rPr lang="fr-FR" dirty="0" smtClean="0"/>
              <a:t>=</a:t>
            </a:r>
            <a:r>
              <a:rPr lang="fr-FR" dirty="0" err="1" smtClean="0"/>
              <a:t>null</a:t>
            </a:r>
            <a:r>
              <a:rPr lang="fr-FR" dirty="0" smtClean="0"/>
              <a:t>; // fermer la </a:t>
            </a:r>
            <a:r>
              <a:rPr lang="fr-FR" dirty="0" err="1" smtClean="0"/>
              <a:t>connection</a:t>
            </a:r>
            <a:endParaRPr lang="fr-FR" dirty="0" smtClean="0"/>
          </a:p>
        </p:txBody>
      </p:sp>
      <p:cxnSp>
        <p:nvCxnSpPr>
          <p:cNvPr id="6" name="Connecteur droit avec flèche 5"/>
          <p:cNvCxnSpPr/>
          <p:nvPr/>
        </p:nvCxnSpPr>
        <p:spPr>
          <a:xfrm>
            <a:off x="1428750" y="2286000"/>
            <a:ext cx="3857625" cy="3571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5429250" y="2286000"/>
            <a:ext cx="2500313" cy="571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dirty="0"/>
              <a:t>Curseur de données</a:t>
            </a:r>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109</a:t>
            </a:fld>
            <a:endParaRPr lang="fr-FR" dirty="0"/>
          </a:p>
        </p:txBody>
      </p:sp>
      <p:sp>
        <p:nvSpPr>
          <p:cNvPr id="3" name="Espace réservé du contenu 2"/>
          <p:cNvSpPr>
            <a:spLocks noGrp="1"/>
          </p:cNvSpPr>
          <p:nvPr>
            <p:ph sz="quarter" idx="1"/>
          </p:nvPr>
        </p:nvSpPr>
        <p:spPr/>
        <p:txBody>
          <a:bodyPr/>
          <a:lstStyle/>
          <a:p>
            <a:endParaRPr lang="fr-FR" dirty="0" smtClean="0"/>
          </a:p>
          <a:p>
            <a:r>
              <a:rPr lang="fr-FR" dirty="0" smtClean="0"/>
              <a:t>// nombre de colonnes d’une </a:t>
            </a:r>
            <a:r>
              <a:rPr lang="fr-FR" dirty="0" err="1" smtClean="0"/>
              <a:t>req</a:t>
            </a:r>
            <a:r>
              <a:rPr lang="fr-FR" dirty="0" smtClean="0"/>
              <a:t> de </a:t>
            </a:r>
            <a:r>
              <a:rPr lang="fr-FR" dirty="0" err="1" smtClean="0"/>
              <a:t>selection</a:t>
            </a:r>
            <a:endParaRPr lang="fr-FR" dirty="0" smtClean="0"/>
          </a:p>
          <a:p>
            <a:pPr>
              <a:buNone/>
            </a:pPr>
            <a:r>
              <a:rPr lang="fr-FR" dirty="0" smtClean="0"/>
              <a:t>          $</a:t>
            </a:r>
            <a:r>
              <a:rPr lang="fr-FR" dirty="0" err="1" smtClean="0"/>
              <a:t>nbrcol</a:t>
            </a:r>
            <a:r>
              <a:rPr lang="fr-FR" dirty="0" smtClean="0"/>
              <a:t>=$</a:t>
            </a:r>
            <a:r>
              <a:rPr lang="fr-FR" dirty="0" err="1" smtClean="0"/>
              <a:t>cur</a:t>
            </a:r>
            <a:r>
              <a:rPr lang="fr-FR" dirty="0" smtClean="0"/>
              <a:t>-&gt;</a:t>
            </a:r>
            <a:r>
              <a:rPr lang="fr-FR" dirty="0" err="1" smtClean="0">
                <a:solidFill>
                  <a:srgbClr val="FF0000"/>
                </a:solidFill>
              </a:rPr>
              <a:t>columnCount</a:t>
            </a:r>
            <a:r>
              <a:rPr lang="fr-FR" dirty="0" smtClean="0">
                <a:solidFill>
                  <a:srgbClr val="FF0000"/>
                </a:solidFill>
              </a:rPr>
              <a:t>()</a:t>
            </a:r>
            <a:r>
              <a:rPr lang="fr-FR" dirty="0" smtClean="0"/>
              <a:t>;</a:t>
            </a:r>
          </a:p>
          <a:p>
            <a:pPr>
              <a:buNone/>
            </a:pPr>
            <a:endParaRPr lang="fr-FR" dirty="0" smtClean="0"/>
          </a:p>
          <a:p>
            <a:pPr>
              <a:buNone/>
            </a:pPr>
            <a:endParaRPr lang="fr-FR" dirty="0" smtClean="0"/>
          </a:p>
          <a:p>
            <a:pPr>
              <a:buNone/>
            </a:pPr>
            <a:endParaRPr lang="fr-FR" dirty="0" smtClean="0"/>
          </a:p>
          <a:p>
            <a:endParaRPr lang="fr-FR" dirty="0" smtClean="0"/>
          </a:p>
          <a:p>
            <a:r>
              <a:rPr lang="fr-FR" dirty="0" smtClean="0"/>
              <a:t>//nombre de lignes d’une </a:t>
            </a:r>
            <a:r>
              <a:rPr lang="fr-FR" dirty="0" err="1" smtClean="0"/>
              <a:t>req</a:t>
            </a:r>
            <a:r>
              <a:rPr lang="fr-FR" dirty="0" smtClean="0"/>
              <a:t> de </a:t>
            </a:r>
            <a:r>
              <a:rPr lang="fr-FR" dirty="0" err="1" smtClean="0"/>
              <a:t>selection</a:t>
            </a:r>
            <a:endParaRPr lang="fr-FR" dirty="0" smtClean="0"/>
          </a:p>
          <a:p>
            <a:pPr>
              <a:buNone/>
            </a:pPr>
            <a:r>
              <a:rPr lang="fr-FR" dirty="0" smtClean="0"/>
              <a:t>         $</a:t>
            </a:r>
            <a:r>
              <a:rPr lang="fr-FR" dirty="0" err="1" smtClean="0"/>
              <a:t>nbrl</a:t>
            </a:r>
            <a:r>
              <a:rPr lang="fr-FR" dirty="0" smtClean="0"/>
              <a:t>=    $</a:t>
            </a:r>
            <a:r>
              <a:rPr lang="fr-FR" dirty="0" err="1" smtClean="0"/>
              <a:t>cur</a:t>
            </a:r>
            <a:r>
              <a:rPr lang="fr-FR" dirty="0" smtClean="0"/>
              <a:t>-&gt;</a:t>
            </a:r>
            <a:r>
              <a:rPr lang="fr-FR" dirty="0" err="1" smtClean="0">
                <a:solidFill>
                  <a:srgbClr val="FF0000"/>
                </a:solidFill>
              </a:rPr>
              <a:t>rowCount</a:t>
            </a:r>
            <a:r>
              <a:rPr lang="fr-FR" dirty="0" smtClean="0">
                <a:solidFill>
                  <a:srgbClr val="FF0000"/>
                </a:solidFill>
              </a:rPr>
              <a:t>()</a:t>
            </a:r>
            <a:r>
              <a:rPr lang="fr-FR" dirty="0" smtClean="0"/>
              <a:t>;</a:t>
            </a:r>
          </a:p>
          <a:p>
            <a:pPr>
              <a:buNone/>
            </a:pPr>
            <a:endParaRPr lang="fr-FR" dirty="0" smtClean="0"/>
          </a:p>
          <a:p>
            <a:pPr>
              <a:buNone/>
            </a:pPr>
            <a:endParaRPr lang="fr-FR" dirty="0" smtClean="0"/>
          </a:p>
          <a:p>
            <a:pPr>
              <a:buNone/>
            </a:pPr>
            <a:endParaRPr lang="fr-FR" dirty="0"/>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110</a:t>
            </a:fld>
            <a:endParaRPr lang="fr-FR"/>
          </a:p>
        </p:txBody>
      </p:sp>
      <p:sp>
        <p:nvSpPr>
          <p:cNvPr id="3" name="Espace réservé du contenu 2"/>
          <p:cNvSpPr>
            <a:spLocks noGrp="1"/>
          </p:cNvSpPr>
          <p:nvPr>
            <p:ph sz="quarter" idx="1"/>
          </p:nvPr>
        </p:nvSpPr>
        <p:spPr/>
        <p:txBody>
          <a:bodyPr/>
          <a:lstStyle/>
          <a:p>
            <a:r>
              <a:rPr lang="fr-FR" dirty="0" smtClean="0"/>
              <a:t>// nom des colonnes d’une </a:t>
            </a:r>
            <a:r>
              <a:rPr lang="fr-FR" dirty="0" err="1" smtClean="0"/>
              <a:t>req</a:t>
            </a:r>
            <a:r>
              <a:rPr lang="fr-FR" dirty="0" smtClean="0"/>
              <a:t> de </a:t>
            </a:r>
            <a:r>
              <a:rPr lang="fr-FR" dirty="0" err="1" smtClean="0"/>
              <a:t>selection</a:t>
            </a:r>
            <a:endParaRPr lang="fr-FR" dirty="0" smtClean="0"/>
          </a:p>
          <a:p>
            <a:endParaRPr lang="fr-FR" dirty="0" smtClean="0"/>
          </a:p>
          <a:p>
            <a:pPr>
              <a:buNone/>
            </a:pPr>
            <a:r>
              <a:rPr lang="fr-FR" dirty="0" smtClean="0"/>
              <a:t>    for ($i = 0; $i &lt; $</a:t>
            </a:r>
            <a:r>
              <a:rPr lang="fr-FR" dirty="0" err="1" smtClean="0"/>
              <a:t>nbrcol</a:t>
            </a:r>
            <a:r>
              <a:rPr lang="fr-FR" dirty="0" smtClean="0"/>
              <a:t>; $i++)</a:t>
            </a:r>
          </a:p>
          <a:p>
            <a:pPr>
              <a:buNone/>
            </a:pPr>
            <a:r>
              <a:rPr lang="fr-FR" dirty="0" smtClean="0"/>
              <a:t>                       {</a:t>
            </a:r>
          </a:p>
          <a:p>
            <a:pPr>
              <a:buNone/>
            </a:pPr>
            <a:r>
              <a:rPr lang="fr-FR" dirty="0" smtClean="0"/>
              <a:t>               $</a:t>
            </a:r>
            <a:r>
              <a:rPr lang="fr-FR" dirty="0" err="1" smtClean="0"/>
              <a:t>colonnei</a:t>
            </a:r>
            <a:r>
              <a:rPr lang="fr-FR" dirty="0" smtClean="0"/>
              <a:t>    =    $</a:t>
            </a:r>
            <a:r>
              <a:rPr lang="fr-FR" dirty="0" err="1" smtClean="0"/>
              <a:t>cur</a:t>
            </a:r>
            <a:r>
              <a:rPr lang="fr-FR" dirty="0" smtClean="0"/>
              <a:t>-&gt;</a:t>
            </a:r>
            <a:r>
              <a:rPr lang="fr-FR" dirty="0" err="1" smtClean="0">
                <a:solidFill>
                  <a:srgbClr val="FF0000"/>
                </a:solidFill>
              </a:rPr>
              <a:t>getColumnMeta</a:t>
            </a:r>
            <a:r>
              <a:rPr lang="fr-FR" dirty="0" smtClean="0">
                <a:solidFill>
                  <a:srgbClr val="FF0000"/>
                </a:solidFill>
              </a:rPr>
              <a:t>($i)</a:t>
            </a:r>
            <a:r>
              <a:rPr lang="fr-FR" dirty="0" smtClean="0"/>
              <a:t>;</a:t>
            </a:r>
          </a:p>
          <a:p>
            <a:pPr>
              <a:buNone/>
            </a:pPr>
            <a:r>
              <a:rPr lang="fr-FR" dirty="0" smtClean="0"/>
              <a:t>               $</a:t>
            </a:r>
            <a:r>
              <a:rPr lang="fr-FR" dirty="0" err="1" smtClean="0"/>
              <a:t>namecolonnei</a:t>
            </a:r>
            <a:r>
              <a:rPr lang="fr-FR" dirty="0" smtClean="0"/>
              <a:t>=$</a:t>
            </a:r>
            <a:r>
              <a:rPr lang="fr-FR" dirty="0" err="1" smtClean="0"/>
              <a:t>colonnei</a:t>
            </a:r>
            <a:r>
              <a:rPr lang="fr-FR" dirty="0" smtClean="0"/>
              <a:t>['</a:t>
            </a:r>
            <a:r>
              <a:rPr lang="fr-FR" dirty="0" err="1" smtClean="0"/>
              <a:t>name</a:t>
            </a:r>
            <a:r>
              <a:rPr lang="fr-FR" dirty="0" smtClean="0"/>
              <a:t>'];</a:t>
            </a:r>
          </a:p>
          <a:p>
            <a:pPr>
              <a:buNone/>
            </a:pPr>
            <a:r>
              <a:rPr lang="fr-FR" dirty="0" smtClean="0"/>
              <a:t>                </a:t>
            </a:r>
            <a:r>
              <a:rPr lang="fr-FR" dirty="0" err="1" smtClean="0"/>
              <a:t>echo</a:t>
            </a:r>
            <a:r>
              <a:rPr lang="fr-FR" dirty="0" smtClean="0"/>
              <a:t> "$</a:t>
            </a:r>
            <a:r>
              <a:rPr lang="fr-FR" dirty="0" err="1" smtClean="0"/>
              <a:t>namecolonnei</a:t>
            </a:r>
            <a:r>
              <a:rPr lang="fr-FR" dirty="0" smtClean="0"/>
              <a:t>";   </a:t>
            </a:r>
          </a:p>
          <a:p>
            <a:pPr>
              <a:buNone/>
            </a:pPr>
            <a:r>
              <a:rPr lang="fr-FR" dirty="0" smtClean="0"/>
              <a:t>                         } </a:t>
            </a:r>
            <a:endParaRPr lang="fr-FR" dirty="0"/>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itre 1"/>
          <p:cNvSpPr>
            <a:spLocks noGrp="1"/>
          </p:cNvSpPr>
          <p:nvPr>
            <p:ph type="title"/>
          </p:nvPr>
        </p:nvSpPr>
        <p:spPr/>
        <p:txBody>
          <a:bodyPr/>
          <a:lstStyle/>
          <a:p>
            <a:r>
              <a:rPr lang="fr-FR" sz="3600" smtClean="0"/>
              <a:t>Création d’une Class DataAccess</a:t>
            </a:r>
          </a:p>
        </p:txBody>
      </p:sp>
      <p:sp>
        <p:nvSpPr>
          <p:cNvPr id="4" name="Espace réservé du numéro de diapositive 3"/>
          <p:cNvSpPr>
            <a:spLocks noGrp="1"/>
          </p:cNvSpPr>
          <p:nvPr>
            <p:ph type="sldNum" sz="quarter" idx="12"/>
          </p:nvPr>
        </p:nvSpPr>
        <p:spPr/>
        <p:txBody>
          <a:bodyPr/>
          <a:lstStyle/>
          <a:p>
            <a:pPr>
              <a:defRPr/>
            </a:pPr>
            <a:fld id="{3F2647A2-29D0-4B3E-A964-7D8B1BB3EDC5}" type="slidenum">
              <a:rPr lang="fr-FR" smtClean="0"/>
              <a:pPr>
                <a:defRPr/>
              </a:pPr>
              <a:t>111</a:t>
            </a:fld>
            <a:endParaRPr lang="fr-FR"/>
          </a:p>
        </p:txBody>
      </p:sp>
      <p:sp>
        <p:nvSpPr>
          <p:cNvPr id="5" name="Rectangle 4"/>
          <p:cNvSpPr/>
          <p:nvPr/>
        </p:nvSpPr>
        <p:spPr>
          <a:xfrm>
            <a:off x="2286000" y="2571750"/>
            <a:ext cx="3857625" cy="642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dirty="0"/>
              <a:t>class  </a:t>
            </a:r>
            <a:r>
              <a:rPr lang="fr-FR" dirty="0" err="1"/>
              <a:t>Dataaccess</a:t>
            </a:r>
            <a:r>
              <a:rPr lang="fr-FR" dirty="0"/>
              <a:t> {</a:t>
            </a:r>
          </a:p>
        </p:txBody>
      </p:sp>
      <p:sp>
        <p:nvSpPr>
          <p:cNvPr id="11" name="Rectangle 10"/>
          <p:cNvSpPr/>
          <p:nvPr/>
        </p:nvSpPr>
        <p:spPr>
          <a:xfrm>
            <a:off x="2286000" y="3214688"/>
            <a:ext cx="3857625" cy="6429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dirty="0"/>
              <a:t>public </a:t>
            </a:r>
            <a:r>
              <a:rPr lang="fr-FR" dirty="0" err="1"/>
              <a:t>static</a:t>
            </a:r>
            <a:r>
              <a:rPr lang="fr-FR" dirty="0"/>
              <a:t>  </a:t>
            </a:r>
            <a:r>
              <a:rPr lang="fr-FR" dirty="0" err="1"/>
              <a:t>function</a:t>
            </a:r>
            <a:r>
              <a:rPr lang="fr-FR" dirty="0"/>
              <a:t> </a:t>
            </a:r>
            <a:r>
              <a:rPr lang="fr-FR" dirty="0" err="1"/>
              <a:t>connextion</a:t>
            </a:r>
            <a:r>
              <a:rPr lang="fr-FR" dirty="0"/>
              <a:t>()</a:t>
            </a:r>
          </a:p>
        </p:txBody>
      </p:sp>
      <p:sp>
        <p:nvSpPr>
          <p:cNvPr id="12" name="Rectangle 11"/>
          <p:cNvSpPr/>
          <p:nvPr/>
        </p:nvSpPr>
        <p:spPr>
          <a:xfrm>
            <a:off x="2286000" y="3857625"/>
            <a:ext cx="3857625" cy="642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public static function </a:t>
            </a:r>
            <a:r>
              <a:rPr lang="en-US" dirty="0" err="1"/>
              <a:t>majour</a:t>
            </a:r>
            <a:r>
              <a:rPr lang="en-US" dirty="0"/>
              <a:t>($</a:t>
            </a:r>
            <a:r>
              <a:rPr lang="en-US" dirty="0" err="1"/>
              <a:t>req</a:t>
            </a:r>
            <a:r>
              <a:rPr lang="en-US" dirty="0"/>
              <a:t>)</a:t>
            </a:r>
            <a:endParaRPr lang="fr-FR" dirty="0"/>
          </a:p>
        </p:txBody>
      </p:sp>
      <p:sp>
        <p:nvSpPr>
          <p:cNvPr id="14" name="Rectangle 13"/>
          <p:cNvSpPr/>
          <p:nvPr/>
        </p:nvSpPr>
        <p:spPr>
          <a:xfrm>
            <a:off x="2286000" y="4500563"/>
            <a:ext cx="3857625" cy="6429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public static function selection($</a:t>
            </a:r>
            <a:r>
              <a:rPr lang="en-US" dirty="0" err="1"/>
              <a:t>req</a:t>
            </a:r>
            <a:r>
              <a:rPr lang="en-US" dirty="0"/>
              <a:t>)</a:t>
            </a:r>
            <a:endParaRPr lang="fr-FR" dirty="0"/>
          </a:p>
        </p:txBody>
      </p:sp>
      <p:sp>
        <p:nvSpPr>
          <p:cNvPr id="15" name="Rectangle 14"/>
          <p:cNvSpPr/>
          <p:nvPr/>
        </p:nvSpPr>
        <p:spPr>
          <a:xfrm>
            <a:off x="2286000" y="5143500"/>
            <a:ext cx="3857625" cy="642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r-FR" dirty="0"/>
              <a:t>}</a:t>
            </a:r>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Exercice 1:</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112</a:t>
            </a:fld>
            <a:endParaRPr lang="fr-FR"/>
          </a:p>
        </p:txBody>
      </p:sp>
      <p:pic>
        <p:nvPicPr>
          <p:cNvPr id="5" name="Picture 3"/>
          <p:cNvPicPr>
            <a:picLocks noChangeAspect="1" noChangeArrowheads="1"/>
          </p:cNvPicPr>
          <p:nvPr/>
        </p:nvPicPr>
        <p:blipFill>
          <a:blip r:embed="rId2"/>
          <a:srcRect/>
          <a:stretch>
            <a:fillRect/>
          </a:stretch>
        </p:blipFill>
        <p:spPr bwMode="auto">
          <a:xfrm>
            <a:off x="714348" y="1571612"/>
            <a:ext cx="8215370" cy="478634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Exercice 2:</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113</a:t>
            </a:fld>
            <a:endParaRPr lang="fr-FR"/>
          </a:p>
        </p:txBody>
      </p:sp>
      <p:pic>
        <p:nvPicPr>
          <p:cNvPr id="5" name="Picture 2"/>
          <p:cNvPicPr>
            <a:picLocks noChangeAspect="1" noChangeArrowheads="1"/>
          </p:cNvPicPr>
          <p:nvPr/>
        </p:nvPicPr>
        <p:blipFill>
          <a:blip r:embed="rId2"/>
          <a:srcRect/>
          <a:stretch>
            <a:fillRect/>
          </a:stretch>
        </p:blipFill>
        <p:spPr bwMode="auto">
          <a:xfrm>
            <a:off x="214282" y="4000503"/>
            <a:ext cx="3071816" cy="1530219"/>
          </a:xfrm>
          <a:prstGeom prst="rect">
            <a:avLst/>
          </a:prstGeom>
          <a:noFill/>
          <a:ln w="9525">
            <a:noFill/>
            <a:miter lim="800000"/>
            <a:headEnd/>
            <a:tailEnd/>
          </a:ln>
          <a:effectLst/>
        </p:spPr>
      </p:pic>
      <p:sp>
        <p:nvSpPr>
          <p:cNvPr id="6" name="Cylindre 5"/>
          <p:cNvSpPr/>
          <p:nvPr/>
        </p:nvSpPr>
        <p:spPr>
          <a:xfrm>
            <a:off x="3857620" y="928670"/>
            <a:ext cx="2643206" cy="2214578"/>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DB</a:t>
            </a:r>
          </a:p>
          <a:p>
            <a:pPr algn="ctr"/>
            <a:r>
              <a:rPr lang="fr-FR" dirty="0" smtClean="0"/>
              <a:t>User/</a:t>
            </a:r>
            <a:r>
              <a:rPr lang="fr-FR" dirty="0" err="1" smtClean="0"/>
              <a:t>Pass</a:t>
            </a:r>
            <a:r>
              <a:rPr lang="fr-FR" dirty="0" smtClean="0"/>
              <a:t>/Email</a:t>
            </a:r>
            <a:endParaRPr lang="fr-FR" dirty="0"/>
          </a:p>
        </p:txBody>
      </p:sp>
      <p:sp>
        <p:nvSpPr>
          <p:cNvPr id="8" name="Virage 7"/>
          <p:cNvSpPr/>
          <p:nvPr/>
        </p:nvSpPr>
        <p:spPr>
          <a:xfrm>
            <a:off x="1285852" y="2000240"/>
            <a:ext cx="2357454" cy="1714512"/>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solidFill>
                  <a:schemeClr val="tx1"/>
                </a:solidFill>
              </a:rPr>
              <a:t>1</a:t>
            </a:r>
            <a:endParaRPr lang="fr-FR" dirty="0">
              <a:solidFill>
                <a:schemeClr val="tx1"/>
              </a:solidFill>
            </a:endParaRPr>
          </a:p>
        </p:txBody>
      </p:sp>
      <p:sp>
        <p:nvSpPr>
          <p:cNvPr id="10" name="Virage 9"/>
          <p:cNvSpPr/>
          <p:nvPr/>
        </p:nvSpPr>
        <p:spPr>
          <a:xfrm rot="5400000">
            <a:off x="6965173" y="1964521"/>
            <a:ext cx="1643074" cy="2286016"/>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solidFill>
                  <a:schemeClr val="tx1"/>
                </a:solidFill>
              </a:rPr>
              <a:t>2</a:t>
            </a:r>
            <a:endParaRPr lang="fr-FR" dirty="0">
              <a:solidFill>
                <a:schemeClr val="tx1"/>
              </a:solidFill>
            </a:endParaRPr>
          </a:p>
        </p:txBody>
      </p:sp>
      <p:pic>
        <p:nvPicPr>
          <p:cNvPr id="11" name="Picture 2"/>
          <p:cNvPicPr>
            <a:picLocks noChangeAspect="1" noChangeArrowheads="1"/>
          </p:cNvPicPr>
          <p:nvPr/>
        </p:nvPicPr>
        <p:blipFill>
          <a:blip r:embed="rId3"/>
          <a:srcRect/>
          <a:stretch>
            <a:fillRect/>
          </a:stretch>
        </p:blipFill>
        <p:spPr bwMode="auto">
          <a:xfrm>
            <a:off x="4500562" y="4000504"/>
            <a:ext cx="4429188" cy="2576781"/>
          </a:xfrm>
          <a:prstGeom prst="rect">
            <a:avLst/>
          </a:prstGeom>
          <a:noFill/>
          <a:ln w="9525">
            <a:noFill/>
            <a:miter lim="800000"/>
            <a:headEnd/>
            <a:tailEnd/>
          </a:ln>
          <a:effectLst/>
        </p:spPr>
      </p:pic>
      <p:sp>
        <p:nvSpPr>
          <p:cNvPr id="12" name="Rectangle 11"/>
          <p:cNvSpPr/>
          <p:nvPr/>
        </p:nvSpPr>
        <p:spPr>
          <a:xfrm>
            <a:off x="214282" y="5572140"/>
            <a:ext cx="2286016" cy="3571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u="sng" dirty="0" smtClean="0">
                <a:solidFill>
                  <a:srgbClr val="0070C0"/>
                </a:solidFill>
              </a:rPr>
              <a:t>S’</a:t>
            </a:r>
            <a:r>
              <a:rPr lang="fr-FR" sz="2000" b="1" u="sng" dirty="0" err="1" smtClean="0">
                <a:solidFill>
                  <a:srgbClr val="0070C0"/>
                </a:solidFill>
              </a:rPr>
              <a:t>inscrir</a:t>
            </a:r>
            <a:endParaRPr lang="fr-FR" sz="2000" b="1" u="sng" dirty="0">
              <a:solidFill>
                <a:srgbClr val="0070C0"/>
              </a:solidFill>
            </a:endParaRPr>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Sécuriser ses données</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114</a:t>
            </a:fld>
            <a:endParaRPr lang="fr-FR"/>
          </a:p>
        </p:txBody>
      </p:sp>
      <p:pic>
        <p:nvPicPr>
          <p:cNvPr id="1026" name="Picture 2"/>
          <p:cNvPicPr>
            <a:picLocks noChangeAspect="1" noChangeArrowheads="1"/>
          </p:cNvPicPr>
          <p:nvPr/>
        </p:nvPicPr>
        <p:blipFill>
          <a:blip r:embed="rId2"/>
          <a:srcRect/>
          <a:stretch>
            <a:fillRect/>
          </a:stretch>
        </p:blipFill>
        <p:spPr bwMode="auto">
          <a:xfrm>
            <a:off x="357158" y="1785938"/>
            <a:ext cx="8067705" cy="385764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Exemple:</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115</a:t>
            </a:fld>
            <a:endParaRPr lang="fr-FR"/>
          </a:p>
        </p:txBody>
      </p:sp>
      <p:pic>
        <p:nvPicPr>
          <p:cNvPr id="2050" name="Picture 2"/>
          <p:cNvPicPr>
            <a:picLocks noGrp="1" noChangeAspect="1" noChangeArrowheads="1"/>
          </p:cNvPicPr>
          <p:nvPr>
            <p:ph sz="quarter" idx="1"/>
          </p:nvPr>
        </p:nvPicPr>
        <p:blipFill>
          <a:blip r:embed="rId2"/>
          <a:stretch>
            <a:fillRect/>
          </a:stretch>
        </p:blipFill>
        <p:spPr bwMode="auto">
          <a:xfrm>
            <a:off x="2368550" y="2444750"/>
            <a:ext cx="4864100" cy="25781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smtClean="0"/>
              <a:t>htmlspecialchars</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116</a:t>
            </a:fld>
            <a:endParaRPr lang="fr-FR"/>
          </a:p>
        </p:txBody>
      </p:sp>
      <p:sp>
        <p:nvSpPr>
          <p:cNvPr id="3" name="Espace réservé du contenu 2"/>
          <p:cNvSpPr>
            <a:spLocks noGrp="1"/>
          </p:cNvSpPr>
          <p:nvPr>
            <p:ph sz="quarter" idx="1"/>
          </p:nvPr>
        </p:nvSpPr>
        <p:spPr/>
        <p:txBody>
          <a:bodyPr/>
          <a:lstStyle/>
          <a:p>
            <a:r>
              <a:rPr lang="fr-FR" dirty="0" smtClean="0"/>
              <a:t>$login= </a:t>
            </a:r>
            <a:r>
              <a:rPr lang="fr-FR" dirty="0" err="1" smtClean="0"/>
              <a:t>htmlspecialchars</a:t>
            </a:r>
            <a:r>
              <a:rPr lang="fr-FR" dirty="0" smtClean="0"/>
              <a:t>($_POST['login'], ENT_QUOTES, 'UTF-8'); </a:t>
            </a:r>
          </a:p>
          <a:p>
            <a:r>
              <a:rPr lang="fr-FR" dirty="0" smtClean="0"/>
              <a:t>            $log= </a:t>
            </a:r>
            <a:r>
              <a:rPr lang="fr-FR" dirty="0" err="1" smtClean="0"/>
              <a:t>htmlspecialchars</a:t>
            </a:r>
            <a:r>
              <a:rPr lang="fr-FR" dirty="0" smtClean="0"/>
              <a:t>($login);</a:t>
            </a:r>
            <a:endParaRPr lang="fr-FR" dirty="0"/>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2"/>
          <p:cNvSpPr/>
          <p:nvPr/>
        </p:nvSpPr>
        <p:spPr>
          <a:xfrm>
            <a:off x="899592" y="2564904"/>
            <a:ext cx="2358600" cy="3160800"/>
          </a:xfrm>
          <a:prstGeom prst="ellipse">
            <a:avLst/>
          </a:prstGeom>
          <a:solidFill>
            <a:srgbClr val="AACF20">
              <a:alpha val="7462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smtClean="0">
                <a:solidFill>
                  <a:srgbClr val="FFFFFF"/>
                </a:solidFill>
                <a:latin typeface="Varela Round"/>
                <a:ea typeface="Varela Round"/>
                <a:cs typeface="Varela Round"/>
                <a:sym typeface="Varela Round"/>
              </a:rPr>
              <a:t>App</a:t>
            </a:r>
            <a:endParaRPr sz="2400" dirty="0">
              <a:solidFill>
                <a:srgbClr val="FFFFFF"/>
              </a:solidFill>
              <a:latin typeface="Varela Round"/>
              <a:ea typeface="Varela Round"/>
              <a:cs typeface="Varela Round"/>
              <a:sym typeface="Varela Round"/>
            </a:endParaRPr>
          </a:p>
        </p:txBody>
      </p:sp>
      <p:sp>
        <p:nvSpPr>
          <p:cNvPr id="147" name="Google Shape;147;p22"/>
          <p:cNvSpPr txBox="1">
            <a:spLocks noGrp="1"/>
          </p:cNvSpPr>
          <p:nvPr>
            <p:ph type="title"/>
          </p:nvPr>
        </p:nvSpPr>
        <p:spPr>
          <a:xfrm>
            <a:off x="1027950" y="689775"/>
            <a:ext cx="7088100" cy="910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smtClean="0"/>
              <a:t>TDMClassroom</a:t>
            </a:r>
            <a:endParaRPr dirty="0"/>
          </a:p>
        </p:txBody>
      </p:sp>
      <p:sp>
        <p:nvSpPr>
          <p:cNvPr id="150" name="Google Shape;150;p22"/>
          <p:cNvSpPr txBox="1">
            <a:spLocks noGrp="1"/>
          </p:cNvSpPr>
          <p:nvPr>
            <p:ph type="sldNum" sz="quarter" idx="12"/>
          </p:nvPr>
        </p:nvSpPr>
        <p:spPr>
          <a:xfrm>
            <a:off x="4348076" y="6302335"/>
            <a:ext cx="548700" cy="398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117</a:t>
            </a:fld>
            <a:endParaRPr/>
          </a:p>
        </p:txBody>
      </p:sp>
      <p:sp>
        <p:nvSpPr>
          <p:cNvPr id="3" name="Flèche courbée vers le bas 2"/>
          <p:cNvSpPr/>
          <p:nvPr/>
        </p:nvSpPr>
        <p:spPr>
          <a:xfrm>
            <a:off x="3326180" y="1745173"/>
            <a:ext cx="2736304" cy="144016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smtClean="0">
              <a:solidFill>
                <a:schemeClr val="tx1"/>
              </a:solidFill>
            </a:endParaRPr>
          </a:p>
          <a:p>
            <a:pPr algn="ctr"/>
            <a:r>
              <a:rPr lang="fr-CA" dirty="0" smtClean="0">
                <a:solidFill>
                  <a:schemeClr val="tx1"/>
                </a:solidFill>
              </a:rPr>
              <a:t>(SQL DML)</a:t>
            </a:r>
            <a:endParaRPr lang="fr-FR" dirty="0">
              <a:solidFill>
                <a:schemeClr val="tx1"/>
              </a:solidFill>
            </a:endParaRPr>
          </a:p>
        </p:txBody>
      </p:sp>
      <p:sp>
        <p:nvSpPr>
          <p:cNvPr id="11" name="Flèche courbée vers le bas 10"/>
          <p:cNvSpPr/>
          <p:nvPr/>
        </p:nvSpPr>
        <p:spPr>
          <a:xfrm rot="10800000">
            <a:off x="3143997" y="4293097"/>
            <a:ext cx="2836640" cy="1728191"/>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6" name="Rectangle 5"/>
          <p:cNvSpPr/>
          <p:nvPr/>
        </p:nvSpPr>
        <p:spPr>
          <a:xfrm>
            <a:off x="4139952" y="4727427"/>
            <a:ext cx="1214820" cy="646331"/>
          </a:xfrm>
          <a:prstGeom prst="rect">
            <a:avLst/>
          </a:prstGeom>
        </p:spPr>
        <p:txBody>
          <a:bodyPr wrap="none">
            <a:spAutoFit/>
          </a:bodyPr>
          <a:lstStyle/>
          <a:p>
            <a:endParaRPr lang="fr-CA" dirty="0" smtClean="0">
              <a:solidFill>
                <a:schemeClr val="tx1"/>
              </a:solidFill>
            </a:endParaRPr>
          </a:p>
          <a:p>
            <a:r>
              <a:rPr lang="fr-CA" dirty="0" smtClean="0">
                <a:solidFill>
                  <a:schemeClr val="tx1"/>
                </a:solidFill>
              </a:rPr>
              <a:t>(SQL DIL)</a:t>
            </a:r>
            <a:endParaRPr lang="fr-FR" dirty="0"/>
          </a:p>
        </p:txBody>
      </p:sp>
      <p:sp>
        <p:nvSpPr>
          <p:cNvPr id="2" name="Cylindre 1"/>
          <p:cNvSpPr/>
          <p:nvPr/>
        </p:nvSpPr>
        <p:spPr>
          <a:xfrm>
            <a:off x="6062484" y="2660915"/>
            <a:ext cx="2325940" cy="3064789"/>
          </a:xfrm>
          <a:prstGeom prst="can">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fr-CA" dirty="0" smtClean="0"/>
              <a:t>BDD</a:t>
            </a:r>
          </a:p>
          <a:p>
            <a:pPr algn="ctr"/>
            <a:endParaRPr lang="fr-CA" dirty="0" smtClean="0"/>
          </a:p>
          <a:p>
            <a:pPr algn="ctr"/>
            <a:endParaRPr lang="fr-FR" dirty="0"/>
          </a:p>
          <a:p>
            <a:pPr algn="ctr"/>
            <a:endParaRPr lang="fr-CA" dirty="0" smtClean="0"/>
          </a:p>
          <a:p>
            <a:pPr algn="ctr"/>
            <a:endParaRPr lang="fr-FR" dirty="0"/>
          </a:p>
        </p:txBody>
      </p:sp>
      <p:graphicFrame>
        <p:nvGraphicFramePr>
          <p:cNvPr id="5" name="Tableau 4"/>
          <p:cNvGraphicFramePr>
            <a:graphicFrameLocks noGrp="1"/>
          </p:cNvGraphicFramePr>
          <p:nvPr>
            <p:extLst>
              <p:ext uri="{D42A27DB-BD31-4B8C-83A1-F6EECF244321}">
                <p14:modId xmlns:p14="http://schemas.microsoft.com/office/powerpoint/2010/main" val="2000712653"/>
              </p:ext>
            </p:extLst>
          </p:nvPr>
        </p:nvGraphicFramePr>
        <p:xfrm>
          <a:off x="6156176" y="4145304"/>
          <a:ext cx="2160243" cy="925215"/>
        </p:xfrm>
        <a:graphic>
          <a:graphicData uri="http://schemas.openxmlformats.org/drawingml/2006/table">
            <a:tbl>
              <a:tblPr firstRow="1" bandRow="1"/>
              <a:tblGrid>
                <a:gridCol w="504056"/>
                <a:gridCol w="648072"/>
                <a:gridCol w="468054"/>
                <a:gridCol w="540061"/>
              </a:tblGrid>
              <a:tr h="437535">
                <a:tc>
                  <a:txBody>
                    <a:bodyPr/>
                    <a:lstStyle/>
                    <a:p>
                      <a:r>
                        <a:rPr lang="fr-CA" sz="1100" dirty="0" smtClean="0"/>
                        <a:t>Nom</a:t>
                      </a:r>
                      <a:endParaRPr lang="fr-FR" sz="1100" dirty="0"/>
                    </a:p>
                  </a:txBody>
                  <a:tcPr marT="60960" marB="60960"/>
                </a:tc>
                <a:tc>
                  <a:txBody>
                    <a:bodyPr/>
                    <a:lstStyle/>
                    <a:p>
                      <a:r>
                        <a:rPr lang="fr-CA" sz="1100" dirty="0" err="1" smtClean="0"/>
                        <a:t>Prenom</a:t>
                      </a:r>
                      <a:endParaRPr lang="fr-FR" sz="1100" dirty="0"/>
                    </a:p>
                  </a:txBody>
                  <a:tcPr marT="60960" marB="60960"/>
                </a:tc>
                <a:tc>
                  <a:txBody>
                    <a:bodyPr/>
                    <a:lstStyle/>
                    <a:p>
                      <a:r>
                        <a:rPr lang="fr-CA" sz="1100" dirty="0" smtClean="0"/>
                        <a:t>ville</a:t>
                      </a:r>
                      <a:endParaRPr lang="fr-FR" sz="1100" dirty="0"/>
                    </a:p>
                  </a:txBody>
                  <a:tcPr marT="60960" marB="60960"/>
                </a:tc>
                <a:tc>
                  <a:txBody>
                    <a:bodyPr/>
                    <a:lstStyle/>
                    <a:p>
                      <a:r>
                        <a:rPr lang="fr-CA" sz="1100" dirty="0" smtClean="0"/>
                        <a:t>photo</a:t>
                      </a:r>
                      <a:endParaRPr lang="fr-FR" sz="1100" dirty="0"/>
                    </a:p>
                  </a:txBody>
                  <a:tcPr marT="60960" marB="60960"/>
                </a:tc>
              </a:tr>
              <a:tr h="466705">
                <a:tc>
                  <a:txBody>
                    <a:bodyPr/>
                    <a:lstStyle/>
                    <a:p>
                      <a:endParaRPr lang="fr-FR" sz="2400"/>
                    </a:p>
                  </a:txBody>
                  <a:tcPr marT="60960" marB="60960"/>
                </a:tc>
                <a:tc>
                  <a:txBody>
                    <a:bodyPr/>
                    <a:lstStyle/>
                    <a:p>
                      <a:endParaRPr lang="fr-FR" sz="2400" dirty="0"/>
                    </a:p>
                  </a:txBody>
                  <a:tcPr marT="60960" marB="60960"/>
                </a:tc>
                <a:tc>
                  <a:txBody>
                    <a:bodyPr/>
                    <a:lstStyle/>
                    <a:p>
                      <a:endParaRPr lang="fr-FR" sz="2400"/>
                    </a:p>
                  </a:txBody>
                  <a:tcPr marT="60960" marB="60960"/>
                </a:tc>
                <a:tc>
                  <a:txBody>
                    <a:bodyPr/>
                    <a:lstStyle/>
                    <a:p>
                      <a:endParaRPr lang="fr-FR" sz="2400" dirty="0"/>
                    </a:p>
                  </a:txBody>
                  <a:tcPr marT="60960" marB="60960"/>
                </a:tc>
              </a:tr>
            </a:tbl>
          </a:graphicData>
        </a:graphic>
      </p:graphicFrame>
    </p:spTree>
    <p:extLst>
      <p:ext uri="{BB962C8B-B14F-4D97-AF65-F5344CB8AC3E}">
        <p14:creationId xmlns:p14="http://schemas.microsoft.com/office/powerpoint/2010/main" val="264141274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smtClean="0"/>
              <a:t>Table </a:t>
            </a:r>
            <a:r>
              <a:rPr lang="fr-CA" dirty="0" err="1" smtClean="0"/>
              <a:t>Student</a:t>
            </a:r>
            <a:endParaRPr lang="fr-FR" dirty="0"/>
          </a:p>
        </p:txBody>
      </p:sp>
      <p:sp>
        <p:nvSpPr>
          <p:cNvPr id="3" name="Espace réservé du numéro de diapositive 2"/>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fr-FR" smtClean="0"/>
              <a:t>118</a:t>
            </a:fld>
            <a:endParaRPr lang="fr-FR"/>
          </a:p>
        </p:txBody>
      </p:sp>
      <p:sp>
        <p:nvSpPr>
          <p:cNvPr id="4" name="Rectangle 3"/>
          <p:cNvSpPr/>
          <p:nvPr/>
        </p:nvSpPr>
        <p:spPr>
          <a:xfrm>
            <a:off x="1547664" y="2084851"/>
            <a:ext cx="6696744" cy="26882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err="1" smtClean="0"/>
              <a:t>Create</a:t>
            </a:r>
            <a:r>
              <a:rPr lang="fr-CA" dirty="0" smtClean="0"/>
              <a:t> table </a:t>
            </a:r>
            <a:r>
              <a:rPr lang="fr-CA" dirty="0" err="1" smtClean="0"/>
              <a:t>student</a:t>
            </a:r>
            <a:r>
              <a:rPr lang="fr-CA" dirty="0" smtClean="0"/>
              <a:t> (</a:t>
            </a:r>
            <a:r>
              <a:rPr lang="fr-CA" dirty="0" err="1" smtClean="0"/>
              <a:t>num</a:t>
            </a:r>
            <a:r>
              <a:rPr lang="fr-CA" dirty="0" smtClean="0"/>
              <a:t> </a:t>
            </a:r>
            <a:r>
              <a:rPr lang="fr-CA" dirty="0" err="1" smtClean="0"/>
              <a:t>int</a:t>
            </a:r>
            <a:r>
              <a:rPr lang="fr-CA" dirty="0" smtClean="0"/>
              <a:t> not </a:t>
            </a:r>
            <a:r>
              <a:rPr lang="fr-CA" dirty="0" err="1" smtClean="0"/>
              <a:t>null</a:t>
            </a:r>
            <a:r>
              <a:rPr lang="fr-CA" dirty="0" smtClean="0"/>
              <a:t> </a:t>
            </a:r>
            <a:r>
              <a:rPr lang="fr-CA" dirty="0" err="1" smtClean="0"/>
              <a:t>primary</a:t>
            </a:r>
            <a:r>
              <a:rPr lang="fr-CA" dirty="0" smtClean="0"/>
              <a:t> </a:t>
            </a:r>
            <a:r>
              <a:rPr lang="fr-CA" dirty="0" err="1" smtClean="0"/>
              <a:t>key</a:t>
            </a:r>
            <a:r>
              <a:rPr lang="fr-CA" dirty="0" smtClean="0"/>
              <a:t> </a:t>
            </a:r>
            <a:r>
              <a:rPr lang="fr-CA" dirty="0" err="1" smtClean="0"/>
              <a:t>auto_increment</a:t>
            </a:r>
            <a:r>
              <a:rPr lang="fr-CA" dirty="0" smtClean="0"/>
              <a:t>,</a:t>
            </a:r>
          </a:p>
          <a:p>
            <a:pPr algn="ctr"/>
            <a:r>
              <a:rPr lang="fr-CA" dirty="0" smtClean="0"/>
              <a:t>Nom </a:t>
            </a:r>
            <a:r>
              <a:rPr lang="fr-CA" dirty="0" err="1" smtClean="0"/>
              <a:t>varchar</a:t>
            </a:r>
            <a:r>
              <a:rPr lang="fr-CA" dirty="0" smtClean="0"/>
              <a:t>(22),</a:t>
            </a:r>
            <a:r>
              <a:rPr lang="fr-CA" dirty="0" err="1" smtClean="0"/>
              <a:t>prenom</a:t>
            </a:r>
            <a:r>
              <a:rPr lang="fr-CA" dirty="0" smtClean="0"/>
              <a:t> </a:t>
            </a:r>
            <a:r>
              <a:rPr lang="fr-CA" dirty="0" err="1" smtClean="0"/>
              <a:t>varchar</a:t>
            </a:r>
            <a:r>
              <a:rPr lang="fr-CA" dirty="0" smtClean="0"/>
              <a:t>(22),ville </a:t>
            </a:r>
            <a:r>
              <a:rPr lang="fr-CA" dirty="0" err="1" smtClean="0"/>
              <a:t>varchar</a:t>
            </a:r>
            <a:r>
              <a:rPr lang="fr-CA" dirty="0" smtClean="0"/>
              <a:t>(22), photo </a:t>
            </a:r>
            <a:r>
              <a:rPr lang="fr-CA" dirty="0" err="1" smtClean="0"/>
              <a:t>text</a:t>
            </a:r>
            <a:r>
              <a:rPr lang="fr-CA" dirty="0" smtClean="0"/>
              <a:t>)</a:t>
            </a:r>
            <a:endParaRPr lang="fr-FR" dirty="0"/>
          </a:p>
        </p:txBody>
      </p:sp>
    </p:spTree>
    <p:extLst>
      <p:ext uri="{BB962C8B-B14F-4D97-AF65-F5344CB8AC3E}">
        <p14:creationId xmlns:p14="http://schemas.microsoft.com/office/powerpoint/2010/main" val="18341758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81" name="Google Shape;81;p13"/>
          <p:cNvSpPr txBox="1">
            <a:spLocks noGrp="1"/>
          </p:cNvSpPr>
          <p:nvPr>
            <p:ph type="sldNum" sz="quarter" idx="12"/>
          </p:nvPr>
        </p:nvSpPr>
        <p:spPr>
          <a:xfrm>
            <a:off x="4348076" y="6302335"/>
            <a:ext cx="548700" cy="398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119</a:t>
            </a:fld>
            <a:endParaRPr/>
          </a:p>
        </p:txBody>
      </p:sp>
      <p:sp>
        <p:nvSpPr>
          <p:cNvPr id="78" name="Google Shape;78;p13"/>
          <p:cNvSpPr txBox="1">
            <a:spLocks noGrp="1"/>
          </p:cNvSpPr>
          <p:nvPr>
            <p:ph type="ctrTitle" idx="4294967295"/>
          </p:nvPr>
        </p:nvSpPr>
        <p:spPr>
          <a:xfrm>
            <a:off x="2490788" y="741363"/>
            <a:ext cx="6653212" cy="1546225"/>
          </a:xfrm>
          <a:prstGeom prst="rect">
            <a:avLst/>
          </a:prstGeom>
        </p:spPr>
        <p:txBody>
          <a:bodyPr spcFirstLastPara="1" wrap="square" lIns="91425" tIns="91425" rIns="91425" bIns="91425" anchor="b" anchorCtr="0">
            <a:noAutofit/>
          </a:bodyPr>
          <a:lstStyle/>
          <a:p>
            <a:pPr lvl="0" algn="l"/>
            <a:r>
              <a:rPr lang="fr-FR" sz="6000" dirty="0" smtClean="0">
                <a:solidFill>
                  <a:schemeClr val="accent3"/>
                </a:solidFill>
              </a:rPr>
              <a:t>  accueil</a:t>
            </a:r>
            <a:endParaRPr sz="6000" dirty="0">
              <a:solidFill>
                <a:schemeClr val="accent3"/>
              </a:solidFill>
            </a:endParaRPr>
          </a:p>
        </p:txBody>
      </p:sp>
      <p:pic>
        <p:nvPicPr>
          <p:cNvPr id="8" name="Google Shape;77;p13"/>
          <p:cNvPicPr preferRelativeResize="0"/>
          <p:nvPr/>
        </p:nvPicPr>
        <p:blipFill>
          <a:blip r:embed="rId3">
            <a:extLst>
              <a:ext uri="{28A0092B-C50C-407E-A947-70E740481C1C}">
                <a14:useLocalDpi xmlns:a14="http://schemas.microsoft.com/office/drawing/2010/main" val="0"/>
              </a:ext>
            </a:extLst>
          </a:blip>
          <a:stretch>
            <a:fillRect/>
          </a:stretch>
        </p:blipFill>
        <p:spPr>
          <a:xfrm>
            <a:off x="683568" y="836712"/>
            <a:ext cx="2160240" cy="2482053"/>
          </a:xfrm>
          <a:prstGeom prst="wedgeEllipseCallout">
            <a:avLst>
              <a:gd name="adj1" fmla="val 47110"/>
              <a:gd name="adj2" fmla="val 46541"/>
            </a:avLst>
          </a:prstGeom>
          <a:noFill/>
          <a:ln w="9525" cap="flat" cmpd="sng">
            <a:solidFill>
              <a:schemeClr val="dk1"/>
            </a:solidFill>
            <a:prstDash val="dash"/>
            <a:round/>
            <a:headEnd type="none" w="sm" len="sm"/>
            <a:tailEnd type="none" w="sm" len="sm"/>
          </a:ln>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3849" y="2276873"/>
            <a:ext cx="4031481" cy="38319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2673267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81" name="Google Shape;81;p13"/>
          <p:cNvSpPr txBox="1">
            <a:spLocks noGrp="1"/>
          </p:cNvSpPr>
          <p:nvPr>
            <p:ph type="sldNum" sz="quarter" idx="12"/>
          </p:nvPr>
        </p:nvSpPr>
        <p:spPr>
          <a:xfrm>
            <a:off x="4348076" y="6302335"/>
            <a:ext cx="548700" cy="398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120</a:t>
            </a:fld>
            <a:endParaRPr/>
          </a:p>
        </p:txBody>
      </p:sp>
      <p:sp>
        <p:nvSpPr>
          <p:cNvPr id="78" name="Google Shape;78;p13"/>
          <p:cNvSpPr txBox="1">
            <a:spLocks noGrp="1"/>
          </p:cNvSpPr>
          <p:nvPr>
            <p:ph type="ctrTitle" idx="4294967295"/>
          </p:nvPr>
        </p:nvSpPr>
        <p:spPr>
          <a:xfrm>
            <a:off x="4183063" y="549275"/>
            <a:ext cx="4960937" cy="1546225"/>
          </a:xfrm>
          <a:prstGeom prst="rect">
            <a:avLst/>
          </a:prstGeom>
        </p:spPr>
        <p:txBody>
          <a:bodyPr spcFirstLastPara="1" wrap="square" lIns="91425" tIns="91425" rIns="91425" bIns="91425" anchor="b" anchorCtr="0">
            <a:noAutofit/>
          </a:bodyPr>
          <a:lstStyle/>
          <a:p>
            <a:pPr lvl="0" algn="l"/>
            <a:r>
              <a:rPr lang="fr-FR" sz="9600" dirty="0" smtClean="0">
                <a:solidFill>
                  <a:schemeClr val="accent3"/>
                </a:solidFill>
              </a:rPr>
              <a:t>Nouveau</a:t>
            </a:r>
            <a:endParaRPr sz="9600" dirty="0">
              <a:solidFill>
                <a:schemeClr val="accent3"/>
              </a:solidFill>
            </a:endParaRPr>
          </a:p>
        </p:txBody>
      </p:sp>
      <p:pic>
        <p:nvPicPr>
          <p:cNvPr id="7" name="Google Shape;77;p13"/>
          <p:cNvPicPr preferRelativeResize="0"/>
          <p:nvPr/>
        </p:nvPicPr>
        <p:blipFill>
          <a:blip r:embed="rId3">
            <a:extLst>
              <a:ext uri="{28A0092B-C50C-407E-A947-70E740481C1C}">
                <a14:useLocalDpi xmlns:a14="http://schemas.microsoft.com/office/drawing/2010/main" val="0"/>
              </a:ext>
            </a:extLst>
          </a:blip>
          <a:stretch>
            <a:fillRect/>
          </a:stretch>
        </p:blipFill>
        <p:spPr>
          <a:xfrm>
            <a:off x="683568" y="836712"/>
            <a:ext cx="2160240" cy="2482053"/>
          </a:xfrm>
          <a:prstGeom prst="wedgeEllipseCallout">
            <a:avLst>
              <a:gd name="adj1" fmla="val 47110"/>
              <a:gd name="adj2" fmla="val 46541"/>
            </a:avLst>
          </a:prstGeom>
          <a:noFill/>
          <a:ln w="9525" cap="flat" cmpd="sng">
            <a:solidFill>
              <a:schemeClr val="dk1"/>
            </a:solidFill>
            <a:prstDash val="dash"/>
            <a:round/>
            <a:headEnd type="none" w="sm" len="sm"/>
            <a:tailEnd type="none" w="sm" len="sm"/>
          </a:ln>
        </p:spPr>
      </p:pic>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1840" y="2276872"/>
            <a:ext cx="3960440" cy="3906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9494339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81" name="Google Shape;81;p13"/>
          <p:cNvSpPr txBox="1">
            <a:spLocks noGrp="1"/>
          </p:cNvSpPr>
          <p:nvPr>
            <p:ph type="sldNum" sz="quarter" idx="12"/>
          </p:nvPr>
        </p:nvSpPr>
        <p:spPr>
          <a:xfrm>
            <a:off x="4348076" y="6302335"/>
            <a:ext cx="548700" cy="398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121</a:t>
            </a:fld>
            <a:endParaRPr/>
          </a:p>
        </p:txBody>
      </p:sp>
      <p:sp>
        <p:nvSpPr>
          <p:cNvPr id="78" name="Google Shape;78;p13"/>
          <p:cNvSpPr txBox="1">
            <a:spLocks noGrp="1"/>
          </p:cNvSpPr>
          <p:nvPr>
            <p:ph type="ctrTitle" idx="4294967295"/>
          </p:nvPr>
        </p:nvSpPr>
        <p:spPr>
          <a:xfrm>
            <a:off x="3786188" y="984250"/>
            <a:ext cx="5357812" cy="1546225"/>
          </a:xfrm>
          <a:prstGeom prst="rect">
            <a:avLst/>
          </a:prstGeom>
        </p:spPr>
        <p:txBody>
          <a:bodyPr spcFirstLastPara="1" wrap="square" lIns="91425" tIns="91425" rIns="91425" bIns="91425" anchor="b" anchorCtr="0">
            <a:noAutofit/>
          </a:bodyPr>
          <a:lstStyle/>
          <a:p>
            <a:pPr lvl="0" algn="l"/>
            <a:r>
              <a:rPr lang="fr-FR" sz="4800" dirty="0" smtClean="0">
                <a:solidFill>
                  <a:schemeClr val="accent3"/>
                </a:solidFill>
              </a:rPr>
              <a:t>Recherche</a:t>
            </a:r>
            <a:endParaRPr sz="4800" dirty="0">
              <a:solidFill>
                <a:schemeClr val="accent3"/>
              </a:solidFill>
            </a:endParaRPr>
          </a:p>
        </p:txBody>
      </p:sp>
      <p:pic>
        <p:nvPicPr>
          <p:cNvPr id="7" name="Google Shape;77;p13"/>
          <p:cNvPicPr preferRelativeResize="0"/>
          <p:nvPr/>
        </p:nvPicPr>
        <p:blipFill>
          <a:blip r:embed="rId3">
            <a:extLst>
              <a:ext uri="{28A0092B-C50C-407E-A947-70E740481C1C}">
                <a14:useLocalDpi xmlns:a14="http://schemas.microsoft.com/office/drawing/2010/main" val="0"/>
              </a:ext>
            </a:extLst>
          </a:blip>
          <a:stretch>
            <a:fillRect/>
          </a:stretch>
        </p:blipFill>
        <p:spPr>
          <a:xfrm>
            <a:off x="683568" y="836712"/>
            <a:ext cx="2160240" cy="2482053"/>
          </a:xfrm>
          <a:prstGeom prst="wedgeEllipseCallout">
            <a:avLst>
              <a:gd name="adj1" fmla="val 47110"/>
              <a:gd name="adj2" fmla="val 46541"/>
            </a:avLst>
          </a:prstGeom>
          <a:noFill/>
          <a:ln w="9525" cap="flat" cmpd="sng">
            <a:solidFill>
              <a:schemeClr val="dk1"/>
            </a:solidFill>
            <a:prstDash val="dash"/>
            <a:round/>
            <a:headEnd type="none" w="sm" len="sm"/>
            <a:tailEnd type="none" w="sm" len="sm"/>
          </a:ln>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1840" y="2564904"/>
            <a:ext cx="4538464" cy="371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5973905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81" name="Google Shape;81;p13"/>
          <p:cNvSpPr txBox="1">
            <a:spLocks noGrp="1"/>
          </p:cNvSpPr>
          <p:nvPr>
            <p:ph type="sldNum" sz="quarter" idx="12"/>
          </p:nvPr>
        </p:nvSpPr>
        <p:spPr>
          <a:xfrm>
            <a:off x="4348076" y="6302335"/>
            <a:ext cx="548700" cy="398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122</a:t>
            </a:fld>
            <a:endParaRPr/>
          </a:p>
        </p:txBody>
      </p:sp>
      <p:sp>
        <p:nvSpPr>
          <p:cNvPr id="78" name="Google Shape;78;p13"/>
          <p:cNvSpPr txBox="1">
            <a:spLocks noGrp="1"/>
          </p:cNvSpPr>
          <p:nvPr>
            <p:ph type="ctrTitle" idx="4294967295"/>
          </p:nvPr>
        </p:nvSpPr>
        <p:spPr>
          <a:xfrm>
            <a:off x="3786188" y="984250"/>
            <a:ext cx="5357812" cy="1546225"/>
          </a:xfrm>
          <a:prstGeom prst="rect">
            <a:avLst/>
          </a:prstGeom>
        </p:spPr>
        <p:txBody>
          <a:bodyPr spcFirstLastPara="1" wrap="square" lIns="91425" tIns="91425" rIns="91425" bIns="91425" anchor="b" anchorCtr="0">
            <a:noAutofit/>
          </a:bodyPr>
          <a:lstStyle/>
          <a:p>
            <a:pPr lvl="0" algn="l"/>
            <a:r>
              <a:rPr lang="fr-FR" sz="4800" dirty="0" smtClean="0">
                <a:solidFill>
                  <a:schemeClr val="accent3"/>
                </a:solidFill>
              </a:rPr>
              <a:t>Mise à jour</a:t>
            </a:r>
            <a:endParaRPr sz="4800" dirty="0">
              <a:solidFill>
                <a:schemeClr val="accent3"/>
              </a:solidFill>
            </a:endParaRPr>
          </a:p>
        </p:txBody>
      </p:sp>
      <p:pic>
        <p:nvPicPr>
          <p:cNvPr id="7" name="Google Shape;77;p13"/>
          <p:cNvPicPr preferRelativeResize="0"/>
          <p:nvPr/>
        </p:nvPicPr>
        <p:blipFill>
          <a:blip r:embed="rId3">
            <a:extLst>
              <a:ext uri="{28A0092B-C50C-407E-A947-70E740481C1C}">
                <a14:useLocalDpi xmlns:a14="http://schemas.microsoft.com/office/drawing/2010/main" val="0"/>
              </a:ext>
            </a:extLst>
          </a:blip>
          <a:stretch>
            <a:fillRect/>
          </a:stretch>
        </p:blipFill>
        <p:spPr>
          <a:xfrm>
            <a:off x="683568" y="836712"/>
            <a:ext cx="2160240" cy="2482053"/>
          </a:xfrm>
          <a:prstGeom prst="wedgeEllipseCallout">
            <a:avLst>
              <a:gd name="adj1" fmla="val 47110"/>
              <a:gd name="adj2" fmla="val 46541"/>
            </a:avLst>
          </a:prstGeom>
          <a:noFill/>
          <a:ln w="9525" cap="flat" cmpd="sng">
            <a:solidFill>
              <a:schemeClr val="dk1"/>
            </a:solidFill>
            <a:prstDash val="dash"/>
            <a:round/>
            <a:headEnd type="none" w="sm" len="sm"/>
            <a:tailEnd type="none" w="sm" len="sm"/>
          </a:ln>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7824" y="2420888"/>
            <a:ext cx="4437881" cy="3830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7177530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863"/>
        <p:cNvGrpSpPr/>
        <p:nvPr/>
      </p:nvGrpSpPr>
      <p:grpSpPr>
        <a:xfrm>
          <a:off x="0" y="0"/>
          <a:ext cx="0" cy="0"/>
          <a:chOff x="0" y="0"/>
          <a:chExt cx="0" cy="0"/>
        </a:xfrm>
      </p:grpSpPr>
      <p:sp>
        <p:nvSpPr>
          <p:cNvPr id="865" name="Google Shape;865;p40"/>
          <p:cNvSpPr txBox="1"/>
          <p:nvPr/>
        </p:nvSpPr>
        <p:spPr>
          <a:xfrm>
            <a:off x="1106100" y="2946000"/>
            <a:ext cx="6931800" cy="356400"/>
          </a:xfrm>
          <a:prstGeom prst="rect">
            <a:avLst/>
          </a:prstGeom>
          <a:noFill/>
          <a:ln>
            <a:noFill/>
          </a:ln>
        </p:spPr>
        <p:txBody>
          <a:bodyPr spcFirstLastPara="1" wrap="square" lIns="0" tIns="0" rIns="0" bIns="0" anchor="t" anchorCtr="0">
            <a:noAutofit/>
          </a:bodyPr>
          <a:lstStyle/>
          <a:p>
            <a:pPr lvl="0" algn="ctr"/>
            <a:r>
              <a:rPr lang="fr-FR" sz="1800" dirty="0"/>
              <a:t>barème</a:t>
            </a:r>
            <a:endParaRPr sz="1800" b="1" dirty="0">
              <a:solidFill>
                <a:srgbClr val="434343"/>
              </a:solidFill>
              <a:latin typeface="Montserrat"/>
              <a:ea typeface="Montserrat"/>
              <a:cs typeface="Montserrat"/>
              <a:sym typeface="Montserrat"/>
            </a:endParaRPr>
          </a:p>
        </p:txBody>
      </p:sp>
      <p:grpSp>
        <p:nvGrpSpPr>
          <p:cNvPr id="866" name="Google Shape;866;p40"/>
          <p:cNvGrpSpPr/>
          <p:nvPr/>
        </p:nvGrpSpPr>
        <p:grpSpPr>
          <a:xfrm>
            <a:off x="690576" y="4386843"/>
            <a:ext cx="7762851" cy="1189891"/>
            <a:chOff x="801125" y="3213932"/>
            <a:chExt cx="7762851" cy="892418"/>
          </a:xfrm>
        </p:grpSpPr>
        <p:sp>
          <p:nvSpPr>
            <p:cNvPr id="868" name="Google Shape;868;p40"/>
            <p:cNvSpPr txBox="1"/>
            <p:nvPr/>
          </p:nvSpPr>
          <p:spPr>
            <a:xfrm>
              <a:off x="4845759" y="3469450"/>
              <a:ext cx="1695900" cy="636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200" dirty="0" smtClean="0">
                  <a:solidFill>
                    <a:srgbClr val="434343"/>
                  </a:solidFill>
                  <a:latin typeface="Montserrat"/>
                  <a:ea typeface="Montserrat"/>
                  <a:cs typeface="Montserrat"/>
                  <a:sym typeface="Montserrat"/>
                </a:rPr>
                <a:t>SEARCH(10pts)</a:t>
              </a:r>
              <a:endParaRPr sz="1200" dirty="0">
                <a:solidFill>
                  <a:srgbClr val="434343"/>
                </a:solidFill>
                <a:latin typeface="Montserrat"/>
                <a:ea typeface="Montserrat"/>
                <a:cs typeface="Montserrat"/>
                <a:sym typeface="Montserrat"/>
              </a:endParaRPr>
            </a:p>
          </p:txBody>
        </p:sp>
        <p:sp>
          <p:nvSpPr>
            <p:cNvPr id="871" name="Google Shape;871;p40"/>
            <p:cNvSpPr txBox="1"/>
            <p:nvPr/>
          </p:nvSpPr>
          <p:spPr>
            <a:xfrm>
              <a:off x="2823442" y="3469450"/>
              <a:ext cx="1695900" cy="636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200" dirty="0" smtClean="0">
                  <a:solidFill>
                    <a:srgbClr val="434343"/>
                  </a:solidFill>
                  <a:latin typeface="Montserrat"/>
                  <a:ea typeface="Montserrat"/>
                  <a:cs typeface="Montserrat"/>
                  <a:sym typeface="Montserrat"/>
                </a:rPr>
                <a:t>SAVE(5pst)</a:t>
              </a:r>
              <a:endParaRPr sz="1200" dirty="0">
                <a:solidFill>
                  <a:srgbClr val="434343"/>
                </a:solidFill>
                <a:latin typeface="Montserrat"/>
                <a:ea typeface="Montserrat"/>
                <a:cs typeface="Montserrat"/>
                <a:sym typeface="Montserrat"/>
              </a:endParaRPr>
            </a:p>
          </p:txBody>
        </p:sp>
        <p:grpSp>
          <p:nvGrpSpPr>
            <p:cNvPr id="873" name="Google Shape;873;p40"/>
            <p:cNvGrpSpPr/>
            <p:nvPr/>
          </p:nvGrpSpPr>
          <p:grpSpPr>
            <a:xfrm>
              <a:off x="6868076" y="3213932"/>
              <a:ext cx="1695900" cy="892418"/>
              <a:chOff x="6868076" y="3213932"/>
              <a:chExt cx="1695900" cy="892418"/>
            </a:xfrm>
          </p:grpSpPr>
          <p:sp>
            <p:nvSpPr>
              <p:cNvPr id="874" name="Google Shape;874;p40"/>
              <p:cNvSpPr txBox="1"/>
              <p:nvPr/>
            </p:nvSpPr>
            <p:spPr>
              <a:xfrm>
                <a:off x="6868076" y="3469450"/>
                <a:ext cx="1695900" cy="636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200" dirty="0" smtClean="0">
                    <a:solidFill>
                      <a:srgbClr val="434343"/>
                    </a:solidFill>
                    <a:latin typeface="Montserrat"/>
                    <a:ea typeface="Montserrat"/>
                    <a:cs typeface="Montserrat"/>
                    <a:sym typeface="Montserrat"/>
                  </a:rPr>
                  <a:t>Total (20pts)</a:t>
                </a:r>
                <a:endParaRPr sz="1200" dirty="0">
                  <a:solidFill>
                    <a:srgbClr val="434343"/>
                  </a:solidFill>
                  <a:latin typeface="Montserrat"/>
                  <a:ea typeface="Montserrat"/>
                  <a:cs typeface="Montserrat"/>
                  <a:sym typeface="Montserrat"/>
                </a:endParaRPr>
              </a:p>
            </p:txBody>
          </p:sp>
          <p:sp>
            <p:nvSpPr>
              <p:cNvPr id="875" name="Google Shape;875;p40"/>
              <p:cNvSpPr/>
              <p:nvPr/>
            </p:nvSpPr>
            <p:spPr>
              <a:xfrm>
                <a:off x="7625712" y="3213932"/>
                <a:ext cx="180627" cy="181175"/>
              </a:xfrm>
              <a:custGeom>
                <a:avLst/>
                <a:gdLst/>
                <a:ahLst/>
                <a:cxnLst/>
                <a:rect l="l" t="t" r="r" b="b"/>
                <a:pathLst>
                  <a:path w="5929" h="5947" extrusionOk="0">
                    <a:moveTo>
                      <a:pt x="784" y="4940"/>
                    </a:moveTo>
                    <a:lnTo>
                      <a:pt x="839" y="4958"/>
                    </a:lnTo>
                    <a:lnTo>
                      <a:pt x="933" y="5014"/>
                    </a:lnTo>
                    <a:lnTo>
                      <a:pt x="989" y="5107"/>
                    </a:lnTo>
                    <a:lnTo>
                      <a:pt x="1007" y="5145"/>
                    </a:lnTo>
                    <a:lnTo>
                      <a:pt x="1007" y="5201"/>
                    </a:lnTo>
                    <a:lnTo>
                      <a:pt x="1007" y="5257"/>
                    </a:lnTo>
                    <a:lnTo>
                      <a:pt x="989" y="5313"/>
                    </a:lnTo>
                    <a:lnTo>
                      <a:pt x="933" y="5406"/>
                    </a:lnTo>
                    <a:lnTo>
                      <a:pt x="839" y="5462"/>
                    </a:lnTo>
                    <a:lnTo>
                      <a:pt x="784" y="5480"/>
                    </a:lnTo>
                    <a:lnTo>
                      <a:pt x="672" y="5480"/>
                    </a:lnTo>
                    <a:lnTo>
                      <a:pt x="634" y="5462"/>
                    </a:lnTo>
                    <a:lnTo>
                      <a:pt x="541" y="5406"/>
                    </a:lnTo>
                    <a:lnTo>
                      <a:pt x="485" y="5313"/>
                    </a:lnTo>
                    <a:lnTo>
                      <a:pt x="467" y="5257"/>
                    </a:lnTo>
                    <a:lnTo>
                      <a:pt x="448" y="5201"/>
                    </a:lnTo>
                    <a:lnTo>
                      <a:pt x="467" y="5145"/>
                    </a:lnTo>
                    <a:lnTo>
                      <a:pt x="485" y="5107"/>
                    </a:lnTo>
                    <a:lnTo>
                      <a:pt x="541" y="5014"/>
                    </a:lnTo>
                    <a:lnTo>
                      <a:pt x="634" y="4958"/>
                    </a:lnTo>
                    <a:lnTo>
                      <a:pt x="672" y="4940"/>
                    </a:lnTo>
                    <a:close/>
                    <a:moveTo>
                      <a:pt x="206" y="2610"/>
                    </a:moveTo>
                    <a:lnTo>
                      <a:pt x="168" y="2628"/>
                    </a:lnTo>
                    <a:lnTo>
                      <a:pt x="75" y="2684"/>
                    </a:lnTo>
                    <a:lnTo>
                      <a:pt x="19" y="2777"/>
                    </a:lnTo>
                    <a:lnTo>
                      <a:pt x="1" y="2833"/>
                    </a:lnTo>
                    <a:lnTo>
                      <a:pt x="1" y="2889"/>
                    </a:lnTo>
                    <a:lnTo>
                      <a:pt x="1" y="5667"/>
                    </a:lnTo>
                    <a:lnTo>
                      <a:pt x="1" y="5723"/>
                    </a:lnTo>
                    <a:lnTo>
                      <a:pt x="19" y="5779"/>
                    </a:lnTo>
                    <a:lnTo>
                      <a:pt x="75" y="5872"/>
                    </a:lnTo>
                    <a:lnTo>
                      <a:pt x="168" y="5928"/>
                    </a:lnTo>
                    <a:lnTo>
                      <a:pt x="206" y="5946"/>
                    </a:lnTo>
                    <a:lnTo>
                      <a:pt x="1250" y="5946"/>
                    </a:lnTo>
                    <a:lnTo>
                      <a:pt x="1305" y="5928"/>
                    </a:lnTo>
                    <a:lnTo>
                      <a:pt x="1399" y="5872"/>
                    </a:lnTo>
                    <a:lnTo>
                      <a:pt x="1455" y="5779"/>
                    </a:lnTo>
                    <a:lnTo>
                      <a:pt x="1473" y="5723"/>
                    </a:lnTo>
                    <a:lnTo>
                      <a:pt x="1473" y="5667"/>
                    </a:lnTo>
                    <a:lnTo>
                      <a:pt x="1473" y="2889"/>
                    </a:lnTo>
                    <a:lnTo>
                      <a:pt x="1473" y="2833"/>
                    </a:lnTo>
                    <a:lnTo>
                      <a:pt x="1455" y="2777"/>
                    </a:lnTo>
                    <a:lnTo>
                      <a:pt x="1399" y="2684"/>
                    </a:lnTo>
                    <a:lnTo>
                      <a:pt x="1305" y="2628"/>
                    </a:lnTo>
                    <a:lnTo>
                      <a:pt x="1250" y="2610"/>
                    </a:lnTo>
                    <a:close/>
                    <a:moveTo>
                      <a:pt x="3617" y="0"/>
                    </a:moveTo>
                    <a:lnTo>
                      <a:pt x="3524" y="19"/>
                    </a:lnTo>
                    <a:lnTo>
                      <a:pt x="3468" y="75"/>
                    </a:lnTo>
                    <a:lnTo>
                      <a:pt x="3393" y="168"/>
                    </a:lnTo>
                    <a:lnTo>
                      <a:pt x="3337" y="261"/>
                    </a:lnTo>
                    <a:lnTo>
                      <a:pt x="3263" y="485"/>
                    </a:lnTo>
                    <a:lnTo>
                      <a:pt x="3225" y="671"/>
                    </a:lnTo>
                    <a:lnTo>
                      <a:pt x="3169" y="858"/>
                    </a:lnTo>
                    <a:lnTo>
                      <a:pt x="3114" y="1044"/>
                    </a:lnTo>
                    <a:lnTo>
                      <a:pt x="3039" y="1212"/>
                    </a:lnTo>
                    <a:lnTo>
                      <a:pt x="2983" y="1286"/>
                    </a:lnTo>
                    <a:lnTo>
                      <a:pt x="2927" y="1361"/>
                    </a:lnTo>
                    <a:lnTo>
                      <a:pt x="2797" y="1510"/>
                    </a:lnTo>
                    <a:lnTo>
                      <a:pt x="2666" y="1659"/>
                    </a:lnTo>
                    <a:lnTo>
                      <a:pt x="2442" y="1995"/>
                    </a:lnTo>
                    <a:lnTo>
                      <a:pt x="2200" y="2330"/>
                    </a:lnTo>
                    <a:lnTo>
                      <a:pt x="2051" y="2498"/>
                    </a:lnTo>
                    <a:lnTo>
                      <a:pt x="1883" y="2666"/>
                    </a:lnTo>
                    <a:lnTo>
                      <a:pt x="1865" y="2722"/>
                    </a:lnTo>
                    <a:lnTo>
                      <a:pt x="1846" y="2777"/>
                    </a:lnTo>
                    <a:lnTo>
                      <a:pt x="1846" y="5257"/>
                    </a:lnTo>
                    <a:lnTo>
                      <a:pt x="1865" y="5313"/>
                    </a:lnTo>
                    <a:lnTo>
                      <a:pt x="1883" y="5350"/>
                    </a:lnTo>
                    <a:lnTo>
                      <a:pt x="1939" y="5387"/>
                    </a:lnTo>
                    <a:lnTo>
                      <a:pt x="1995" y="5387"/>
                    </a:lnTo>
                    <a:lnTo>
                      <a:pt x="2126" y="5406"/>
                    </a:lnTo>
                    <a:lnTo>
                      <a:pt x="2293" y="5462"/>
                    </a:lnTo>
                    <a:lnTo>
                      <a:pt x="2592" y="5573"/>
                    </a:lnTo>
                    <a:lnTo>
                      <a:pt x="2890" y="5704"/>
                    </a:lnTo>
                    <a:lnTo>
                      <a:pt x="3225" y="5816"/>
                    </a:lnTo>
                    <a:lnTo>
                      <a:pt x="3393" y="5872"/>
                    </a:lnTo>
                    <a:lnTo>
                      <a:pt x="3580" y="5909"/>
                    </a:lnTo>
                    <a:lnTo>
                      <a:pt x="3785" y="5946"/>
                    </a:lnTo>
                    <a:lnTo>
                      <a:pt x="4400" y="5946"/>
                    </a:lnTo>
                    <a:lnTo>
                      <a:pt x="4586" y="5928"/>
                    </a:lnTo>
                    <a:lnTo>
                      <a:pt x="4772" y="5909"/>
                    </a:lnTo>
                    <a:lnTo>
                      <a:pt x="4940" y="5853"/>
                    </a:lnTo>
                    <a:lnTo>
                      <a:pt x="5108" y="5797"/>
                    </a:lnTo>
                    <a:lnTo>
                      <a:pt x="5238" y="5723"/>
                    </a:lnTo>
                    <a:lnTo>
                      <a:pt x="5332" y="5611"/>
                    </a:lnTo>
                    <a:lnTo>
                      <a:pt x="5388" y="5499"/>
                    </a:lnTo>
                    <a:lnTo>
                      <a:pt x="5425" y="5368"/>
                    </a:lnTo>
                    <a:lnTo>
                      <a:pt x="5425" y="5238"/>
                    </a:lnTo>
                    <a:lnTo>
                      <a:pt x="5406" y="5089"/>
                    </a:lnTo>
                    <a:lnTo>
                      <a:pt x="5481" y="4996"/>
                    </a:lnTo>
                    <a:lnTo>
                      <a:pt x="5537" y="4902"/>
                    </a:lnTo>
                    <a:lnTo>
                      <a:pt x="5574" y="4809"/>
                    </a:lnTo>
                    <a:lnTo>
                      <a:pt x="5611" y="4697"/>
                    </a:lnTo>
                    <a:lnTo>
                      <a:pt x="5630" y="4567"/>
                    </a:lnTo>
                    <a:lnTo>
                      <a:pt x="5630" y="4455"/>
                    </a:lnTo>
                    <a:lnTo>
                      <a:pt x="5630" y="4325"/>
                    </a:lnTo>
                    <a:lnTo>
                      <a:pt x="5593" y="4213"/>
                    </a:lnTo>
                    <a:lnTo>
                      <a:pt x="5667" y="4101"/>
                    </a:lnTo>
                    <a:lnTo>
                      <a:pt x="5723" y="3989"/>
                    </a:lnTo>
                    <a:lnTo>
                      <a:pt x="5742" y="3877"/>
                    </a:lnTo>
                    <a:lnTo>
                      <a:pt x="5779" y="3747"/>
                    </a:lnTo>
                    <a:lnTo>
                      <a:pt x="5779" y="3635"/>
                    </a:lnTo>
                    <a:lnTo>
                      <a:pt x="5760" y="3523"/>
                    </a:lnTo>
                    <a:lnTo>
                      <a:pt x="5742" y="3393"/>
                    </a:lnTo>
                    <a:lnTo>
                      <a:pt x="5704" y="3299"/>
                    </a:lnTo>
                    <a:lnTo>
                      <a:pt x="5798" y="3169"/>
                    </a:lnTo>
                    <a:lnTo>
                      <a:pt x="5872" y="3038"/>
                    </a:lnTo>
                    <a:lnTo>
                      <a:pt x="5909" y="2889"/>
                    </a:lnTo>
                    <a:lnTo>
                      <a:pt x="5928" y="2722"/>
                    </a:lnTo>
                    <a:lnTo>
                      <a:pt x="5909" y="2591"/>
                    </a:lnTo>
                    <a:lnTo>
                      <a:pt x="5872" y="2461"/>
                    </a:lnTo>
                    <a:lnTo>
                      <a:pt x="5816" y="2349"/>
                    </a:lnTo>
                    <a:lnTo>
                      <a:pt x="5723" y="2256"/>
                    </a:lnTo>
                    <a:lnTo>
                      <a:pt x="5630" y="2162"/>
                    </a:lnTo>
                    <a:lnTo>
                      <a:pt x="5518" y="2106"/>
                    </a:lnTo>
                    <a:lnTo>
                      <a:pt x="5388" y="2069"/>
                    </a:lnTo>
                    <a:lnTo>
                      <a:pt x="5238" y="2051"/>
                    </a:lnTo>
                    <a:lnTo>
                      <a:pt x="4064" y="2051"/>
                    </a:lnTo>
                    <a:lnTo>
                      <a:pt x="4101" y="1920"/>
                    </a:lnTo>
                    <a:lnTo>
                      <a:pt x="4157" y="1808"/>
                    </a:lnTo>
                    <a:lnTo>
                      <a:pt x="4288" y="1566"/>
                    </a:lnTo>
                    <a:lnTo>
                      <a:pt x="4344" y="1435"/>
                    </a:lnTo>
                    <a:lnTo>
                      <a:pt x="4400" y="1286"/>
                    </a:lnTo>
                    <a:lnTo>
                      <a:pt x="4437" y="1119"/>
                    </a:lnTo>
                    <a:lnTo>
                      <a:pt x="4456" y="951"/>
                    </a:lnTo>
                    <a:lnTo>
                      <a:pt x="4437" y="802"/>
                    </a:lnTo>
                    <a:lnTo>
                      <a:pt x="4418" y="671"/>
                    </a:lnTo>
                    <a:lnTo>
                      <a:pt x="4400" y="541"/>
                    </a:lnTo>
                    <a:lnTo>
                      <a:pt x="4362" y="447"/>
                    </a:lnTo>
                    <a:lnTo>
                      <a:pt x="4306" y="354"/>
                    </a:lnTo>
                    <a:lnTo>
                      <a:pt x="4251" y="280"/>
                    </a:lnTo>
                    <a:lnTo>
                      <a:pt x="4195" y="205"/>
                    </a:lnTo>
                    <a:lnTo>
                      <a:pt x="4139" y="168"/>
                    </a:lnTo>
                    <a:lnTo>
                      <a:pt x="3990" y="75"/>
                    </a:lnTo>
                    <a:lnTo>
                      <a:pt x="3859" y="37"/>
                    </a:lnTo>
                    <a:lnTo>
                      <a:pt x="3729" y="19"/>
                    </a:lnTo>
                    <a:lnTo>
                      <a:pt x="361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grpSp>
        <p:grpSp>
          <p:nvGrpSpPr>
            <p:cNvPr id="876" name="Google Shape;876;p40"/>
            <p:cNvGrpSpPr/>
            <p:nvPr/>
          </p:nvGrpSpPr>
          <p:grpSpPr>
            <a:xfrm>
              <a:off x="801125" y="3214206"/>
              <a:ext cx="1695900" cy="892144"/>
              <a:chOff x="801125" y="3214206"/>
              <a:chExt cx="1695900" cy="892144"/>
            </a:xfrm>
          </p:grpSpPr>
          <p:sp>
            <p:nvSpPr>
              <p:cNvPr id="877" name="Google Shape;877;p40"/>
              <p:cNvSpPr txBox="1"/>
              <p:nvPr/>
            </p:nvSpPr>
            <p:spPr>
              <a:xfrm>
                <a:off x="801125" y="3469450"/>
                <a:ext cx="1695900" cy="636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200" dirty="0" smtClean="0">
                    <a:solidFill>
                      <a:srgbClr val="434343"/>
                    </a:solidFill>
                    <a:latin typeface="Montserrat"/>
                    <a:ea typeface="Montserrat"/>
                    <a:cs typeface="Montserrat"/>
                    <a:sym typeface="Montserrat"/>
                  </a:rPr>
                  <a:t>ACC (5pts)</a:t>
                </a:r>
                <a:endParaRPr sz="1200" dirty="0">
                  <a:solidFill>
                    <a:srgbClr val="434343"/>
                  </a:solidFill>
                  <a:latin typeface="Montserrat"/>
                  <a:ea typeface="Montserrat"/>
                  <a:cs typeface="Montserrat"/>
                  <a:sym typeface="Montserrat"/>
                </a:endParaRPr>
              </a:p>
            </p:txBody>
          </p:sp>
          <p:sp>
            <p:nvSpPr>
              <p:cNvPr id="878" name="Google Shape;878;p40"/>
              <p:cNvSpPr/>
              <p:nvPr/>
            </p:nvSpPr>
            <p:spPr>
              <a:xfrm>
                <a:off x="1535764" y="3214206"/>
                <a:ext cx="226629" cy="180627"/>
              </a:xfrm>
              <a:custGeom>
                <a:avLst/>
                <a:gdLst/>
                <a:ahLst/>
                <a:cxnLst/>
                <a:rect l="l" t="t" r="r" b="b"/>
                <a:pathLst>
                  <a:path w="7439" h="5929" extrusionOk="0">
                    <a:moveTo>
                      <a:pt x="5947" y="728"/>
                    </a:moveTo>
                    <a:lnTo>
                      <a:pt x="5947" y="3710"/>
                    </a:lnTo>
                    <a:lnTo>
                      <a:pt x="1492" y="3710"/>
                    </a:lnTo>
                    <a:lnTo>
                      <a:pt x="1492" y="728"/>
                    </a:lnTo>
                    <a:close/>
                    <a:moveTo>
                      <a:pt x="1194" y="1"/>
                    </a:moveTo>
                    <a:lnTo>
                      <a:pt x="1101" y="38"/>
                    </a:lnTo>
                    <a:lnTo>
                      <a:pt x="989" y="94"/>
                    </a:lnTo>
                    <a:lnTo>
                      <a:pt x="914" y="150"/>
                    </a:lnTo>
                    <a:lnTo>
                      <a:pt x="840" y="243"/>
                    </a:lnTo>
                    <a:lnTo>
                      <a:pt x="802" y="336"/>
                    </a:lnTo>
                    <a:lnTo>
                      <a:pt x="765" y="430"/>
                    </a:lnTo>
                    <a:lnTo>
                      <a:pt x="746" y="542"/>
                    </a:lnTo>
                    <a:lnTo>
                      <a:pt x="746" y="4437"/>
                    </a:lnTo>
                    <a:lnTo>
                      <a:pt x="6693" y="4437"/>
                    </a:lnTo>
                    <a:lnTo>
                      <a:pt x="6693" y="542"/>
                    </a:lnTo>
                    <a:lnTo>
                      <a:pt x="6674" y="430"/>
                    </a:lnTo>
                    <a:lnTo>
                      <a:pt x="6655" y="336"/>
                    </a:lnTo>
                    <a:lnTo>
                      <a:pt x="6599" y="243"/>
                    </a:lnTo>
                    <a:lnTo>
                      <a:pt x="6525" y="150"/>
                    </a:lnTo>
                    <a:lnTo>
                      <a:pt x="6450" y="94"/>
                    </a:lnTo>
                    <a:lnTo>
                      <a:pt x="6357" y="38"/>
                    </a:lnTo>
                    <a:lnTo>
                      <a:pt x="6245" y="1"/>
                    </a:lnTo>
                    <a:close/>
                    <a:moveTo>
                      <a:pt x="187" y="4810"/>
                    </a:moveTo>
                    <a:lnTo>
                      <a:pt x="131" y="4829"/>
                    </a:lnTo>
                    <a:lnTo>
                      <a:pt x="57" y="4866"/>
                    </a:lnTo>
                    <a:lnTo>
                      <a:pt x="20" y="4941"/>
                    </a:lnTo>
                    <a:lnTo>
                      <a:pt x="1" y="4996"/>
                    </a:lnTo>
                    <a:lnTo>
                      <a:pt x="1" y="5183"/>
                    </a:lnTo>
                    <a:lnTo>
                      <a:pt x="20" y="5332"/>
                    </a:lnTo>
                    <a:lnTo>
                      <a:pt x="75" y="5481"/>
                    </a:lnTo>
                    <a:lnTo>
                      <a:pt x="131" y="5612"/>
                    </a:lnTo>
                    <a:lnTo>
                      <a:pt x="225" y="5705"/>
                    </a:lnTo>
                    <a:lnTo>
                      <a:pt x="336" y="5798"/>
                    </a:lnTo>
                    <a:lnTo>
                      <a:pt x="467" y="5873"/>
                    </a:lnTo>
                    <a:lnTo>
                      <a:pt x="597" y="5910"/>
                    </a:lnTo>
                    <a:lnTo>
                      <a:pt x="746" y="5928"/>
                    </a:lnTo>
                    <a:lnTo>
                      <a:pt x="6693" y="5928"/>
                    </a:lnTo>
                    <a:lnTo>
                      <a:pt x="6842" y="5910"/>
                    </a:lnTo>
                    <a:lnTo>
                      <a:pt x="6972" y="5873"/>
                    </a:lnTo>
                    <a:lnTo>
                      <a:pt x="7103" y="5798"/>
                    </a:lnTo>
                    <a:lnTo>
                      <a:pt x="7214" y="5705"/>
                    </a:lnTo>
                    <a:lnTo>
                      <a:pt x="7308" y="5612"/>
                    </a:lnTo>
                    <a:lnTo>
                      <a:pt x="7382" y="5481"/>
                    </a:lnTo>
                    <a:lnTo>
                      <a:pt x="7420" y="5332"/>
                    </a:lnTo>
                    <a:lnTo>
                      <a:pt x="7438" y="5183"/>
                    </a:lnTo>
                    <a:lnTo>
                      <a:pt x="7438" y="4996"/>
                    </a:lnTo>
                    <a:lnTo>
                      <a:pt x="7420" y="4941"/>
                    </a:lnTo>
                    <a:lnTo>
                      <a:pt x="7382" y="4866"/>
                    </a:lnTo>
                    <a:lnTo>
                      <a:pt x="7326" y="4829"/>
                    </a:lnTo>
                    <a:lnTo>
                      <a:pt x="7252" y="4810"/>
                    </a:lnTo>
                    <a:lnTo>
                      <a:pt x="4437" y="4810"/>
                    </a:lnTo>
                    <a:lnTo>
                      <a:pt x="4419" y="4903"/>
                    </a:lnTo>
                    <a:lnTo>
                      <a:pt x="4400" y="4978"/>
                    </a:lnTo>
                    <a:lnTo>
                      <a:pt x="4363" y="5034"/>
                    </a:lnTo>
                    <a:lnTo>
                      <a:pt x="4325" y="5090"/>
                    </a:lnTo>
                    <a:lnTo>
                      <a:pt x="4269" y="5127"/>
                    </a:lnTo>
                    <a:lnTo>
                      <a:pt x="4195" y="5164"/>
                    </a:lnTo>
                    <a:lnTo>
                      <a:pt x="4139" y="5183"/>
                    </a:lnTo>
                    <a:lnTo>
                      <a:pt x="3263" y="5183"/>
                    </a:lnTo>
                    <a:lnTo>
                      <a:pt x="3207" y="5146"/>
                    </a:lnTo>
                    <a:lnTo>
                      <a:pt x="3132" y="5108"/>
                    </a:lnTo>
                    <a:lnTo>
                      <a:pt x="3076" y="5071"/>
                    </a:lnTo>
                    <a:lnTo>
                      <a:pt x="3039" y="5015"/>
                    </a:lnTo>
                    <a:lnTo>
                      <a:pt x="3002" y="4941"/>
                    </a:lnTo>
                    <a:lnTo>
                      <a:pt x="2983" y="4885"/>
                    </a:lnTo>
                    <a:lnTo>
                      <a:pt x="2965" y="481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grpSp>
      </p:grpSp>
      <p:sp>
        <p:nvSpPr>
          <p:cNvPr id="18" name="Google Shape;878;p40"/>
          <p:cNvSpPr/>
          <p:nvPr/>
        </p:nvSpPr>
        <p:spPr>
          <a:xfrm>
            <a:off x="3447528" y="4364958"/>
            <a:ext cx="226629" cy="240836"/>
          </a:xfrm>
          <a:custGeom>
            <a:avLst/>
            <a:gdLst/>
            <a:ahLst/>
            <a:cxnLst/>
            <a:rect l="l" t="t" r="r" b="b"/>
            <a:pathLst>
              <a:path w="7439" h="5929" extrusionOk="0">
                <a:moveTo>
                  <a:pt x="5947" y="728"/>
                </a:moveTo>
                <a:lnTo>
                  <a:pt x="5947" y="3710"/>
                </a:lnTo>
                <a:lnTo>
                  <a:pt x="1492" y="3710"/>
                </a:lnTo>
                <a:lnTo>
                  <a:pt x="1492" y="728"/>
                </a:lnTo>
                <a:close/>
                <a:moveTo>
                  <a:pt x="1194" y="1"/>
                </a:moveTo>
                <a:lnTo>
                  <a:pt x="1101" y="38"/>
                </a:lnTo>
                <a:lnTo>
                  <a:pt x="989" y="94"/>
                </a:lnTo>
                <a:lnTo>
                  <a:pt x="914" y="150"/>
                </a:lnTo>
                <a:lnTo>
                  <a:pt x="840" y="243"/>
                </a:lnTo>
                <a:lnTo>
                  <a:pt x="802" y="336"/>
                </a:lnTo>
                <a:lnTo>
                  <a:pt x="765" y="430"/>
                </a:lnTo>
                <a:lnTo>
                  <a:pt x="746" y="542"/>
                </a:lnTo>
                <a:lnTo>
                  <a:pt x="746" y="4437"/>
                </a:lnTo>
                <a:lnTo>
                  <a:pt x="6693" y="4437"/>
                </a:lnTo>
                <a:lnTo>
                  <a:pt x="6693" y="542"/>
                </a:lnTo>
                <a:lnTo>
                  <a:pt x="6674" y="430"/>
                </a:lnTo>
                <a:lnTo>
                  <a:pt x="6655" y="336"/>
                </a:lnTo>
                <a:lnTo>
                  <a:pt x="6599" y="243"/>
                </a:lnTo>
                <a:lnTo>
                  <a:pt x="6525" y="150"/>
                </a:lnTo>
                <a:lnTo>
                  <a:pt x="6450" y="94"/>
                </a:lnTo>
                <a:lnTo>
                  <a:pt x="6357" y="38"/>
                </a:lnTo>
                <a:lnTo>
                  <a:pt x="6245" y="1"/>
                </a:lnTo>
                <a:close/>
                <a:moveTo>
                  <a:pt x="187" y="4810"/>
                </a:moveTo>
                <a:lnTo>
                  <a:pt x="131" y="4829"/>
                </a:lnTo>
                <a:lnTo>
                  <a:pt x="57" y="4866"/>
                </a:lnTo>
                <a:lnTo>
                  <a:pt x="20" y="4941"/>
                </a:lnTo>
                <a:lnTo>
                  <a:pt x="1" y="4996"/>
                </a:lnTo>
                <a:lnTo>
                  <a:pt x="1" y="5183"/>
                </a:lnTo>
                <a:lnTo>
                  <a:pt x="20" y="5332"/>
                </a:lnTo>
                <a:lnTo>
                  <a:pt x="75" y="5481"/>
                </a:lnTo>
                <a:lnTo>
                  <a:pt x="131" y="5612"/>
                </a:lnTo>
                <a:lnTo>
                  <a:pt x="225" y="5705"/>
                </a:lnTo>
                <a:lnTo>
                  <a:pt x="336" y="5798"/>
                </a:lnTo>
                <a:lnTo>
                  <a:pt x="467" y="5873"/>
                </a:lnTo>
                <a:lnTo>
                  <a:pt x="597" y="5910"/>
                </a:lnTo>
                <a:lnTo>
                  <a:pt x="746" y="5928"/>
                </a:lnTo>
                <a:lnTo>
                  <a:pt x="6693" y="5928"/>
                </a:lnTo>
                <a:lnTo>
                  <a:pt x="6842" y="5910"/>
                </a:lnTo>
                <a:lnTo>
                  <a:pt x="6972" y="5873"/>
                </a:lnTo>
                <a:lnTo>
                  <a:pt x="7103" y="5798"/>
                </a:lnTo>
                <a:lnTo>
                  <a:pt x="7214" y="5705"/>
                </a:lnTo>
                <a:lnTo>
                  <a:pt x="7308" y="5612"/>
                </a:lnTo>
                <a:lnTo>
                  <a:pt x="7382" y="5481"/>
                </a:lnTo>
                <a:lnTo>
                  <a:pt x="7420" y="5332"/>
                </a:lnTo>
                <a:lnTo>
                  <a:pt x="7438" y="5183"/>
                </a:lnTo>
                <a:lnTo>
                  <a:pt x="7438" y="4996"/>
                </a:lnTo>
                <a:lnTo>
                  <a:pt x="7420" y="4941"/>
                </a:lnTo>
                <a:lnTo>
                  <a:pt x="7382" y="4866"/>
                </a:lnTo>
                <a:lnTo>
                  <a:pt x="7326" y="4829"/>
                </a:lnTo>
                <a:lnTo>
                  <a:pt x="7252" y="4810"/>
                </a:lnTo>
                <a:lnTo>
                  <a:pt x="4437" y="4810"/>
                </a:lnTo>
                <a:lnTo>
                  <a:pt x="4419" y="4903"/>
                </a:lnTo>
                <a:lnTo>
                  <a:pt x="4400" y="4978"/>
                </a:lnTo>
                <a:lnTo>
                  <a:pt x="4363" y="5034"/>
                </a:lnTo>
                <a:lnTo>
                  <a:pt x="4325" y="5090"/>
                </a:lnTo>
                <a:lnTo>
                  <a:pt x="4269" y="5127"/>
                </a:lnTo>
                <a:lnTo>
                  <a:pt x="4195" y="5164"/>
                </a:lnTo>
                <a:lnTo>
                  <a:pt x="4139" y="5183"/>
                </a:lnTo>
                <a:lnTo>
                  <a:pt x="3263" y="5183"/>
                </a:lnTo>
                <a:lnTo>
                  <a:pt x="3207" y="5146"/>
                </a:lnTo>
                <a:lnTo>
                  <a:pt x="3132" y="5108"/>
                </a:lnTo>
                <a:lnTo>
                  <a:pt x="3076" y="5071"/>
                </a:lnTo>
                <a:lnTo>
                  <a:pt x="3039" y="5015"/>
                </a:lnTo>
                <a:lnTo>
                  <a:pt x="3002" y="4941"/>
                </a:lnTo>
                <a:lnTo>
                  <a:pt x="2983" y="4885"/>
                </a:lnTo>
                <a:lnTo>
                  <a:pt x="2965" y="481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sp>
        <p:nvSpPr>
          <p:cNvPr id="19" name="Google Shape;878;p40"/>
          <p:cNvSpPr/>
          <p:nvPr/>
        </p:nvSpPr>
        <p:spPr>
          <a:xfrm>
            <a:off x="5356531" y="4271086"/>
            <a:ext cx="226629" cy="240836"/>
          </a:xfrm>
          <a:custGeom>
            <a:avLst/>
            <a:gdLst/>
            <a:ahLst/>
            <a:cxnLst/>
            <a:rect l="l" t="t" r="r" b="b"/>
            <a:pathLst>
              <a:path w="7439" h="5929" extrusionOk="0">
                <a:moveTo>
                  <a:pt x="5947" y="728"/>
                </a:moveTo>
                <a:lnTo>
                  <a:pt x="5947" y="3710"/>
                </a:lnTo>
                <a:lnTo>
                  <a:pt x="1492" y="3710"/>
                </a:lnTo>
                <a:lnTo>
                  <a:pt x="1492" y="728"/>
                </a:lnTo>
                <a:close/>
                <a:moveTo>
                  <a:pt x="1194" y="1"/>
                </a:moveTo>
                <a:lnTo>
                  <a:pt x="1101" y="38"/>
                </a:lnTo>
                <a:lnTo>
                  <a:pt x="989" y="94"/>
                </a:lnTo>
                <a:lnTo>
                  <a:pt x="914" y="150"/>
                </a:lnTo>
                <a:lnTo>
                  <a:pt x="840" y="243"/>
                </a:lnTo>
                <a:lnTo>
                  <a:pt x="802" y="336"/>
                </a:lnTo>
                <a:lnTo>
                  <a:pt x="765" y="430"/>
                </a:lnTo>
                <a:lnTo>
                  <a:pt x="746" y="542"/>
                </a:lnTo>
                <a:lnTo>
                  <a:pt x="746" y="4437"/>
                </a:lnTo>
                <a:lnTo>
                  <a:pt x="6693" y="4437"/>
                </a:lnTo>
                <a:lnTo>
                  <a:pt x="6693" y="542"/>
                </a:lnTo>
                <a:lnTo>
                  <a:pt x="6674" y="430"/>
                </a:lnTo>
                <a:lnTo>
                  <a:pt x="6655" y="336"/>
                </a:lnTo>
                <a:lnTo>
                  <a:pt x="6599" y="243"/>
                </a:lnTo>
                <a:lnTo>
                  <a:pt x="6525" y="150"/>
                </a:lnTo>
                <a:lnTo>
                  <a:pt x="6450" y="94"/>
                </a:lnTo>
                <a:lnTo>
                  <a:pt x="6357" y="38"/>
                </a:lnTo>
                <a:lnTo>
                  <a:pt x="6245" y="1"/>
                </a:lnTo>
                <a:close/>
                <a:moveTo>
                  <a:pt x="187" y="4810"/>
                </a:moveTo>
                <a:lnTo>
                  <a:pt x="131" y="4829"/>
                </a:lnTo>
                <a:lnTo>
                  <a:pt x="57" y="4866"/>
                </a:lnTo>
                <a:lnTo>
                  <a:pt x="20" y="4941"/>
                </a:lnTo>
                <a:lnTo>
                  <a:pt x="1" y="4996"/>
                </a:lnTo>
                <a:lnTo>
                  <a:pt x="1" y="5183"/>
                </a:lnTo>
                <a:lnTo>
                  <a:pt x="20" y="5332"/>
                </a:lnTo>
                <a:lnTo>
                  <a:pt x="75" y="5481"/>
                </a:lnTo>
                <a:lnTo>
                  <a:pt x="131" y="5612"/>
                </a:lnTo>
                <a:lnTo>
                  <a:pt x="225" y="5705"/>
                </a:lnTo>
                <a:lnTo>
                  <a:pt x="336" y="5798"/>
                </a:lnTo>
                <a:lnTo>
                  <a:pt x="467" y="5873"/>
                </a:lnTo>
                <a:lnTo>
                  <a:pt x="597" y="5910"/>
                </a:lnTo>
                <a:lnTo>
                  <a:pt x="746" y="5928"/>
                </a:lnTo>
                <a:lnTo>
                  <a:pt x="6693" y="5928"/>
                </a:lnTo>
                <a:lnTo>
                  <a:pt x="6842" y="5910"/>
                </a:lnTo>
                <a:lnTo>
                  <a:pt x="6972" y="5873"/>
                </a:lnTo>
                <a:lnTo>
                  <a:pt x="7103" y="5798"/>
                </a:lnTo>
                <a:lnTo>
                  <a:pt x="7214" y="5705"/>
                </a:lnTo>
                <a:lnTo>
                  <a:pt x="7308" y="5612"/>
                </a:lnTo>
                <a:lnTo>
                  <a:pt x="7382" y="5481"/>
                </a:lnTo>
                <a:lnTo>
                  <a:pt x="7420" y="5332"/>
                </a:lnTo>
                <a:lnTo>
                  <a:pt x="7438" y="5183"/>
                </a:lnTo>
                <a:lnTo>
                  <a:pt x="7438" y="4996"/>
                </a:lnTo>
                <a:lnTo>
                  <a:pt x="7420" y="4941"/>
                </a:lnTo>
                <a:lnTo>
                  <a:pt x="7382" y="4866"/>
                </a:lnTo>
                <a:lnTo>
                  <a:pt x="7326" y="4829"/>
                </a:lnTo>
                <a:lnTo>
                  <a:pt x="7252" y="4810"/>
                </a:lnTo>
                <a:lnTo>
                  <a:pt x="4437" y="4810"/>
                </a:lnTo>
                <a:lnTo>
                  <a:pt x="4419" y="4903"/>
                </a:lnTo>
                <a:lnTo>
                  <a:pt x="4400" y="4978"/>
                </a:lnTo>
                <a:lnTo>
                  <a:pt x="4363" y="5034"/>
                </a:lnTo>
                <a:lnTo>
                  <a:pt x="4325" y="5090"/>
                </a:lnTo>
                <a:lnTo>
                  <a:pt x="4269" y="5127"/>
                </a:lnTo>
                <a:lnTo>
                  <a:pt x="4195" y="5164"/>
                </a:lnTo>
                <a:lnTo>
                  <a:pt x="4139" y="5183"/>
                </a:lnTo>
                <a:lnTo>
                  <a:pt x="3263" y="5183"/>
                </a:lnTo>
                <a:lnTo>
                  <a:pt x="3207" y="5146"/>
                </a:lnTo>
                <a:lnTo>
                  <a:pt x="3132" y="5108"/>
                </a:lnTo>
                <a:lnTo>
                  <a:pt x="3076" y="5071"/>
                </a:lnTo>
                <a:lnTo>
                  <a:pt x="3039" y="5015"/>
                </a:lnTo>
                <a:lnTo>
                  <a:pt x="3002" y="4941"/>
                </a:lnTo>
                <a:lnTo>
                  <a:pt x="2983" y="4885"/>
                </a:lnTo>
                <a:lnTo>
                  <a:pt x="2965" y="481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spTree>
    <p:extLst>
      <p:ext uri="{BB962C8B-B14F-4D97-AF65-F5344CB8AC3E}">
        <p14:creationId xmlns:p14="http://schemas.microsoft.com/office/powerpoint/2010/main" val="115206609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smtClean="0"/>
              <a:t>E-Fruit (</a:t>
            </a:r>
            <a:r>
              <a:rPr lang="fr-CA" dirty="0" err="1" smtClean="0"/>
              <a:t>Admin</a:t>
            </a:r>
            <a:r>
              <a:rPr lang="fr-CA" dirty="0" smtClean="0"/>
              <a:t>)</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124</a:t>
            </a:fld>
            <a:endParaRPr lang="fr-FR"/>
          </a:p>
        </p:txBody>
      </p:sp>
      <p:sp>
        <p:nvSpPr>
          <p:cNvPr id="11" name="Rectangle 10"/>
          <p:cNvSpPr/>
          <p:nvPr/>
        </p:nvSpPr>
        <p:spPr>
          <a:xfrm>
            <a:off x="1547664" y="1637945"/>
            <a:ext cx="4176464" cy="16561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create table Fruit(</a:t>
            </a:r>
            <a:r>
              <a:rPr lang="en-US" dirty="0" err="1"/>
              <a:t>id_f</a:t>
            </a:r>
            <a:r>
              <a:rPr lang="en-US" dirty="0"/>
              <a:t> </a:t>
            </a:r>
            <a:r>
              <a:rPr lang="en-US" dirty="0" err="1"/>
              <a:t>int</a:t>
            </a:r>
            <a:r>
              <a:rPr lang="en-US" dirty="0"/>
              <a:t> not null primary key </a:t>
            </a:r>
            <a:r>
              <a:rPr lang="en-US" dirty="0" err="1"/>
              <a:t>auto_increment,nom_f</a:t>
            </a:r>
            <a:r>
              <a:rPr lang="en-US" dirty="0"/>
              <a:t> </a:t>
            </a:r>
            <a:r>
              <a:rPr lang="en-US" dirty="0" err="1"/>
              <a:t>varchar</a:t>
            </a:r>
            <a:r>
              <a:rPr lang="en-US" dirty="0"/>
              <a:t>(30),</a:t>
            </a:r>
          </a:p>
          <a:p>
            <a:pPr algn="ctr"/>
            <a:r>
              <a:rPr lang="en-US" dirty="0"/>
              <a:t>                   </a:t>
            </a:r>
            <a:r>
              <a:rPr lang="en-US" dirty="0" err="1"/>
              <a:t>pu_f</a:t>
            </a:r>
            <a:r>
              <a:rPr lang="en-US" dirty="0"/>
              <a:t> float, photo text)</a:t>
            </a:r>
            <a:endParaRPr lang="fr-FR"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00" y="1350021"/>
            <a:ext cx="2335484" cy="1967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ectangle 12"/>
          <p:cNvSpPr/>
          <p:nvPr/>
        </p:nvSpPr>
        <p:spPr>
          <a:xfrm>
            <a:off x="1547664" y="4149080"/>
            <a:ext cx="4176464" cy="15121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err="1" smtClean="0"/>
              <a:t>Create</a:t>
            </a:r>
            <a:r>
              <a:rPr lang="fr-CA" dirty="0" smtClean="0"/>
              <a:t> table utilisateur (</a:t>
            </a:r>
            <a:r>
              <a:rPr lang="fr-CA" dirty="0" err="1" smtClean="0"/>
              <a:t>id_u</a:t>
            </a:r>
            <a:r>
              <a:rPr lang="fr-CA" dirty="0" smtClean="0"/>
              <a:t> </a:t>
            </a:r>
            <a:r>
              <a:rPr lang="fr-CA" dirty="0" err="1" smtClean="0"/>
              <a:t>int</a:t>
            </a:r>
            <a:r>
              <a:rPr lang="fr-CA" dirty="0" smtClean="0"/>
              <a:t> not </a:t>
            </a:r>
            <a:r>
              <a:rPr lang="fr-CA" dirty="0" err="1" smtClean="0"/>
              <a:t>null</a:t>
            </a:r>
            <a:r>
              <a:rPr lang="fr-CA" dirty="0" smtClean="0"/>
              <a:t> </a:t>
            </a:r>
            <a:r>
              <a:rPr lang="fr-CA" dirty="0" err="1" smtClean="0"/>
              <a:t>auto_increment</a:t>
            </a:r>
            <a:r>
              <a:rPr lang="fr-CA" dirty="0" smtClean="0"/>
              <a:t> </a:t>
            </a:r>
            <a:r>
              <a:rPr lang="fr-CA" dirty="0" err="1" smtClean="0"/>
              <a:t>primary</a:t>
            </a:r>
            <a:r>
              <a:rPr lang="fr-CA" dirty="0" smtClean="0"/>
              <a:t> </a:t>
            </a:r>
            <a:r>
              <a:rPr lang="fr-CA" dirty="0" err="1" smtClean="0"/>
              <a:t>key,login</a:t>
            </a:r>
            <a:r>
              <a:rPr lang="fr-CA" dirty="0" smtClean="0"/>
              <a:t> </a:t>
            </a:r>
            <a:r>
              <a:rPr lang="fr-CA" dirty="0" err="1" smtClean="0"/>
              <a:t>varchar</a:t>
            </a:r>
            <a:r>
              <a:rPr lang="fr-CA" dirty="0" smtClean="0"/>
              <a:t>(30),</a:t>
            </a:r>
            <a:r>
              <a:rPr lang="fr-CA" dirty="0" err="1" smtClean="0"/>
              <a:t>password</a:t>
            </a:r>
            <a:r>
              <a:rPr lang="fr-CA" dirty="0" smtClean="0"/>
              <a:t> </a:t>
            </a:r>
            <a:r>
              <a:rPr lang="fr-CA" dirty="0" err="1" smtClean="0"/>
              <a:t>varchar</a:t>
            </a:r>
            <a:r>
              <a:rPr lang="fr-CA" dirty="0" smtClean="0"/>
              <a:t>(30))</a:t>
            </a:r>
            <a:endParaRPr lang="fr-FR" dirty="0"/>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0192" y="4365104"/>
            <a:ext cx="2335484" cy="1187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897170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err="1" smtClean="0"/>
              <a:t>Admin</a:t>
            </a:r>
            <a:r>
              <a:rPr lang="fr-CA" dirty="0" smtClean="0"/>
              <a:t> use cases</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125</a:t>
            </a:fld>
            <a:endParaRPr lang="fr-F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2564903"/>
            <a:ext cx="7380312" cy="1994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0701507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TP 6</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126</a:t>
            </a:fld>
            <a:endParaRPr lang="fr-FR" dirty="0"/>
          </a:p>
        </p:txBody>
      </p:sp>
      <p:pic>
        <p:nvPicPr>
          <p:cNvPr id="3074" name="Picture 2"/>
          <p:cNvPicPr>
            <a:picLocks noChangeAspect="1" noChangeArrowheads="1"/>
          </p:cNvPicPr>
          <p:nvPr/>
        </p:nvPicPr>
        <p:blipFill>
          <a:blip r:embed="rId2"/>
          <a:srcRect/>
          <a:stretch>
            <a:fillRect/>
          </a:stretch>
        </p:blipFill>
        <p:spPr bwMode="auto">
          <a:xfrm>
            <a:off x="642910" y="2000240"/>
            <a:ext cx="7677171" cy="326017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Diagramme use case</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127</a:t>
            </a:fld>
            <a:endParaRPr lang="fr-FR" dirty="0"/>
          </a:p>
        </p:txBody>
      </p:sp>
      <p:pic>
        <p:nvPicPr>
          <p:cNvPr id="1026" name="Picture 2"/>
          <p:cNvPicPr>
            <a:picLocks noChangeAspect="1" noChangeArrowheads="1"/>
          </p:cNvPicPr>
          <p:nvPr/>
        </p:nvPicPr>
        <p:blipFill>
          <a:blip r:embed="rId2"/>
          <a:srcRect/>
          <a:stretch>
            <a:fillRect/>
          </a:stretch>
        </p:blipFill>
        <p:spPr bwMode="auto">
          <a:xfrm>
            <a:off x="962025" y="1314450"/>
            <a:ext cx="7219950" cy="4229100"/>
          </a:xfrm>
          <a:prstGeom prst="rect">
            <a:avLst/>
          </a:prstGeom>
          <a:noFill/>
          <a:ln w="9525">
            <a:noFill/>
            <a:miter lim="800000"/>
            <a:headEnd/>
            <a:tailEnd/>
          </a:ln>
          <a:effectLst/>
        </p:spPr>
      </p:pic>
      <p:sp>
        <p:nvSpPr>
          <p:cNvPr id="5" name="Ellipse 4"/>
          <p:cNvSpPr/>
          <p:nvPr/>
        </p:nvSpPr>
        <p:spPr>
          <a:xfrm>
            <a:off x="6500826" y="4214818"/>
            <a:ext cx="2286016" cy="78581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solidFill>
                  <a:schemeClr val="tx1">
                    <a:lumMod val="75000"/>
                    <a:lumOff val="25000"/>
                  </a:schemeClr>
                </a:solidFill>
              </a:rPr>
              <a:t>-commande en ligne</a:t>
            </a:r>
            <a:endParaRPr lang="fr-FR" dirty="0">
              <a:solidFill>
                <a:schemeClr val="tx1">
                  <a:lumMod val="75000"/>
                  <a:lumOff val="25000"/>
                </a:schemeClr>
              </a:solidFill>
            </a:endParaRPr>
          </a:p>
        </p:txBody>
      </p:sp>
      <p:cxnSp>
        <p:nvCxnSpPr>
          <p:cNvPr id="7" name="Connecteur droit 6"/>
          <p:cNvCxnSpPr/>
          <p:nvPr/>
        </p:nvCxnSpPr>
        <p:spPr>
          <a:xfrm>
            <a:off x="5929322" y="4286256"/>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Connecteur droit 8"/>
          <p:cNvCxnSpPr/>
          <p:nvPr/>
        </p:nvCxnSpPr>
        <p:spPr>
          <a:xfrm>
            <a:off x="6286512" y="4286256"/>
            <a:ext cx="214314"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Connecteur droit avec flèche 11"/>
          <p:cNvCxnSpPr/>
          <p:nvPr/>
        </p:nvCxnSpPr>
        <p:spPr>
          <a:xfrm>
            <a:off x="6643702" y="4286256"/>
            <a:ext cx="21431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5929322" y="3857628"/>
            <a:ext cx="857256" cy="35719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err="1" smtClean="0">
                <a:solidFill>
                  <a:schemeClr val="tx1"/>
                </a:solidFill>
              </a:rPr>
              <a:t>extends</a:t>
            </a:r>
            <a:endParaRPr lang="fr-FR" dirty="0">
              <a:solidFill>
                <a:schemeClr val="tx1"/>
              </a:solidFill>
            </a:endParaRPr>
          </a:p>
        </p:txBody>
      </p:sp>
      <p:cxnSp>
        <p:nvCxnSpPr>
          <p:cNvPr id="17" name="Connecteur droit 16"/>
          <p:cNvCxnSpPr/>
          <p:nvPr/>
        </p:nvCxnSpPr>
        <p:spPr>
          <a:xfrm rot="10800000">
            <a:off x="6858016" y="5000636"/>
            <a:ext cx="14287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Connecteur droit 19"/>
          <p:cNvCxnSpPr/>
          <p:nvPr/>
        </p:nvCxnSpPr>
        <p:spPr>
          <a:xfrm rot="10800000">
            <a:off x="6572265" y="5000636"/>
            <a:ext cx="14287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Connecteur droit 22"/>
          <p:cNvCxnSpPr/>
          <p:nvPr/>
        </p:nvCxnSpPr>
        <p:spPr>
          <a:xfrm rot="10800000">
            <a:off x="6286513" y="5000636"/>
            <a:ext cx="14287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Connecteur droit avec flèche 24"/>
          <p:cNvCxnSpPr/>
          <p:nvPr/>
        </p:nvCxnSpPr>
        <p:spPr>
          <a:xfrm rot="10800000">
            <a:off x="6000760" y="5000636"/>
            <a:ext cx="21431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 name="Ellipse 25"/>
          <p:cNvSpPr/>
          <p:nvPr/>
        </p:nvSpPr>
        <p:spPr>
          <a:xfrm>
            <a:off x="3500430" y="3143248"/>
            <a:ext cx="2357454" cy="78581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solidFill>
                  <a:schemeClr val="tx1"/>
                </a:solidFill>
              </a:rPr>
              <a:t>Gestion des </a:t>
            </a:r>
            <a:r>
              <a:rPr lang="fr-FR" dirty="0" err="1" smtClean="0">
                <a:solidFill>
                  <a:schemeClr val="tx1"/>
                </a:solidFill>
              </a:rPr>
              <a:t>Categories</a:t>
            </a:r>
            <a:endParaRPr lang="fr-FR" dirty="0">
              <a:solidFill>
                <a:schemeClr val="tx1"/>
              </a:solidFill>
            </a:endParaRPr>
          </a:p>
        </p:txBody>
      </p:sp>
      <p:sp>
        <p:nvSpPr>
          <p:cNvPr id="27" name="Rectangle 26"/>
          <p:cNvSpPr/>
          <p:nvPr/>
        </p:nvSpPr>
        <p:spPr>
          <a:xfrm>
            <a:off x="6643702" y="5072074"/>
            <a:ext cx="857256" cy="35719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err="1" smtClean="0">
                <a:solidFill>
                  <a:schemeClr val="tx1"/>
                </a:solidFill>
              </a:rPr>
              <a:t>include</a:t>
            </a:r>
            <a:endParaRPr lang="fr-FR" dirty="0">
              <a:solidFill>
                <a:schemeClr val="tx1"/>
              </a:solidFill>
            </a:endParaRPr>
          </a:p>
        </p:txBody>
      </p:sp>
      <p:sp>
        <p:nvSpPr>
          <p:cNvPr id="16" name="Ellipse 15"/>
          <p:cNvSpPr/>
          <p:nvPr/>
        </p:nvSpPr>
        <p:spPr>
          <a:xfrm>
            <a:off x="3786182" y="4929198"/>
            <a:ext cx="2357454" cy="78581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solidFill>
                  <a:schemeClr val="tx1"/>
                </a:solidFill>
              </a:rPr>
              <a:t>Authentification</a:t>
            </a:r>
            <a:endParaRPr lang="fr-FR" dirty="0">
              <a:solidFill>
                <a:schemeClr val="tx1"/>
              </a:solidFill>
            </a:endParaRPr>
          </a:p>
        </p:txBody>
      </p:sp>
      <p:cxnSp>
        <p:nvCxnSpPr>
          <p:cNvPr id="19" name="Connecteur droit 18"/>
          <p:cNvCxnSpPr/>
          <p:nvPr/>
        </p:nvCxnSpPr>
        <p:spPr>
          <a:xfrm>
            <a:off x="2143108" y="2857496"/>
            <a:ext cx="1214446" cy="571504"/>
          </a:xfrm>
          <a:prstGeom prst="line">
            <a:avLst/>
          </a:prstGeom>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5715008" y="2857496"/>
            <a:ext cx="857256" cy="35719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err="1" smtClean="0">
                <a:solidFill>
                  <a:schemeClr val="tx1"/>
                </a:solidFill>
              </a:rPr>
              <a:t>include</a:t>
            </a:r>
            <a:endParaRPr lang="fr-FR" dirty="0">
              <a:solidFill>
                <a:schemeClr val="tx1"/>
              </a:solidFill>
            </a:endParaRPr>
          </a:p>
        </p:txBody>
      </p:sp>
      <p:cxnSp>
        <p:nvCxnSpPr>
          <p:cNvPr id="22" name="Connecteur droit 21"/>
          <p:cNvCxnSpPr/>
          <p:nvPr/>
        </p:nvCxnSpPr>
        <p:spPr>
          <a:xfrm flipV="1">
            <a:off x="5786446" y="3286124"/>
            <a:ext cx="642942"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Connecteur droit 27"/>
          <p:cNvCxnSpPr/>
          <p:nvPr/>
        </p:nvCxnSpPr>
        <p:spPr>
          <a:xfrm flipV="1">
            <a:off x="6572264" y="3214686"/>
            <a:ext cx="285752"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Connecteur droit avec flèche 31"/>
          <p:cNvCxnSpPr/>
          <p:nvPr/>
        </p:nvCxnSpPr>
        <p:spPr>
          <a:xfrm flipV="1">
            <a:off x="6929454" y="3071810"/>
            <a:ext cx="285752" cy="714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85786" y="3143248"/>
            <a:ext cx="7772400" cy="1143000"/>
          </a:xfrm>
        </p:spPr>
        <p:txBody>
          <a:bodyPr/>
          <a:lstStyle/>
          <a:p>
            <a:r>
              <a:rPr lang="fr-FR" sz="6600" dirty="0" smtClean="0"/>
              <a:t>Visiteur</a:t>
            </a:r>
            <a:endParaRPr lang="fr-FR" sz="6600"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128</a:t>
            </a:fld>
            <a:endParaRPr lang="fr-FR"/>
          </a:p>
        </p:txBody>
      </p:sp>
      <p:pic>
        <p:nvPicPr>
          <p:cNvPr id="5" name="Picture 2"/>
          <p:cNvPicPr>
            <a:picLocks noChangeAspect="1" noChangeArrowheads="1"/>
          </p:cNvPicPr>
          <p:nvPr/>
        </p:nvPicPr>
        <p:blipFill>
          <a:blip r:embed="rId2"/>
          <a:srcRect/>
          <a:stretch>
            <a:fillRect/>
          </a:stretch>
        </p:blipFill>
        <p:spPr bwMode="auto">
          <a:xfrm>
            <a:off x="785786" y="785794"/>
            <a:ext cx="2143140" cy="240030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1"/>
          <p:cNvSpPr>
            <a:spLocks noGrp="1"/>
          </p:cNvSpPr>
          <p:nvPr>
            <p:ph type="title"/>
          </p:nvPr>
        </p:nvSpPr>
        <p:spPr>
          <a:xfrm>
            <a:off x="571472" y="214290"/>
            <a:ext cx="7772400" cy="1143000"/>
          </a:xfrm>
        </p:spPr>
        <p:txBody>
          <a:bodyPr/>
          <a:lstStyle/>
          <a:p>
            <a:r>
              <a:rPr lang="fr-FR" dirty="0" smtClean="0"/>
              <a:t>Acc.php</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129</a:t>
            </a:fld>
            <a:endParaRPr lang="fr-FR"/>
          </a:p>
        </p:txBody>
      </p:sp>
      <p:pic>
        <p:nvPicPr>
          <p:cNvPr id="1026" name="Picture 2"/>
          <p:cNvPicPr>
            <a:picLocks noChangeAspect="1" noChangeArrowheads="1"/>
          </p:cNvPicPr>
          <p:nvPr/>
        </p:nvPicPr>
        <p:blipFill>
          <a:blip r:embed="rId2"/>
          <a:srcRect/>
          <a:stretch>
            <a:fillRect/>
          </a:stretch>
        </p:blipFill>
        <p:spPr bwMode="auto">
          <a:xfrm>
            <a:off x="714348" y="1571612"/>
            <a:ext cx="7729562" cy="4600321"/>
          </a:xfrm>
          <a:prstGeom prst="rect">
            <a:avLst/>
          </a:prstGeom>
          <a:noFill/>
          <a:ln w="9525">
            <a:noFill/>
            <a:miter lim="800000"/>
            <a:headEnd/>
            <a:tailEnd/>
          </a:ln>
          <a:effectLst/>
        </p:spPr>
      </p:pic>
      <p:sp>
        <p:nvSpPr>
          <p:cNvPr id="7" name="Rectangle 6"/>
          <p:cNvSpPr/>
          <p:nvPr/>
        </p:nvSpPr>
        <p:spPr>
          <a:xfrm>
            <a:off x="3214678" y="928670"/>
            <a:ext cx="2547492" cy="369332"/>
          </a:xfrm>
          <a:prstGeom prst="rect">
            <a:avLst/>
          </a:prstGeom>
        </p:spPr>
        <p:txBody>
          <a:bodyPr wrap="none">
            <a:spAutoFit/>
          </a:bodyPr>
          <a:lstStyle/>
          <a:p>
            <a:r>
              <a:rPr lang="fr-FR" dirty="0" smtClean="0"/>
              <a:t>&lt;</a:t>
            </a:r>
            <a:r>
              <a:rPr lang="fr-FR" dirty="0" err="1" smtClean="0"/>
              <a:t>meta</a:t>
            </a:r>
            <a:r>
              <a:rPr lang="fr-FR" dirty="0" smtClean="0"/>
              <a:t> </a:t>
            </a:r>
            <a:r>
              <a:rPr lang="fr-FR" dirty="0" err="1" smtClean="0"/>
              <a:t>charset</a:t>
            </a:r>
            <a:r>
              <a:rPr lang="fr-FR" dirty="0" smtClean="0"/>
              <a:t>="</a:t>
            </a:r>
            <a:r>
              <a:rPr lang="fr-FR" dirty="0" err="1" smtClean="0"/>
              <a:t>utf</a:t>
            </a:r>
            <a:r>
              <a:rPr lang="fr-FR" dirty="0" smtClean="0"/>
              <a:t>-8"&gt;</a:t>
            </a:r>
            <a:endParaRPr lang="fr-FR" dirty="0"/>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Menu.php</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130</a:t>
            </a:fld>
            <a:endParaRPr lang="fr-FR"/>
          </a:p>
        </p:txBody>
      </p:sp>
      <p:pic>
        <p:nvPicPr>
          <p:cNvPr id="2050" name="Picture 2"/>
          <p:cNvPicPr>
            <a:picLocks noChangeAspect="1" noChangeArrowheads="1"/>
          </p:cNvPicPr>
          <p:nvPr/>
        </p:nvPicPr>
        <p:blipFill>
          <a:blip r:embed="rId2"/>
          <a:srcRect/>
          <a:stretch>
            <a:fillRect/>
          </a:stretch>
        </p:blipFill>
        <p:spPr bwMode="auto">
          <a:xfrm>
            <a:off x="1142976" y="1500174"/>
            <a:ext cx="7043756" cy="506003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smtClean="0"/>
              <a:t>Integrer</a:t>
            </a:r>
            <a:r>
              <a:rPr lang="fr-FR" dirty="0" smtClean="0"/>
              <a:t> le plugin </a:t>
            </a:r>
            <a:r>
              <a:rPr lang="fr-FR" dirty="0" err="1" smtClean="0"/>
              <a:t>jquery</a:t>
            </a:r>
            <a:r>
              <a:rPr lang="fr-FR" dirty="0" smtClean="0"/>
              <a:t>(</a:t>
            </a:r>
            <a:r>
              <a:rPr lang="fr-FR" dirty="0" err="1" smtClean="0"/>
              <a:t>Zoombox</a:t>
            </a:r>
            <a:r>
              <a:rPr lang="fr-FR" dirty="0" smtClean="0"/>
              <a:t>)</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131</a:t>
            </a:fld>
            <a:endParaRPr lang="fr-FR"/>
          </a:p>
        </p:txBody>
      </p:sp>
      <p:pic>
        <p:nvPicPr>
          <p:cNvPr id="3074" name="Picture 2"/>
          <p:cNvPicPr>
            <a:picLocks noChangeAspect="1" noChangeArrowheads="1"/>
          </p:cNvPicPr>
          <p:nvPr/>
        </p:nvPicPr>
        <p:blipFill>
          <a:blip r:embed="rId2"/>
          <a:srcRect/>
          <a:stretch>
            <a:fillRect/>
          </a:stretch>
        </p:blipFill>
        <p:spPr bwMode="auto">
          <a:xfrm>
            <a:off x="1000100" y="1571612"/>
            <a:ext cx="7358082" cy="465191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Login.php</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132</a:t>
            </a:fld>
            <a:endParaRPr lang="fr-FR"/>
          </a:p>
        </p:txBody>
      </p:sp>
      <p:pic>
        <p:nvPicPr>
          <p:cNvPr id="3074" name="Picture 2"/>
          <p:cNvPicPr>
            <a:picLocks noChangeAspect="1" noChangeArrowheads="1"/>
          </p:cNvPicPr>
          <p:nvPr/>
        </p:nvPicPr>
        <p:blipFill>
          <a:blip r:embed="rId2"/>
          <a:srcRect/>
          <a:stretch>
            <a:fillRect/>
          </a:stretch>
        </p:blipFill>
        <p:spPr bwMode="auto">
          <a:xfrm>
            <a:off x="1071538" y="1643050"/>
            <a:ext cx="7091382" cy="491371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Inscription.php</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133</a:t>
            </a:fld>
            <a:endParaRPr lang="fr-FR"/>
          </a:p>
        </p:txBody>
      </p:sp>
      <p:pic>
        <p:nvPicPr>
          <p:cNvPr id="1027" name="Picture 3"/>
          <p:cNvPicPr>
            <a:picLocks noChangeAspect="1" noChangeArrowheads="1"/>
          </p:cNvPicPr>
          <p:nvPr/>
        </p:nvPicPr>
        <p:blipFill>
          <a:blip r:embed="rId2"/>
          <a:srcRect/>
          <a:stretch>
            <a:fillRect/>
          </a:stretch>
        </p:blipFill>
        <p:spPr bwMode="auto">
          <a:xfrm>
            <a:off x="886426" y="1428736"/>
            <a:ext cx="7686102" cy="505352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28662" y="214290"/>
            <a:ext cx="7772400" cy="1143000"/>
          </a:xfrm>
        </p:spPr>
        <p:txBody>
          <a:bodyPr/>
          <a:lstStyle/>
          <a:p>
            <a:r>
              <a:rPr lang="fr-FR" dirty="0" smtClean="0"/>
              <a:t>Gestion du Panier</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134</a:t>
            </a:fld>
            <a:endParaRPr lang="fr-FR"/>
          </a:p>
        </p:txBody>
      </p:sp>
      <p:pic>
        <p:nvPicPr>
          <p:cNvPr id="1027" name="Picture 3"/>
          <p:cNvPicPr>
            <a:picLocks noChangeAspect="1" noChangeArrowheads="1"/>
          </p:cNvPicPr>
          <p:nvPr/>
        </p:nvPicPr>
        <p:blipFill>
          <a:blip r:embed="rId2"/>
          <a:srcRect/>
          <a:stretch>
            <a:fillRect/>
          </a:stretch>
        </p:blipFill>
        <p:spPr bwMode="auto">
          <a:xfrm>
            <a:off x="1071538" y="1428736"/>
            <a:ext cx="7534297" cy="51808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135</a:t>
            </a:fld>
            <a:endParaRPr lang="fr-FR"/>
          </a:p>
        </p:txBody>
      </p:sp>
      <p:pic>
        <p:nvPicPr>
          <p:cNvPr id="3" name="Picture 2"/>
          <p:cNvPicPr>
            <a:picLocks noChangeAspect="1" noChangeArrowheads="1"/>
          </p:cNvPicPr>
          <p:nvPr/>
        </p:nvPicPr>
        <p:blipFill>
          <a:blip r:embed="rId2"/>
          <a:srcRect/>
          <a:stretch>
            <a:fillRect/>
          </a:stretch>
        </p:blipFill>
        <p:spPr bwMode="auto">
          <a:xfrm>
            <a:off x="357158" y="1785926"/>
            <a:ext cx="8609911" cy="416719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136</a:t>
            </a:fld>
            <a:endParaRPr lang="fr-FR"/>
          </a:p>
        </p:txBody>
      </p:sp>
      <p:pic>
        <p:nvPicPr>
          <p:cNvPr id="3076" name="Picture 4"/>
          <p:cNvPicPr>
            <a:picLocks noChangeAspect="1" noChangeArrowheads="1"/>
          </p:cNvPicPr>
          <p:nvPr/>
        </p:nvPicPr>
        <p:blipFill>
          <a:blip r:embed="rId2"/>
          <a:srcRect/>
          <a:stretch>
            <a:fillRect/>
          </a:stretch>
        </p:blipFill>
        <p:spPr bwMode="auto">
          <a:xfrm>
            <a:off x="1285852" y="1643050"/>
            <a:ext cx="7086620" cy="493988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Transaction valider</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137</a:t>
            </a:fld>
            <a:endParaRPr lang="fr-FR"/>
          </a:p>
        </p:txBody>
      </p:sp>
      <p:pic>
        <p:nvPicPr>
          <p:cNvPr id="4098" name="Picture 2"/>
          <p:cNvPicPr>
            <a:picLocks noGrp="1" noChangeAspect="1" noChangeArrowheads="1"/>
          </p:cNvPicPr>
          <p:nvPr>
            <p:ph sz="quarter" idx="1"/>
          </p:nvPr>
        </p:nvPicPr>
        <p:blipFill>
          <a:blip r:embed="rId2"/>
          <a:stretch>
            <a:fillRect/>
          </a:stretch>
        </p:blipFill>
        <p:spPr bwMode="auto">
          <a:xfrm>
            <a:off x="1714500" y="2870200"/>
            <a:ext cx="6172200" cy="1727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HTML2PDF</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138</a:t>
            </a:fld>
            <a:endParaRPr lang="fr-FR"/>
          </a:p>
        </p:txBody>
      </p:sp>
      <p:sp>
        <p:nvSpPr>
          <p:cNvPr id="3" name="Espace réservé du contenu 2"/>
          <p:cNvSpPr>
            <a:spLocks noGrp="1"/>
          </p:cNvSpPr>
          <p:nvPr>
            <p:ph sz="quarter" idx="1"/>
          </p:nvPr>
        </p:nvSpPr>
        <p:spPr/>
        <p:txBody>
          <a:bodyPr/>
          <a:lstStyle/>
          <a:p>
            <a:endParaRPr lang="fr-FR" dirty="0" smtClean="0"/>
          </a:p>
          <a:p>
            <a:endParaRPr lang="fr-FR" dirty="0" smtClean="0"/>
          </a:p>
          <a:p>
            <a:r>
              <a:rPr lang="fr-FR" sz="4000" dirty="0" smtClean="0"/>
              <a:t>Une librairie qui permet de générer des fichier PDF.</a:t>
            </a:r>
            <a:endParaRPr lang="fr-FR" sz="4000" dirty="0"/>
          </a:p>
        </p:txBody>
      </p:sp>
      <p:sp>
        <p:nvSpPr>
          <p:cNvPr id="5" name="Rectangle 4"/>
          <p:cNvSpPr/>
          <p:nvPr/>
        </p:nvSpPr>
        <p:spPr>
          <a:xfrm>
            <a:off x="2286000" y="3105835"/>
            <a:ext cx="4572000" cy="646331"/>
          </a:xfrm>
          <a:prstGeom prst="rect">
            <a:avLst/>
          </a:prstGeom>
        </p:spPr>
        <p:txBody>
          <a:bodyPr>
            <a:spAutoFit/>
          </a:bodyPr>
          <a:lstStyle/>
          <a:p>
            <a:r>
              <a:rPr lang="fr-FR" dirty="0" smtClean="0"/>
              <a:t/>
            </a:r>
            <a:br>
              <a:rPr lang="fr-FR" dirty="0" smtClean="0"/>
            </a:br>
            <a:endParaRPr lang="fr-FR" dirty="0"/>
          </a:p>
        </p:txBody>
      </p:sp>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139</a:t>
            </a:fld>
            <a:endParaRPr lang="fr-FR"/>
          </a:p>
        </p:txBody>
      </p:sp>
      <p:sp>
        <p:nvSpPr>
          <p:cNvPr id="3" name="Espace réservé du contenu 2"/>
          <p:cNvSpPr>
            <a:spLocks noGrp="1"/>
          </p:cNvSpPr>
          <p:nvPr>
            <p:ph sz="quarter" idx="1"/>
          </p:nvPr>
        </p:nvSpPr>
        <p:spPr>
          <a:xfrm>
            <a:off x="914400" y="1447800"/>
            <a:ext cx="7872442" cy="4910158"/>
          </a:xfrm>
        </p:spPr>
        <p:txBody>
          <a:bodyPr/>
          <a:lstStyle/>
          <a:p>
            <a:r>
              <a:rPr lang="fr-FR" dirty="0" smtClean="0"/>
              <a:t>1- importer le dossier HTML2PDF</a:t>
            </a:r>
          </a:p>
          <a:p>
            <a:pPr>
              <a:buNone/>
            </a:pPr>
            <a:r>
              <a:rPr lang="fr-FR" dirty="0" smtClean="0"/>
              <a:t> dans le dossier source de votre projet.</a:t>
            </a:r>
          </a:p>
          <a:p>
            <a:pPr>
              <a:buNone/>
            </a:pPr>
            <a:endParaRPr lang="fr-FR" dirty="0" smtClean="0"/>
          </a:p>
          <a:p>
            <a:pPr>
              <a:buNone/>
            </a:pPr>
            <a:r>
              <a:rPr lang="fr-FR" dirty="0" err="1" smtClean="0"/>
              <a:t>include</a:t>
            </a:r>
            <a:r>
              <a:rPr lang="fr-FR" dirty="0" smtClean="0"/>
              <a:t>('html2pdf/</a:t>
            </a:r>
            <a:r>
              <a:rPr lang="fr-FR" dirty="0" err="1" smtClean="0"/>
              <a:t>html2pdf.class</a:t>
            </a:r>
            <a:r>
              <a:rPr lang="fr-FR" dirty="0" smtClean="0"/>
              <a:t>.</a:t>
            </a:r>
            <a:r>
              <a:rPr lang="fr-FR" dirty="0" err="1" smtClean="0"/>
              <a:t>php</a:t>
            </a:r>
            <a:r>
              <a:rPr lang="fr-FR" dirty="0" smtClean="0"/>
              <a:t>');</a:t>
            </a:r>
          </a:p>
          <a:p>
            <a:pPr>
              <a:buNone/>
            </a:pPr>
            <a:r>
              <a:rPr lang="fr-FR" dirty="0" smtClean="0"/>
              <a:t>2- </a:t>
            </a:r>
            <a:r>
              <a:rPr lang="fr-FR" dirty="0" err="1" smtClean="0"/>
              <a:t>ob_start</a:t>
            </a:r>
            <a:r>
              <a:rPr lang="fr-FR" dirty="0" smtClean="0"/>
              <a:t>();   // </a:t>
            </a:r>
            <a:r>
              <a:rPr lang="fr-FR" dirty="0" err="1" smtClean="0"/>
              <a:t>debut</a:t>
            </a:r>
            <a:r>
              <a:rPr lang="fr-FR" dirty="0" smtClean="0"/>
              <a:t> du flux HTML à convertir</a:t>
            </a:r>
          </a:p>
          <a:p>
            <a:pPr>
              <a:buNone/>
            </a:pPr>
            <a:r>
              <a:rPr lang="fr-FR" dirty="0" smtClean="0"/>
              <a:t>…………………………………..</a:t>
            </a:r>
          </a:p>
          <a:p>
            <a:pPr>
              <a:buNone/>
            </a:pPr>
            <a:r>
              <a:rPr lang="fr-FR" dirty="0" smtClean="0"/>
              <a:t>3 $content=</a:t>
            </a:r>
            <a:r>
              <a:rPr lang="fr-FR" dirty="0" err="1" smtClean="0"/>
              <a:t>ob_get_clean</a:t>
            </a:r>
            <a:r>
              <a:rPr lang="fr-FR" dirty="0" smtClean="0"/>
              <a:t>();// fin du flux HTML</a:t>
            </a:r>
          </a:p>
          <a:p>
            <a:pPr>
              <a:buNone/>
            </a:pPr>
            <a:r>
              <a:rPr lang="fr-FR" dirty="0" smtClean="0"/>
              <a:t>$html2pdf = new HTML2PDF('P','A4','</a:t>
            </a:r>
            <a:r>
              <a:rPr lang="fr-FR" dirty="0" err="1" smtClean="0"/>
              <a:t>fr</a:t>
            </a:r>
            <a:r>
              <a:rPr lang="fr-FR" dirty="0" smtClean="0"/>
              <a:t>');</a:t>
            </a:r>
          </a:p>
          <a:p>
            <a:pPr>
              <a:buNone/>
            </a:pPr>
            <a:r>
              <a:rPr lang="fr-FR" dirty="0" smtClean="0"/>
              <a:t> $html2pdf-&gt;</a:t>
            </a:r>
            <a:r>
              <a:rPr lang="fr-FR" dirty="0" err="1" smtClean="0"/>
              <a:t>WriteHTML</a:t>
            </a:r>
            <a:r>
              <a:rPr lang="fr-FR" dirty="0" smtClean="0"/>
              <a:t>($content);</a:t>
            </a:r>
          </a:p>
          <a:p>
            <a:pPr>
              <a:buNone/>
            </a:pPr>
            <a:r>
              <a:rPr lang="fr-FR" dirty="0" smtClean="0"/>
              <a:t> $html2pdf-&gt;Output('exemple.pdf');</a:t>
            </a:r>
          </a:p>
          <a:p>
            <a:endParaRPr lang="fr-FR" dirty="0"/>
          </a:p>
        </p:txBody>
      </p:sp>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Facture</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140</a:t>
            </a:fld>
            <a:endParaRPr lang="fr-FR"/>
          </a:p>
        </p:txBody>
      </p:sp>
      <p:pic>
        <p:nvPicPr>
          <p:cNvPr id="5127" name="Picture 7"/>
          <p:cNvPicPr>
            <a:picLocks noChangeAspect="1" noChangeArrowheads="1"/>
          </p:cNvPicPr>
          <p:nvPr/>
        </p:nvPicPr>
        <p:blipFill>
          <a:blip r:embed="rId2"/>
          <a:srcRect/>
          <a:stretch>
            <a:fillRect/>
          </a:stretch>
        </p:blipFill>
        <p:spPr bwMode="auto">
          <a:xfrm>
            <a:off x="1357290" y="1285860"/>
            <a:ext cx="6889104" cy="535306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14348" y="3214686"/>
            <a:ext cx="7772400" cy="1143000"/>
          </a:xfrm>
        </p:spPr>
        <p:txBody>
          <a:bodyPr/>
          <a:lstStyle/>
          <a:p>
            <a:r>
              <a:rPr lang="fr-FR" sz="6600" dirty="0" smtClean="0"/>
              <a:t>Admin</a:t>
            </a:r>
            <a:endParaRPr lang="fr-FR" sz="6600"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141</a:t>
            </a:fld>
            <a:endParaRPr lang="fr-FR"/>
          </a:p>
        </p:txBody>
      </p:sp>
      <p:pic>
        <p:nvPicPr>
          <p:cNvPr id="8194" name="Picture 2"/>
          <p:cNvPicPr>
            <a:picLocks noChangeAspect="1" noChangeArrowheads="1"/>
          </p:cNvPicPr>
          <p:nvPr/>
        </p:nvPicPr>
        <p:blipFill>
          <a:blip r:embed="rId2"/>
          <a:srcRect/>
          <a:stretch>
            <a:fillRect/>
          </a:stretch>
        </p:blipFill>
        <p:spPr bwMode="auto">
          <a:xfrm>
            <a:off x="357158" y="857232"/>
            <a:ext cx="2143140" cy="240030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index_Categories.php</a:t>
            </a:r>
            <a:br>
              <a:rPr lang="fr-FR" dirty="0" smtClean="0"/>
            </a:br>
            <a:r>
              <a:rPr lang="fr-FR" dirty="0" smtClean="0"/>
              <a:t>(Modifier/Supprimer)</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142</a:t>
            </a:fld>
            <a:endParaRPr lang="fr-FR"/>
          </a:p>
        </p:txBody>
      </p:sp>
      <p:pic>
        <p:nvPicPr>
          <p:cNvPr id="2050" name="Picture 2"/>
          <p:cNvPicPr>
            <a:picLocks noChangeAspect="1" noChangeArrowheads="1"/>
          </p:cNvPicPr>
          <p:nvPr/>
        </p:nvPicPr>
        <p:blipFill>
          <a:blip r:embed="rId2"/>
          <a:srcRect/>
          <a:stretch>
            <a:fillRect/>
          </a:stretch>
        </p:blipFill>
        <p:spPr bwMode="auto">
          <a:xfrm>
            <a:off x="571472" y="2143116"/>
            <a:ext cx="8143900" cy="374047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Insertcateg.php</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143</a:t>
            </a:fld>
            <a:endParaRPr lang="fr-FR"/>
          </a:p>
        </p:txBody>
      </p:sp>
      <p:pic>
        <p:nvPicPr>
          <p:cNvPr id="1026" name="Picture 2"/>
          <p:cNvPicPr>
            <a:picLocks noChangeAspect="1" noChangeArrowheads="1"/>
          </p:cNvPicPr>
          <p:nvPr/>
        </p:nvPicPr>
        <p:blipFill>
          <a:blip r:embed="rId2"/>
          <a:srcRect/>
          <a:stretch>
            <a:fillRect/>
          </a:stretch>
        </p:blipFill>
        <p:spPr bwMode="auto">
          <a:xfrm>
            <a:off x="642910" y="1928802"/>
            <a:ext cx="8084186" cy="437198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Page accueil_admin.php</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144</a:t>
            </a:fld>
            <a:endParaRPr lang="fr-FR"/>
          </a:p>
        </p:txBody>
      </p:sp>
      <p:pic>
        <p:nvPicPr>
          <p:cNvPr id="1026" name="Picture 2"/>
          <p:cNvPicPr>
            <a:picLocks noChangeAspect="1" noChangeArrowheads="1"/>
          </p:cNvPicPr>
          <p:nvPr/>
        </p:nvPicPr>
        <p:blipFill>
          <a:blip r:embed="rId2"/>
          <a:srcRect/>
          <a:stretch>
            <a:fillRect/>
          </a:stretch>
        </p:blipFill>
        <p:spPr bwMode="auto">
          <a:xfrm>
            <a:off x="357158" y="1785926"/>
            <a:ext cx="8515995" cy="439579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Page insert.php</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145</a:t>
            </a:fld>
            <a:endParaRPr lang="fr-FR"/>
          </a:p>
        </p:txBody>
      </p:sp>
      <p:pic>
        <p:nvPicPr>
          <p:cNvPr id="2050" name="Picture 2"/>
          <p:cNvPicPr>
            <a:picLocks noChangeAspect="1" noChangeArrowheads="1"/>
          </p:cNvPicPr>
          <p:nvPr/>
        </p:nvPicPr>
        <p:blipFill>
          <a:blip r:embed="rId2"/>
          <a:srcRect/>
          <a:stretch>
            <a:fillRect/>
          </a:stretch>
        </p:blipFill>
        <p:spPr bwMode="auto">
          <a:xfrm>
            <a:off x="357158" y="1643050"/>
            <a:ext cx="8457349" cy="45100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Page view.php</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146</a:t>
            </a:fld>
            <a:endParaRPr lang="fr-FR"/>
          </a:p>
        </p:txBody>
      </p:sp>
      <p:pic>
        <p:nvPicPr>
          <p:cNvPr id="3074" name="Picture 2"/>
          <p:cNvPicPr>
            <a:picLocks noChangeAspect="1" noChangeArrowheads="1"/>
          </p:cNvPicPr>
          <p:nvPr/>
        </p:nvPicPr>
        <p:blipFill>
          <a:blip r:embed="rId2"/>
          <a:srcRect/>
          <a:stretch>
            <a:fillRect/>
          </a:stretch>
        </p:blipFill>
        <p:spPr bwMode="auto">
          <a:xfrm>
            <a:off x="571472" y="1857364"/>
            <a:ext cx="8286776" cy="431181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Page delete.php</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147</a:t>
            </a:fld>
            <a:endParaRPr lang="fr-FR"/>
          </a:p>
        </p:txBody>
      </p:sp>
      <p:pic>
        <p:nvPicPr>
          <p:cNvPr id="4098" name="Picture 2"/>
          <p:cNvPicPr>
            <a:picLocks noChangeAspect="1" noChangeArrowheads="1"/>
          </p:cNvPicPr>
          <p:nvPr/>
        </p:nvPicPr>
        <p:blipFill>
          <a:blip r:embed="rId2"/>
          <a:srcRect/>
          <a:stretch>
            <a:fillRect/>
          </a:stretch>
        </p:blipFill>
        <p:spPr bwMode="auto">
          <a:xfrm>
            <a:off x="571472" y="2214554"/>
            <a:ext cx="7867171" cy="323374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Page update.php</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148</a:t>
            </a:fld>
            <a:endParaRPr lang="fr-FR"/>
          </a:p>
        </p:txBody>
      </p:sp>
      <p:pic>
        <p:nvPicPr>
          <p:cNvPr id="5122" name="Picture 2"/>
          <p:cNvPicPr>
            <a:picLocks noChangeAspect="1" noChangeArrowheads="1"/>
          </p:cNvPicPr>
          <p:nvPr/>
        </p:nvPicPr>
        <p:blipFill>
          <a:blip r:embed="rId2"/>
          <a:srcRect/>
          <a:stretch>
            <a:fillRect/>
          </a:stretch>
        </p:blipFill>
        <p:spPr bwMode="auto">
          <a:xfrm>
            <a:off x="714348" y="1643050"/>
            <a:ext cx="7929586" cy="457561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Graphique (</a:t>
            </a:r>
            <a:r>
              <a:rPr lang="fr-FR" dirty="0" err="1" smtClean="0"/>
              <a:t>Artichow</a:t>
            </a:r>
            <a:r>
              <a:rPr lang="fr-FR" dirty="0" smtClean="0"/>
              <a:t>)</a:t>
            </a:r>
            <a:br>
              <a:rPr lang="fr-FR" dirty="0" smtClean="0"/>
            </a:b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149</a:t>
            </a:fld>
            <a:endParaRPr lang="fr-FR"/>
          </a:p>
        </p:txBody>
      </p:sp>
      <p:sp>
        <p:nvSpPr>
          <p:cNvPr id="3" name="Espace réservé du contenu 2"/>
          <p:cNvSpPr>
            <a:spLocks noGrp="1"/>
          </p:cNvSpPr>
          <p:nvPr>
            <p:ph sz="quarter" idx="1"/>
          </p:nvPr>
        </p:nvSpPr>
        <p:spPr/>
        <p:txBody>
          <a:bodyPr/>
          <a:lstStyle/>
          <a:p>
            <a:pPr lvl="0"/>
            <a:r>
              <a:rPr lang="fr-FR" dirty="0" smtClean="0"/>
              <a:t>Une librairie qui permet de créer des graphiques : </a:t>
            </a:r>
            <a:r>
              <a:rPr lang="fr-FR" u="sng" dirty="0" smtClean="0">
                <a:hlinkClick r:id="rId2"/>
              </a:rPr>
              <a:t>http://www.artichow.org</a:t>
            </a:r>
            <a:r>
              <a:rPr lang="fr-FR" dirty="0" smtClean="0"/>
              <a:t>  </a:t>
            </a:r>
          </a:p>
          <a:p>
            <a:pPr lvl="0"/>
            <a:r>
              <a:rPr lang="fr-FR" dirty="0" smtClean="0"/>
              <a:t>Dans l’exemple on va gérer les camemberts .</a:t>
            </a:r>
          </a:p>
          <a:p>
            <a:pPr lvl="0">
              <a:buNone/>
            </a:pPr>
            <a:r>
              <a:rPr lang="fr-FR" dirty="0" smtClean="0"/>
              <a:t>    1- importer le dossier  ‘</a:t>
            </a:r>
            <a:r>
              <a:rPr lang="fr-FR" dirty="0" err="1" smtClean="0"/>
              <a:t>artichow</a:t>
            </a:r>
            <a:r>
              <a:rPr lang="fr-FR" dirty="0" smtClean="0"/>
              <a:t>-1.1.0 ‘  dans le dossier source de votre projet.</a:t>
            </a:r>
          </a:p>
          <a:p>
            <a:pPr>
              <a:buNone/>
            </a:pPr>
            <a:r>
              <a:rPr lang="fr-FR" dirty="0" smtClean="0"/>
              <a:t>    2-</a:t>
            </a:r>
            <a:r>
              <a:rPr lang="fr-FR" dirty="0" err="1" smtClean="0"/>
              <a:t>Reflechir</a:t>
            </a:r>
            <a:r>
              <a:rPr lang="fr-FR" dirty="0" smtClean="0"/>
              <a:t> à construire le tableau des données   :  V=F(C)</a:t>
            </a:r>
          </a:p>
          <a:p>
            <a:pPr>
              <a:buNone/>
            </a:pPr>
            <a:r>
              <a:rPr lang="fr-FR" dirty="0" smtClean="0"/>
              <a:t>		V: variables</a:t>
            </a:r>
          </a:p>
          <a:p>
            <a:pPr>
              <a:buNone/>
            </a:pPr>
            <a:r>
              <a:rPr lang="fr-FR" dirty="0" smtClean="0"/>
              <a:t>             C:constantes</a:t>
            </a:r>
          </a:p>
          <a:p>
            <a:pPr>
              <a:buNone/>
            </a:pPr>
            <a:r>
              <a:rPr lang="fr-FR" dirty="0" smtClean="0"/>
              <a:t> </a:t>
            </a:r>
          </a:p>
          <a:p>
            <a:endParaRPr lang="fr-FR" dirty="0"/>
          </a:p>
        </p:txBody>
      </p:sp>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Exemple:</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150</a:t>
            </a:fld>
            <a:endParaRPr lang="fr-FR"/>
          </a:p>
        </p:txBody>
      </p:sp>
      <p:pic>
        <p:nvPicPr>
          <p:cNvPr id="1026" name="Picture 2"/>
          <p:cNvPicPr>
            <a:picLocks noChangeAspect="1" noChangeArrowheads="1"/>
          </p:cNvPicPr>
          <p:nvPr/>
        </p:nvPicPr>
        <p:blipFill>
          <a:blip r:embed="rId2"/>
          <a:srcRect/>
          <a:stretch>
            <a:fillRect/>
          </a:stretch>
        </p:blipFill>
        <p:spPr bwMode="auto">
          <a:xfrm>
            <a:off x="785786" y="1714488"/>
            <a:ext cx="7429521" cy="393844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Exercice:</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151</a:t>
            </a:fld>
            <a:endParaRPr lang="fr-FR"/>
          </a:p>
        </p:txBody>
      </p:sp>
      <p:sp>
        <p:nvSpPr>
          <p:cNvPr id="3" name="Espace réservé du contenu 2"/>
          <p:cNvSpPr>
            <a:spLocks noGrp="1"/>
          </p:cNvSpPr>
          <p:nvPr>
            <p:ph sz="quarter" idx="1"/>
          </p:nvPr>
        </p:nvSpPr>
        <p:spPr/>
        <p:txBody>
          <a:bodyPr/>
          <a:lstStyle/>
          <a:p>
            <a:r>
              <a:rPr lang="fr-FR" dirty="0" smtClean="0"/>
              <a:t>Créer une page qui permet à l’administrateur du site </a:t>
            </a:r>
            <a:r>
              <a:rPr lang="fr-FR" dirty="0" err="1" smtClean="0"/>
              <a:t>Burger_Code</a:t>
            </a:r>
            <a:r>
              <a:rPr lang="fr-FR" dirty="0" smtClean="0"/>
              <a:t>  de visualiser les commandes par Item sous forme d’un graphe .</a:t>
            </a:r>
            <a:endParaRPr lang="fr-FR" dirty="0"/>
          </a:p>
        </p:txBody>
      </p:sp>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URL rewriting </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152</a:t>
            </a:fld>
            <a:endParaRPr lang="fr-FR"/>
          </a:p>
        </p:txBody>
      </p:sp>
      <p:sp>
        <p:nvSpPr>
          <p:cNvPr id="5" name="Rectangle 4"/>
          <p:cNvSpPr/>
          <p:nvPr/>
        </p:nvSpPr>
        <p:spPr>
          <a:xfrm>
            <a:off x="571472" y="2071678"/>
            <a:ext cx="8358246" cy="41434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Créer un fichier .</a:t>
            </a:r>
            <a:r>
              <a:rPr lang="fr-FR" dirty="0" err="1" smtClean="0"/>
              <a:t>htaccess</a:t>
            </a:r>
            <a:endParaRPr lang="fr-FR" dirty="0" smtClean="0"/>
          </a:p>
          <a:p>
            <a:pPr algn="ctr"/>
            <a:endParaRPr lang="fr-FR" dirty="0" smtClean="0"/>
          </a:p>
          <a:p>
            <a:pPr algn="ctr"/>
            <a:r>
              <a:rPr lang="fr-FR" dirty="0" smtClean="0"/>
              <a:t>Dans lequel vous </a:t>
            </a:r>
            <a:r>
              <a:rPr lang="fr-FR" dirty="0" err="1" smtClean="0"/>
              <a:t>ecrivez</a:t>
            </a:r>
            <a:r>
              <a:rPr lang="fr-FR" dirty="0" smtClean="0"/>
              <a:t> :</a:t>
            </a:r>
          </a:p>
          <a:p>
            <a:pPr algn="ctr"/>
            <a:endParaRPr lang="fr-FR" dirty="0" smtClean="0"/>
          </a:p>
          <a:p>
            <a:pPr algn="ctr"/>
            <a:endParaRPr lang="fr-FR" dirty="0" smtClean="0"/>
          </a:p>
          <a:p>
            <a:pPr algn="ctr"/>
            <a:endParaRPr lang="fr-FR" dirty="0" smtClean="0"/>
          </a:p>
          <a:p>
            <a:pPr algn="ctr"/>
            <a:endParaRPr lang="fr-FR" dirty="0" smtClean="0"/>
          </a:p>
          <a:p>
            <a:pPr algn="ctr"/>
            <a:endParaRPr lang="fr-FR" dirty="0" smtClean="0"/>
          </a:p>
        </p:txBody>
      </p:sp>
      <p:sp>
        <p:nvSpPr>
          <p:cNvPr id="6" name="Rectangle 5"/>
          <p:cNvSpPr/>
          <p:nvPr/>
        </p:nvSpPr>
        <p:spPr>
          <a:xfrm>
            <a:off x="1357290" y="3571876"/>
            <a:ext cx="6858048" cy="2500330"/>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smtClean="0"/>
          </a:p>
          <a:p>
            <a:pPr algn="ctr"/>
            <a:endParaRPr lang="fr-FR" dirty="0" smtClean="0"/>
          </a:p>
          <a:p>
            <a:r>
              <a:rPr lang="fr-FR" sz="2400" dirty="0" err="1" smtClean="0"/>
              <a:t>Directoryindex</a:t>
            </a:r>
            <a:r>
              <a:rPr lang="fr-FR" sz="2400" dirty="0" smtClean="0"/>
              <a:t> index.php</a:t>
            </a:r>
          </a:p>
          <a:p>
            <a:endParaRPr lang="fr-FR" sz="2400" dirty="0" smtClean="0"/>
          </a:p>
          <a:p>
            <a:r>
              <a:rPr lang="fr-FR" sz="2400" dirty="0" err="1" smtClean="0"/>
              <a:t>RewriteEngine</a:t>
            </a:r>
            <a:r>
              <a:rPr lang="fr-FR" sz="2400" dirty="0" smtClean="0"/>
              <a:t> on</a:t>
            </a:r>
          </a:p>
          <a:p>
            <a:endParaRPr lang="fr-FR" sz="2400" dirty="0" smtClean="0"/>
          </a:p>
          <a:p>
            <a:r>
              <a:rPr lang="fr-FR" sz="2400" dirty="0" err="1" smtClean="0"/>
              <a:t>RewriteRule</a:t>
            </a:r>
            <a:r>
              <a:rPr lang="fr-FR" sz="2400" dirty="0" smtClean="0"/>
              <a:t> insert                           insert.php</a:t>
            </a:r>
          </a:p>
          <a:p>
            <a:r>
              <a:rPr lang="fr-FR" sz="2400" dirty="0" err="1" smtClean="0"/>
              <a:t>RewriteRule</a:t>
            </a:r>
            <a:r>
              <a:rPr lang="fr-FR" sz="2400" dirty="0" smtClean="0"/>
              <a:t> </a:t>
            </a:r>
            <a:r>
              <a:rPr lang="fr-FR" sz="2400" dirty="0" err="1" smtClean="0"/>
              <a:t>view</a:t>
            </a:r>
            <a:r>
              <a:rPr lang="fr-FR" sz="2400" dirty="0" smtClean="0"/>
              <a:t>/([0-9]+)$          view.php?id=$1</a:t>
            </a:r>
          </a:p>
          <a:p>
            <a:pPr algn="ctr"/>
            <a:endParaRPr lang="fr-FR" dirty="0"/>
          </a:p>
        </p:txBody>
      </p:sp>
      <p:cxnSp>
        <p:nvCxnSpPr>
          <p:cNvPr id="8" name="Connecteur droit avec flèche 7"/>
          <p:cNvCxnSpPr/>
          <p:nvPr/>
        </p:nvCxnSpPr>
        <p:spPr>
          <a:xfrm rot="5400000" flipH="1" flipV="1">
            <a:off x="3929058" y="2928934"/>
            <a:ext cx="2786082" cy="278608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6858016" y="2571744"/>
            <a:ext cx="1500198"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REGEX</a:t>
            </a:r>
            <a:endParaRPr lang="fr-FR" dirty="0"/>
          </a:p>
        </p:txBody>
      </p:sp>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TP 7 </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153</a:t>
            </a:fld>
            <a:endParaRPr lang="fr-FR"/>
          </a:p>
        </p:txBody>
      </p:sp>
      <p:pic>
        <p:nvPicPr>
          <p:cNvPr id="1027" name="Picture 3"/>
          <p:cNvPicPr>
            <a:picLocks noChangeAspect="1" noChangeArrowheads="1"/>
          </p:cNvPicPr>
          <p:nvPr/>
        </p:nvPicPr>
        <p:blipFill>
          <a:blip r:embed="rId2"/>
          <a:srcRect/>
          <a:stretch>
            <a:fillRect/>
          </a:stretch>
        </p:blipFill>
        <p:spPr bwMode="auto">
          <a:xfrm>
            <a:off x="579013" y="1428736"/>
            <a:ext cx="8207829" cy="471490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Diagramme use case</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154</a:t>
            </a:fld>
            <a:endParaRPr lang="fr-FR"/>
          </a:p>
        </p:txBody>
      </p:sp>
      <p:pic>
        <p:nvPicPr>
          <p:cNvPr id="2050" name="Picture 2"/>
          <p:cNvPicPr>
            <a:picLocks noChangeAspect="1" noChangeArrowheads="1"/>
          </p:cNvPicPr>
          <p:nvPr/>
        </p:nvPicPr>
        <p:blipFill>
          <a:blip r:embed="rId2"/>
          <a:srcRect/>
          <a:stretch>
            <a:fillRect/>
          </a:stretch>
        </p:blipFill>
        <p:spPr bwMode="auto">
          <a:xfrm>
            <a:off x="142844" y="2571744"/>
            <a:ext cx="1085850" cy="1057275"/>
          </a:xfrm>
          <a:prstGeom prst="rect">
            <a:avLst/>
          </a:prstGeom>
          <a:noFill/>
          <a:ln w="9525">
            <a:noFill/>
            <a:miter lim="800000"/>
            <a:headEnd/>
            <a:tailEnd/>
          </a:ln>
          <a:effectLst/>
        </p:spPr>
      </p:pic>
      <p:cxnSp>
        <p:nvCxnSpPr>
          <p:cNvPr id="21" name="Connecteur droit avec flèche 20"/>
          <p:cNvCxnSpPr/>
          <p:nvPr/>
        </p:nvCxnSpPr>
        <p:spPr>
          <a:xfrm flipV="1">
            <a:off x="1214414" y="2143116"/>
            <a:ext cx="1357322" cy="8572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Ellipse 21"/>
          <p:cNvSpPr/>
          <p:nvPr/>
        </p:nvSpPr>
        <p:spPr>
          <a:xfrm>
            <a:off x="2643174" y="1571612"/>
            <a:ext cx="3571900" cy="10001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Consulter les trajets (Recherche)</a:t>
            </a:r>
            <a:endParaRPr lang="fr-FR" dirty="0"/>
          </a:p>
        </p:txBody>
      </p:sp>
      <p:cxnSp>
        <p:nvCxnSpPr>
          <p:cNvPr id="24" name="Connecteur droit avec flèche 23"/>
          <p:cNvCxnSpPr/>
          <p:nvPr/>
        </p:nvCxnSpPr>
        <p:spPr>
          <a:xfrm>
            <a:off x="1357290" y="3357562"/>
            <a:ext cx="135732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7" name="Ellipse 26"/>
          <p:cNvSpPr/>
          <p:nvPr/>
        </p:nvSpPr>
        <p:spPr>
          <a:xfrm>
            <a:off x="2786050" y="2857496"/>
            <a:ext cx="3429024" cy="10715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Inscription</a:t>
            </a:r>
            <a:endParaRPr lang="fr-FR" dirty="0"/>
          </a:p>
        </p:txBody>
      </p:sp>
      <p:cxnSp>
        <p:nvCxnSpPr>
          <p:cNvPr id="31" name="Connecteur droit avec flèche 30"/>
          <p:cNvCxnSpPr/>
          <p:nvPr/>
        </p:nvCxnSpPr>
        <p:spPr>
          <a:xfrm>
            <a:off x="1285852" y="3714752"/>
            <a:ext cx="1214446" cy="42862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2" name="Ellipse 31"/>
          <p:cNvSpPr/>
          <p:nvPr/>
        </p:nvSpPr>
        <p:spPr>
          <a:xfrm>
            <a:off x="2428860" y="4071942"/>
            <a:ext cx="3571900" cy="10715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err="1" smtClean="0"/>
              <a:t>Reservation</a:t>
            </a:r>
            <a:r>
              <a:rPr lang="fr-FR" dirty="0" smtClean="0"/>
              <a:t> En Ligne</a:t>
            </a:r>
            <a:endParaRPr lang="fr-FR" dirty="0"/>
          </a:p>
        </p:txBody>
      </p:sp>
      <p:cxnSp>
        <p:nvCxnSpPr>
          <p:cNvPr id="39" name="Connecteur droit 38"/>
          <p:cNvCxnSpPr/>
          <p:nvPr/>
        </p:nvCxnSpPr>
        <p:spPr>
          <a:xfrm>
            <a:off x="6143636" y="4500570"/>
            <a:ext cx="214314"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Connecteur droit 40"/>
          <p:cNvCxnSpPr/>
          <p:nvPr/>
        </p:nvCxnSpPr>
        <p:spPr>
          <a:xfrm>
            <a:off x="6572264" y="4500570"/>
            <a:ext cx="214314"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Connecteur droit avec flèche 44"/>
          <p:cNvCxnSpPr/>
          <p:nvPr/>
        </p:nvCxnSpPr>
        <p:spPr>
          <a:xfrm>
            <a:off x="6929454" y="4500570"/>
            <a:ext cx="21431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6" name="Ellipse 45"/>
          <p:cNvSpPr/>
          <p:nvPr/>
        </p:nvSpPr>
        <p:spPr>
          <a:xfrm>
            <a:off x="7000892" y="4429132"/>
            <a:ext cx="2143108" cy="7858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Authentification</a:t>
            </a:r>
            <a:endParaRPr lang="fr-FR" dirty="0"/>
          </a:p>
        </p:txBody>
      </p:sp>
      <p:sp>
        <p:nvSpPr>
          <p:cNvPr id="48" name="Rectangle 47"/>
          <p:cNvSpPr/>
          <p:nvPr/>
        </p:nvSpPr>
        <p:spPr>
          <a:xfrm>
            <a:off x="6143636" y="4214818"/>
            <a:ext cx="928694" cy="2143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err="1" smtClean="0"/>
              <a:t>include</a:t>
            </a:r>
            <a:endParaRPr lang="fr-FR" dirty="0"/>
          </a:p>
        </p:txBody>
      </p:sp>
      <p:sp>
        <p:nvSpPr>
          <p:cNvPr id="49" name="Rectangle 48"/>
          <p:cNvSpPr/>
          <p:nvPr/>
        </p:nvSpPr>
        <p:spPr>
          <a:xfrm>
            <a:off x="214282" y="3714752"/>
            <a:ext cx="928694" cy="2857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visiteur</a:t>
            </a:r>
            <a:endParaRPr lang="fr-FR" dirty="0"/>
          </a:p>
        </p:txBody>
      </p:sp>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155</a:t>
            </a:fld>
            <a:endParaRPr lang="fr-FR"/>
          </a:p>
        </p:txBody>
      </p:sp>
      <p:pic>
        <p:nvPicPr>
          <p:cNvPr id="6" name="Image 5"/>
          <p:cNvPicPr/>
          <p:nvPr/>
        </p:nvPicPr>
        <p:blipFill>
          <a:blip r:embed="rId2"/>
          <a:srcRect/>
          <a:stretch>
            <a:fillRect/>
          </a:stretch>
        </p:blipFill>
        <p:spPr bwMode="auto">
          <a:xfrm>
            <a:off x="1142976" y="857232"/>
            <a:ext cx="7072362" cy="514353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156</a:t>
            </a:fld>
            <a:endParaRPr lang="fr-FR"/>
          </a:p>
        </p:txBody>
      </p:sp>
      <p:sp>
        <p:nvSpPr>
          <p:cNvPr id="5" name="Rectangle 4"/>
          <p:cNvSpPr/>
          <p:nvPr/>
        </p:nvSpPr>
        <p:spPr>
          <a:xfrm>
            <a:off x="1214414" y="2500306"/>
            <a:ext cx="7358114" cy="1323439"/>
          </a:xfrm>
          <a:prstGeom prst="rect">
            <a:avLst/>
          </a:prstGeom>
        </p:spPr>
        <p:txBody>
          <a:bodyPr wrap="square">
            <a:spAutoFit/>
          </a:bodyPr>
          <a:lstStyle/>
          <a:p>
            <a:pPr eaLnBrk="0" hangingPunct="0"/>
            <a:r>
              <a:rPr lang="fr-FR" sz="4000" dirty="0" smtClean="0">
                <a:solidFill>
                  <a:schemeClr val="tx2"/>
                </a:solidFill>
                <a:latin typeface="+mj-lt"/>
                <a:ea typeface="+mj-ea"/>
                <a:cs typeface="+mj-cs"/>
              </a:rPr>
              <a:t>Optimiser les interfaces web en utilisant Ajax </a:t>
            </a:r>
          </a:p>
        </p:txBody>
      </p:sp>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157</a:t>
            </a:fld>
            <a:endParaRPr lang="fr-FR"/>
          </a:p>
        </p:txBody>
      </p:sp>
      <p:sp>
        <p:nvSpPr>
          <p:cNvPr id="3" name="Espace réservé du contenu 2"/>
          <p:cNvSpPr>
            <a:spLocks noGrp="1"/>
          </p:cNvSpPr>
          <p:nvPr>
            <p:ph sz="quarter" idx="1"/>
          </p:nvPr>
        </p:nvSpPr>
        <p:spPr/>
        <p:txBody>
          <a:bodyPr/>
          <a:lstStyle/>
          <a:p>
            <a:r>
              <a:rPr lang="fr-FR" dirty="0" smtClean="0"/>
              <a:t> AJAX : </a:t>
            </a:r>
            <a:r>
              <a:rPr lang="fr-FR" dirty="0" err="1" smtClean="0"/>
              <a:t>Asynchronous</a:t>
            </a:r>
            <a:r>
              <a:rPr lang="fr-FR" dirty="0" smtClean="0"/>
              <a:t> JavaScript and XML: est une méthode de conception de pages web qui joue le rôle de liaison  entre les langages serveur (PHP, .NET...) et JavaScript, </a:t>
            </a:r>
          </a:p>
          <a:p>
            <a:r>
              <a:rPr lang="fr-FR" dirty="0" smtClean="0"/>
              <a:t>cette méthode permet de faire communiquer les deux de manière asynchrone, c'est-à-dire qu'on a plus besoin de recharger toute la page mais seulement une partie de la page, en y insérant des informations qui viennent directement du serveur.</a:t>
            </a:r>
          </a:p>
          <a:p>
            <a:endParaRPr lang="fr-FR" dirty="0"/>
          </a:p>
        </p:txBody>
      </p:sp>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158</a:t>
            </a:fld>
            <a:endParaRPr lang="fr-FR"/>
          </a:p>
        </p:txBody>
      </p:sp>
      <p:pic>
        <p:nvPicPr>
          <p:cNvPr id="5" name="Image 4" descr="Schéma AJAX"/>
          <p:cNvPicPr/>
          <p:nvPr/>
        </p:nvPicPr>
        <p:blipFill>
          <a:blip r:embed="rId2"/>
          <a:srcRect/>
          <a:stretch>
            <a:fillRect/>
          </a:stretch>
        </p:blipFill>
        <p:spPr bwMode="auto">
          <a:xfrm>
            <a:off x="642910" y="2285992"/>
            <a:ext cx="7286676" cy="300039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I-Retour HTML</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159</a:t>
            </a:fld>
            <a:endParaRPr lang="fr-FR"/>
          </a:p>
        </p:txBody>
      </p:sp>
      <p:sp>
        <p:nvSpPr>
          <p:cNvPr id="6146" name="Rectangle 2"/>
          <p:cNvSpPr>
            <a:spLocks noChangeArrowheads="1"/>
          </p:cNvSpPr>
          <p:nvPr/>
        </p:nvSpPr>
        <p:spPr bwMode="auto">
          <a:xfrm>
            <a:off x="5429256" y="357166"/>
            <a:ext cx="3357586" cy="628652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   &lt;script </a:t>
            </a:r>
            <a:r>
              <a:rPr kumimoji="0" lang="fr-FR" sz="1600" b="0" i="0" u="none" strike="noStrike" cap="none" normalizeH="0" baseline="0" dirty="0" err="1" smtClean="0">
                <a:ln>
                  <a:noFill/>
                </a:ln>
                <a:solidFill>
                  <a:srgbClr val="222222"/>
                </a:solidFill>
                <a:effectLst/>
                <a:latin typeface="Agency FB" pitchFamily="34" charset="0"/>
                <a:ea typeface="Arial" pitchFamily="34" charset="0"/>
                <a:cs typeface="Arial" pitchFamily="34" charset="0"/>
              </a:rPr>
              <a:t>laguage</a:t>
            </a: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="JavaScript"&gt;</a:t>
            </a:r>
          </a:p>
          <a:p>
            <a:pPr marL="0" marR="0" lvl="0" indent="0" algn="l" defTabSz="914400" rtl="0" eaLnBrk="1" fontAlgn="base" latinLnBrk="0" hangingPunct="1">
              <a:lnSpc>
                <a:spcPct val="100000"/>
              </a:lnSpc>
              <a:spcBef>
                <a:spcPct val="0"/>
              </a:spcBef>
              <a:spcAft>
                <a:spcPts val="1000"/>
              </a:spcAft>
              <a:buClrTx/>
              <a:buSzTx/>
              <a:buFontTx/>
              <a:buNone/>
              <a:tabLst/>
            </a:pP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        $(</a:t>
            </a:r>
            <a:r>
              <a:rPr kumimoji="0" lang="fr-FR" sz="1600" b="0" i="0" u="none" strike="noStrike" cap="none" normalizeH="0" baseline="0" dirty="0" err="1" smtClean="0">
                <a:ln>
                  <a:noFill/>
                </a:ln>
                <a:solidFill>
                  <a:srgbClr val="222222"/>
                </a:solidFill>
                <a:effectLst/>
                <a:latin typeface="Agency FB" pitchFamily="34" charset="0"/>
                <a:ea typeface="Arial" pitchFamily="34" charset="0"/>
                <a:cs typeface="Arial" pitchFamily="34" charset="0"/>
              </a:rPr>
              <a:t>function</a:t>
            </a: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a:t>
            </a:r>
          </a:p>
          <a:p>
            <a:pPr marL="0" marR="0" lvl="0" indent="0" algn="l" defTabSz="914400" rtl="0" eaLnBrk="1" fontAlgn="base" latinLnBrk="0" hangingPunct="1">
              <a:lnSpc>
                <a:spcPct val="100000"/>
              </a:lnSpc>
              <a:spcBef>
                <a:spcPct val="0"/>
              </a:spcBef>
              <a:spcAft>
                <a:spcPts val="1000"/>
              </a:spcAft>
              <a:buClrTx/>
              <a:buSzTx/>
              <a:buFontTx/>
              <a:buNone/>
              <a:tabLst/>
            </a:pP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              $('#</a:t>
            </a:r>
            <a:r>
              <a:rPr kumimoji="0" lang="fr-FR" sz="1600" b="0" i="0" u="none" strike="noStrike" cap="none" normalizeH="0" baseline="0" dirty="0" err="1" smtClean="0">
                <a:ln>
                  <a:noFill/>
                </a:ln>
                <a:solidFill>
                  <a:srgbClr val="222222"/>
                </a:solidFill>
                <a:effectLst/>
                <a:latin typeface="Agency FB" pitchFamily="34" charset="0"/>
                <a:ea typeface="Arial" pitchFamily="34" charset="0"/>
                <a:cs typeface="Arial" pitchFamily="34" charset="0"/>
              </a:rPr>
              <a:t>ivil</a:t>
            </a: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').change(</a:t>
            </a:r>
            <a:r>
              <a:rPr kumimoji="0" lang="fr-FR" sz="1600" b="0" i="0" u="none" strike="noStrike" cap="none" normalizeH="0" baseline="0" dirty="0" err="1" smtClean="0">
                <a:ln>
                  <a:noFill/>
                </a:ln>
                <a:solidFill>
                  <a:srgbClr val="222222"/>
                </a:solidFill>
                <a:effectLst/>
                <a:latin typeface="Agency FB" pitchFamily="34" charset="0"/>
                <a:ea typeface="Arial" pitchFamily="34" charset="0"/>
                <a:cs typeface="Arial" pitchFamily="34" charset="0"/>
              </a:rPr>
              <a:t>function</a:t>
            </a: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               var ville=$('#</a:t>
            </a:r>
            <a:r>
              <a:rPr kumimoji="0" lang="fr-FR" sz="1600" b="0" i="0" u="none" strike="noStrike" cap="none" normalizeH="0" baseline="0" dirty="0" err="1" smtClean="0">
                <a:ln>
                  <a:noFill/>
                </a:ln>
                <a:solidFill>
                  <a:srgbClr val="222222"/>
                </a:solidFill>
                <a:effectLst/>
                <a:latin typeface="Agency FB" pitchFamily="34" charset="0"/>
                <a:ea typeface="Arial" pitchFamily="34" charset="0"/>
                <a:cs typeface="Arial" pitchFamily="34" charset="0"/>
              </a:rPr>
              <a:t>ivil</a:t>
            </a: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').val();</a:t>
            </a:r>
          </a:p>
          <a:p>
            <a:pPr marL="0" marR="0" lvl="0" indent="0" algn="l" defTabSz="914400" rtl="0" eaLnBrk="1" fontAlgn="base" latinLnBrk="0" hangingPunct="1">
              <a:lnSpc>
                <a:spcPct val="100000"/>
              </a:lnSpc>
              <a:spcBef>
                <a:spcPct val="0"/>
              </a:spcBef>
              <a:spcAft>
                <a:spcPts val="1000"/>
              </a:spcAft>
              <a:buClrTx/>
              <a:buSzTx/>
              <a:buFontTx/>
              <a:buNone/>
              <a:tabLst/>
            </a:pP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    $.</a:t>
            </a:r>
            <a:r>
              <a:rPr kumimoji="0" lang="fr-FR" sz="1600" b="0" i="0" u="none" strike="noStrike" cap="none" normalizeH="0" baseline="0" dirty="0" err="1" smtClean="0">
                <a:ln>
                  <a:noFill/>
                </a:ln>
                <a:solidFill>
                  <a:srgbClr val="222222"/>
                </a:solidFill>
                <a:effectLst/>
                <a:latin typeface="Agency FB" pitchFamily="34" charset="0"/>
                <a:ea typeface="Arial" pitchFamily="34" charset="0"/>
                <a:cs typeface="Arial" pitchFamily="34" charset="0"/>
              </a:rPr>
              <a:t>ajax</a:t>
            </a: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     type: "POST", </a:t>
            </a:r>
          </a:p>
          <a:p>
            <a:pPr marL="0" marR="0" lvl="0" indent="0" algn="l" defTabSz="914400" rtl="0" eaLnBrk="1" fontAlgn="base" latinLnBrk="0" hangingPunct="1">
              <a:lnSpc>
                <a:spcPct val="100000"/>
              </a:lnSpc>
              <a:spcBef>
                <a:spcPct val="0"/>
              </a:spcBef>
              <a:spcAft>
                <a:spcPts val="1000"/>
              </a:spcAft>
              <a:buClrTx/>
              <a:buSzTx/>
              <a:buFontTx/>
              <a:buNone/>
              <a:tabLst/>
            </a:pP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     url: "server.php", </a:t>
            </a:r>
          </a:p>
          <a:p>
            <a:pPr marL="0" marR="0" lvl="0" indent="0" algn="l" defTabSz="914400" rtl="0" eaLnBrk="1" fontAlgn="base" latinLnBrk="0" hangingPunct="1">
              <a:lnSpc>
                <a:spcPct val="100000"/>
              </a:lnSpc>
              <a:spcBef>
                <a:spcPct val="0"/>
              </a:spcBef>
              <a:spcAft>
                <a:spcPts val="1000"/>
              </a:spcAft>
              <a:buClrTx/>
              <a:buSzTx/>
              <a:buFontTx/>
              <a:buNone/>
              <a:tabLst/>
            </a:pP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     data: '</a:t>
            </a:r>
            <a:r>
              <a:rPr kumimoji="0" lang="fr-FR" sz="1600" b="0" i="0" u="none" strike="noStrike" cap="none" normalizeH="0" baseline="0" dirty="0" err="1" smtClean="0">
                <a:ln>
                  <a:noFill/>
                </a:ln>
                <a:solidFill>
                  <a:srgbClr val="222222"/>
                </a:solidFill>
                <a:effectLst/>
                <a:latin typeface="Agency FB" pitchFamily="34" charset="0"/>
                <a:ea typeface="Arial" pitchFamily="34" charset="0"/>
                <a:cs typeface="Arial" pitchFamily="34" charset="0"/>
              </a:rPr>
              <a:t>cvil</a:t>
            </a: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 + ville</a:t>
            </a:r>
          </a:p>
          <a:p>
            <a:pPr marL="0" marR="0" lvl="0" indent="0" algn="l" defTabSz="914400" rtl="0" eaLnBrk="1" fontAlgn="base" latinLnBrk="0" hangingPunct="1">
              <a:lnSpc>
                <a:spcPct val="100000"/>
              </a:lnSpc>
              <a:spcBef>
                <a:spcPct val="0"/>
              </a:spcBef>
              <a:spcAft>
                <a:spcPts val="1000"/>
              </a:spcAft>
              <a:buClrTx/>
              <a:buSzTx/>
              <a:buFontTx/>
              <a:buNone/>
              <a:tabLst/>
            </a:pP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  </a:t>
            </a:r>
            <a:r>
              <a:rPr kumimoji="0" lang="en-US"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}).done(function(</a:t>
            </a:r>
            <a:r>
              <a:rPr kumimoji="0" lang="en-US" sz="1600" b="0" i="0" u="none" strike="noStrike" cap="none" normalizeH="0" baseline="0" dirty="0" err="1" smtClean="0">
                <a:ln>
                  <a:noFill/>
                </a:ln>
                <a:solidFill>
                  <a:srgbClr val="222222"/>
                </a:solidFill>
                <a:effectLst/>
                <a:latin typeface="Agency FB" pitchFamily="34" charset="0"/>
                <a:ea typeface="Arial" pitchFamily="34" charset="0"/>
                <a:cs typeface="Arial" pitchFamily="34" charset="0"/>
              </a:rPr>
              <a:t>resultat</a:t>
            </a:r>
            <a:r>
              <a:rPr kumimoji="0" lang="en-US"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  $('#</a:t>
            </a:r>
            <a:r>
              <a:rPr kumimoji="0" lang="en-US" sz="1600" b="0" i="0" u="none" strike="noStrike" cap="none" normalizeH="0" baseline="0" dirty="0" err="1" smtClean="0">
                <a:ln>
                  <a:noFill/>
                </a:ln>
                <a:solidFill>
                  <a:srgbClr val="222222"/>
                </a:solidFill>
                <a:effectLst/>
                <a:latin typeface="Agency FB" pitchFamily="34" charset="0"/>
                <a:ea typeface="Arial" pitchFamily="34" charset="0"/>
                <a:cs typeface="Arial" pitchFamily="34" charset="0"/>
              </a:rPr>
              <a:t>ir</a:t>
            </a:r>
            <a:r>
              <a:rPr kumimoji="0" lang="en-US"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').html(</a:t>
            </a:r>
            <a:r>
              <a:rPr kumimoji="0" lang="en-US" sz="1600" b="0" i="0" u="none" strike="noStrike" cap="none" normalizeH="0" baseline="0" dirty="0" err="1" smtClean="0">
                <a:ln>
                  <a:noFill/>
                </a:ln>
                <a:solidFill>
                  <a:srgbClr val="222222"/>
                </a:solidFill>
                <a:effectLst/>
                <a:latin typeface="Agency FB" pitchFamily="34" charset="0"/>
                <a:ea typeface="Arial" pitchFamily="34" charset="0"/>
                <a:cs typeface="Arial" pitchFamily="34" charset="0"/>
              </a:rPr>
              <a:t>resultat</a:t>
            </a:r>
            <a:r>
              <a:rPr kumimoji="0" lang="en-US"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  </a:t>
            </a: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            })           </a:t>
            </a:r>
          </a:p>
          <a:p>
            <a:pPr marL="0" marR="0" lvl="0" indent="0" algn="l" defTabSz="914400" rtl="0" eaLnBrk="1" fontAlgn="base" latinLnBrk="0" hangingPunct="1">
              <a:lnSpc>
                <a:spcPct val="100000"/>
              </a:lnSpc>
              <a:spcBef>
                <a:spcPct val="0"/>
              </a:spcBef>
              <a:spcAft>
                <a:spcPts val="1000"/>
              </a:spcAft>
              <a:buClrTx/>
              <a:buSzTx/>
              <a:buFontTx/>
              <a:buNone/>
              <a:tabLst/>
            </a:pP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        });  </a:t>
            </a:r>
          </a:p>
          <a:p>
            <a:pPr marL="0" marR="0" lvl="0" indent="0" algn="l" defTabSz="914400" rtl="0" eaLnBrk="1" fontAlgn="base" latinLnBrk="0" hangingPunct="1">
              <a:lnSpc>
                <a:spcPct val="100000"/>
              </a:lnSpc>
              <a:spcBef>
                <a:spcPct val="0"/>
              </a:spcBef>
              <a:spcAft>
                <a:spcPts val="1000"/>
              </a:spcAft>
              <a:buClrTx/>
              <a:buSzTx/>
              <a:buFontTx/>
              <a:buNone/>
              <a:tabLst/>
            </a:pP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        &lt;/script&gt;</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7" name="Image 6"/>
          <p:cNvPicPr/>
          <p:nvPr/>
        </p:nvPicPr>
        <p:blipFill>
          <a:blip r:embed="rId2"/>
          <a:srcRect/>
          <a:stretch>
            <a:fillRect/>
          </a:stretch>
        </p:blipFill>
        <p:spPr bwMode="auto">
          <a:xfrm>
            <a:off x="714348" y="1571612"/>
            <a:ext cx="3244188" cy="2071485"/>
          </a:xfrm>
          <a:prstGeom prst="rect">
            <a:avLst/>
          </a:prstGeom>
          <a:noFill/>
          <a:ln w="9525">
            <a:noFill/>
            <a:miter lim="800000"/>
            <a:headEnd/>
            <a:tailEnd/>
          </a:ln>
        </p:spPr>
      </p:pic>
      <p:sp>
        <p:nvSpPr>
          <p:cNvPr id="6147" name="Rectangle 3"/>
          <p:cNvSpPr>
            <a:spLocks noChangeArrowheads="1"/>
          </p:cNvSpPr>
          <p:nvPr/>
        </p:nvSpPr>
        <p:spPr bwMode="auto">
          <a:xfrm>
            <a:off x="2571736" y="3429000"/>
            <a:ext cx="2701925" cy="46990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457200" marR="0" lvl="1" indent="0" algn="l" defTabSz="914400" rtl="0" eaLnBrk="1" fontAlgn="base" latinLnBrk="0" hangingPunct="1">
              <a:lnSpc>
                <a:spcPct val="100000"/>
              </a:lnSpc>
              <a:spcBef>
                <a:spcPts val="500"/>
              </a:spcBef>
              <a:spcAft>
                <a:spcPts val="500"/>
              </a:spcAft>
              <a:buClrTx/>
              <a:buSzTx/>
              <a:buFontTx/>
              <a:buNone/>
              <a:tabLst/>
            </a:pPr>
            <a:r>
              <a:rPr kumimoji="0" lang="fr-FR" sz="1600" b="0" i="0" u="none" strike="noStrike" cap="none" normalizeH="0" baseline="0" smtClean="0">
                <a:ln>
                  <a:noFill/>
                </a:ln>
                <a:solidFill>
                  <a:srgbClr val="222222"/>
                </a:solidFill>
                <a:effectLst/>
                <a:latin typeface="Agency FB" pitchFamily="34" charset="0"/>
                <a:ea typeface="Arial" pitchFamily="34" charset="0"/>
                <a:cs typeface="Arial" pitchFamily="34" charset="0"/>
              </a:rPr>
              <a:t>  &lt;div id="ir"&gt;&lt;/div&gt;</a:t>
            </a: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cxnSp>
        <p:nvCxnSpPr>
          <p:cNvPr id="10" name="Connecteur droit avec flèche 9"/>
          <p:cNvCxnSpPr/>
          <p:nvPr/>
        </p:nvCxnSpPr>
        <p:spPr>
          <a:xfrm rot="10800000">
            <a:off x="1785918" y="3214686"/>
            <a:ext cx="714380" cy="3571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Connecteur droit avec flèche 8"/>
          <p:cNvCxnSpPr/>
          <p:nvPr/>
        </p:nvCxnSpPr>
        <p:spPr>
          <a:xfrm rot="16200000" flipH="1">
            <a:off x="7000892" y="4143380"/>
            <a:ext cx="857256" cy="5715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7286644" y="4857760"/>
            <a:ext cx="1000132" cy="428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HTML</a:t>
            </a:r>
            <a:endParaRPr lang="fr-FR" dirty="0"/>
          </a:p>
        </p:txBody>
      </p:sp>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 JSON:</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160</a:t>
            </a:fld>
            <a:endParaRPr lang="fr-FR"/>
          </a:p>
        </p:txBody>
      </p:sp>
      <p:sp>
        <p:nvSpPr>
          <p:cNvPr id="3" name="Espace réservé du contenu 2"/>
          <p:cNvSpPr>
            <a:spLocks noGrp="1"/>
          </p:cNvSpPr>
          <p:nvPr>
            <p:ph sz="quarter" idx="1"/>
          </p:nvPr>
        </p:nvSpPr>
        <p:spPr/>
        <p:txBody>
          <a:bodyPr/>
          <a:lstStyle/>
          <a:p>
            <a:r>
              <a:rPr lang="fr-FR" sz="1800" dirty="0" smtClean="0"/>
              <a:t>JSON (prononcer à l'anglaise, "Jay-son") est un sigle qui se traduit par </a:t>
            </a:r>
            <a:r>
              <a:rPr lang="fr-FR" sz="1800" b="1" dirty="0" smtClean="0"/>
              <a:t>J</a:t>
            </a:r>
            <a:r>
              <a:rPr lang="fr-FR" sz="1800" dirty="0" smtClean="0"/>
              <a:t>ava</a:t>
            </a:r>
            <a:r>
              <a:rPr lang="fr-FR" sz="1800" b="1" dirty="0" smtClean="0"/>
              <a:t>S</a:t>
            </a:r>
            <a:r>
              <a:rPr lang="fr-FR" sz="1800" dirty="0" smtClean="0"/>
              <a:t>cript </a:t>
            </a:r>
            <a:r>
              <a:rPr lang="fr-FR" sz="1800" b="1" dirty="0" smtClean="0"/>
              <a:t>O</a:t>
            </a:r>
            <a:r>
              <a:rPr lang="fr-FR" sz="1800" dirty="0" smtClean="0"/>
              <a:t>bject </a:t>
            </a:r>
            <a:r>
              <a:rPr lang="fr-FR" sz="1800" b="1" dirty="0" smtClean="0"/>
              <a:t>N</a:t>
            </a:r>
            <a:r>
              <a:rPr lang="fr-FR" sz="1800" dirty="0" smtClean="0"/>
              <a:t>otation. Ce terme désigne un format de données permettant de stocker de l'information de manière organisée. Il a l'avantage d'être facilement lisible par un être humain, et permet un accès rapide aux données qu'il contient. Il est souvent utilisé pour décrire des structures qui sont, ou qui ressemblent à des objets.</a:t>
            </a:r>
          </a:p>
          <a:p>
            <a:endParaRPr lang="fr-FR" sz="1800" dirty="0" smtClean="0"/>
          </a:p>
          <a:p>
            <a:pPr lvl="0"/>
            <a:r>
              <a:rPr lang="fr-FR" sz="1800" dirty="0" smtClean="0"/>
              <a:t>Un fichier JSON bien formé est encadré par des accolades { }, et ce sont ces mêmes accolades qui délimitent les différents objets au sein d'un fichier. Il est également possible de créer des vecteurs/tableaux d'objets successifs, en utilisant les crochets [ ].</a:t>
            </a:r>
          </a:p>
          <a:p>
            <a:pPr lvl="0"/>
            <a:endParaRPr lang="fr-FR" sz="1800" dirty="0" smtClean="0"/>
          </a:p>
          <a:p>
            <a:pPr lvl="0"/>
            <a:r>
              <a:rPr lang="fr-FR" sz="1800" dirty="0" smtClean="0"/>
              <a:t>Un fichier JSON contient des paires qui prennent la forme </a:t>
            </a:r>
            <a:r>
              <a:rPr lang="fr-FR" sz="1800" b="1" dirty="0" smtClean="0"/>
              <a:t>"nom" : "valeur"</a:t>
            </a:r>
            <a:r>
              <a:rPr lang="fr-FR" sz="1800" dirty="0" smtClean="0"/>
              <a:t>, ce qui le rapproche sémantiquement d'un tableau associatif.</a:t>
            </a:r>
          </a:p>
          <a:p>
            <a:pPr lvl="0"/>
            <a:endParaRPr lang="fr-FR" sz="1800" dirty="0" smtClean="0"/>
          </a:p>
          <a:p>
            <a:pPr lvl="0"/>
            <a:r>
              <a:rPr lang="fr-FR" sz="1800" dirty="0" smtClean="0"/>
              <a:t>Les séparateurs utilisés par ce format sont les virgules.</a:t>
            </a:r>
          </a:p>
          <a:p>
            <a:endParaRPr lang="fr-FR" dirty="0"/>
          </a:p>
        </p:txBody>
      </p:sp>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Caractéristiques de JSON:</a:t>
            </a:r>
            <a:br>
              <a:rPr lang="fr-FR" dirty="0" smtClean="0"/>
            </a:b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161</a:t>
            </a:fld>
            <a:endParaRPr lang="fr-FR"/>
          </a:p>
        </p:txBody>
      </p:sp>
      <p:sp>
        <p:nvSpPr>
          <p:cNvPr id="3" name="Espace réservé du contenu 2"/>
          <p:cNvSpPr>
            <a:spLocks noGrp="1"/>
          </p:cNvSpPr>
          <p:nvPr>
            <p:ph sz="quarter" idx="1"/>
          </p:nvPr>
        </p:nvSpPr>
        <p:spPr/>
        <p:txBody>
          <a:bodyPr/>
          <a:lstStyle/>
          <a:p>
            <a:r>
              <a:rPr lang="fr-FR" dirty="0" smtClean="0"/>
              <a:t>Léger</a:t>
            </a:r>
          </a:p>
          <a:p>
            <a:r>
              <a:rPr lang="fr-FR" dirty="0" smtClean="0"/>
              <a:t>Indépendant de tout langage</a:t>
            </a:r>
          </a:p>
          <a:p>
            <a:r>
              <a:rPr lang="fr-FR" dirty="0" smtClean="0"/>
              <a:t>Facile à lire et à écrire</a:t>
            </a:r>
          </a:p>
          <a:p>
            <a:r>
              <a:rPr lang="fr-FR" dirty="0" smtClean="0"/>
              <a:t>Format d’échange de données lisible par l’homme et basé sur le texte</a:t>
            </a:r>
          </a:p>
          <a:p>
            <a:r>
              <a:rPr lang="fr-FR" dirty="0" smtClean="0"/>
              <a:t>Prend en charge les tableaux, objets, chaines de caractères, nombres et valeurs.</a:t>
            </a:r>
          </a:p>
          <a:p>
            <a:endParaRPr lang="fr-FR" dirty="0"/>
          </a:p>
        </p:txBody>
      </p:sp>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Types de données JSON</a:t>
            </a:r>
            <a:br>
              <a:rPr lang="fr-FR" dirty="0" smtClean="0"/>
            </a:b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162</a:t>
            </a:fld>
            <a:endParaRPr lang="fr-FR"/>
          </a:p>
        </p:txBody>
      </p:sp>
      <p:sp>
        <p:nvSpPr>
          <p:cNvPr id="3" name="Espace réservé du contenu 2"/>
          <p:cNvSpPr>
            <a:spLocks noGrp="1"/>
          </p:cNvSpPr>
          <p:nvPr>
            <p:ph sz="quarter" idx="1"/>
          </p:nvPr>
        </p:nvSpPr>
        <p:spPr/>
        <p:txBody>
          <a:bodyPr/>
          <a:lstStyle/>
          <a:p>
            <a:r>
              <a:rPr lang="fr-FR" dirty="0" smtClean="0"/>
              <a:t>1. String</a:t>
            </a:r>
          </a:p>
          <a:p>
            <a:pPr>
              <a:buNone/>
            </a:pPr>
            <a:r>
              <a:rPr lang="fr-FR" b="1" dirty="0" smtClean="0"/>
              <a:t>      {</a:t>
            </a:r>
            <a:endParaRPr lang="fr-FR" dirty="0" smtClean="0"/>
          </a:p>
          <a:p>
            <a:pPr>
              <a:buNone/>
            </a:pPr>
            <a:r>
              <a:rPr lang="fr-FR" b="1" dirty="0" smtClean="0"/>
              <a:t>       "</a:t>
            </a:r>
            <a:r>
              <a:rPr lang="fr-FR" b="1" dirty="0" err="1" smtClean="0"/>
              <a:t>name</a:t>
            </a:r>
            <a:r>
              <a:rPr lang="fr-FR" b="1" dirty="0" smtClean="0"/>
              <a:t>"</a:t>
            </a:r>
            <a:r>
              <a:rPr lang="fr-FR" dirty="0" smtClean="0"/>
              <a:t>: "Ahmad"</a:t>
            </a:r>
          </a:p>
          <a:p>
            <a:pPr>
              <a:buNone/>
            </a:pPr>
            <a:r>
              <a:rPr lang="fr-FR" b="1" dirty="0" smtClean="0"/>
              <a:t>       }</a:t>
            </a:r>
          </a:p>
          <a:p>
            <a:r>
              <a:rPr lang="fr-FR" dirty="0" smtClean="0"/>
              <a:t>2.Object</a:t>
            </a:r>
          </a:p>
          <a:p>
            <a:pPr>
              <a:buNone/>
            </a:pPr>
            <a:r>
              <a:rPr lang="fr-FR" b="1" dirty="0" smtClean="0"/>
              <a:t>      {</a:t>
            </a:r>
            <a:endParaRPr lang="fr-FR" dirty="0" smtClean="0"/>
          </a:p>
          <a:p>
            <a:pPr>
              <a:buNone/>
            </a:pPr>
            <a:r>
              <a:rPr lang="fr-FR" b="1" dirty="0" smtClean="0"/>
              <a:t>       "</a:t>
            </a:r>
            <a:r>
              <a:rPr lang="fr-FR" b="1" dirty="0" err="1" smtClean="0"/>
              <a:t>person</a:t>
            </a:r>
            <a:r>
              <a:rPr lang="fr-FR" b="1" dirty="0" smtClean="0"/>
              <a:t>"</a:t>
            </a:r>
            <a:r>
              <a:rPr lang="fr-FR" dirty="0" smtClean="0"/>
              <a:t>: </a:t>
            </a:r>
            <a:r>
              <a:rPr lang="fr-FR" b="1" dirty="0" smtClean="0"/>
              <a:t>{</a:t>
            </a:r>
            <a:endParaRPr lang="fr-FR" dirty="0" smtClean="0"/>
          </a:p>
          <a:p>
            <a:pPr>
              <a:buNone/>
            </a:pPr>
            <a:r>
              <a:rPr lang="fr-FR" b="1" dirty="0" smtClean="0"/>
              <a:t>        "</a:t>
            </a:r>
            <a:r>
              <a:rPr lang="fr-FR" b="1" dirty="0" err="1" smtClean="0"/>
              <a:t>name</a:t>
            </a:r>
            <a:r>
              <a:rPr lang="fr-FR" b="1" dirty="0" smtClean="0"/>
              <a:t>"</a:t>
            </a:r>
            <a:r>
              <a:rPr lang="fr-FR" dirty="0" smtClean="0"/>
              <a:t>: "Ahmad",</a:t>
            </a:r>
          </a:p>
          <a:p>
            <a:pPr>
              <a:buNone/>
            </a:pPr>
            <a:r>
              <a:rPr lang="fr-FR" dirty="0" smtClean="0"/>
              <a:t>        </a:t>
            </a:r>
            <a:r>
              <a:rPr lang="fr-FR" b="1" dirty="0" smtClean="0"/>
              <a:t>"city"</a:t>
            </a:r>
            <a:r>
              <a:rPr lang="fr-FR" dirty="0" smtClean="0"/>
              <a:t>: "</a:t>
            </a:r>
            <a:r>
              <a:rPr lang="fr-FR" dirty="0" err="1" smtClean="0"/>
              <a:t>Tangier</a:t>
            </a:r>
            <a:r>
              <a:rPr lang="fr-FR" dirty="0" smtClean="0"/>
              <a:t>"</a:t>
            </a:r>
          </a:p>
          <a:p>
            <a:pPr>
              <a:buNone/>
            </a:pPr>
            <a:r>
              <a:rPr lang="fr-FR" b="1" dirty="0" smtClean="0"/>
              <a:t>                             }</a:t>
            </a:r>
            <a:endParaRPr lang="fr-FR" dirty="0" smtClean="0"/>
          </a:p>
          <a:p>
            <a:pPr>
              <a:buNone/>
            </a:pPr>
            <a:r>
              <a:rPr lang="fr-FR" b="1" dirty="0" smtClean="0"/>
              <a:t>       }</a:t>
            </a:r>
            <a:endParaRPr lang="fr-FR" dirty="0" smtClean="0"/>
          </a:p>
          <a:p>
            <a:pPr>
              <a:buNone/>
            </a:pPr>
            <a:endParaRPr lang="fr-FR" dirty="0" smtClean="0"/>
          </a:p>
          <a:p>
            <a:endParaRPr lang="fr-FR" dirty="0"/>
          </a:p>
        </p:txBody>
      </p:sp>
    </p:spTree>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163</a:t>
            </a:fld>
            <a:endParaRPr lang="fr-FR"/>
          </a:p>
        </p:txBody>
      </p:sp>
      <p:sp>
        <p:nvSpPr>
          <p:cNvPr id="3" name="Espace réservé du contenu 2"/>
          <p:cNvSpPr>
            <a:spLocks noGrp="1"/>
          </p:cNvSpPr>
          <p:nvPr>
            <p:ph sz="quarter" idx="1"/>
          </p:nvPr>
        </p:nvSpPr>
        <p:spPr/>
        <p:txBody>
          <a:bodyPr/>
          <a:lstStyle/>
          <a:p>
            <a:r>
              <a:rPr lang="fr-FR" dirty="0" smtClean="0"/>
              <a:t>3. Tableau</a:t>
            </a:r>
          </a:p>
          <a:p>
            <a:pPr>
              <a:buNone/>
            </a:pPr>
            <a:r>
              <a:rPr lang="fr-FR" b="1" dirty="0" smtClean="0"/>
              <a:t>    {</a:t>
            </a:r>
            <a:endParaRPr lang="fr-FR" dirty="0" smtClean="0"/>
          </a:p>
          <a:p>
            <a:pPr>
              <a:buNone/>
            </a:pPr>
            <a:r>
              <a:rPr lang="fr-FR" b="1" dirty="0" smtClean="0"/>
              <a:t>         "tab"</a:t>
            </a:r>
            <a:r>
              <a:rPr lang="fr-FR" dirty="0" smtClean="0"/>
              <a:t>: </a:t>
            </a:r>
            <a:r>
              <a:rPr lang="fr-FR" b="1" dirty="0" smtClean="0"/>
              <a:t>[</a:t>
            </a:r>
            <a:r>
              <a:rPr lang="fr-FR" dirty="0" smtClean="0"/>
              <a:t>1, 2, 3, 4, 5, 6</a:t>
            </a:r>
            <a:r>
              <a:rPr lang="fr-FR" b="1" dirty="0" smtClean="0"/>
              <a:t>]</a:t>
            </a:r>
            <a:endParaRPr lang="fr-FR" dirty="0" smtClean="0"/>
          </a:p>
          <a:p>
            <a:pPr>
              <a:buNone/>
            </a:pPr>
            <a:r>
              <a:rPr lang="fr-FR" b="1" dirty="0" smtClean="0"/>
              <a:t>     }</a:t>
            </a:r>
          </a:p>
          <a:p>
            <a:r>
              <a:rPr lang="fr-FR" dirty="0" smtClean="0"/>
              <a:t>4. Nombre</a:t>
            </a:r>
          </a:p>
          <a:p>
            <a:pPr>
              <a:buNone/>
            </a:pPr>
            <a:r>
              <a:rPr lang="fr-FR" b="1" dirty="0" smtClean="0"/>
              <a:t>    {</a:t>
            </a:r>
            <a:endParaRPr lang="fr-FR" dirty="0" smtClean="0"/>
          </a:p>
          <a:p>
            <a:pPr>
              <a:buNone/>
            </a:pPr>
            <a:r>
              <a:rPr lang="fr-FR" b="1" dirty="0" smtClean="0"/>
              <a:t>          "</a:t>
            </a:r>
            <a:r>
              <a:rPr lang="fr-FR" b="1" dirty="0" err="1" smtClean="0"/>
              <a:t>age</a:t>
            </a:r>
            <a:r>
              <a:rPr lang="fr-FR" b="1" dirty="0" smtClean="0"/>
              <a:t>"</a:t>
            </a:r>
            <a:r>
              <a:rPr lang="fr-FR" dirty="0" smtClean="0"/>
              <a:t>: 24</a:t>
            </a:r>
          </a:p>
          <a:p>
            <a:pPr>
              <a:buNone/>
            </a:pPr>
            <a:r>
              <a:rPr lang="fr-FR" b="1" dirty="0" smtClean="0"/>
              <a:t>    }</a:t>
            </a:r>
            <a:endParaRPr lang="fr-FR" dirty="0" smtClean="0"/>
          </a:p>
          <a:p>
            <a:pPr>
              <a:buNone/>
            </a:pPr>
            <a:endParaRPr lang="fr-FR" dirty="0" smtClean="0"/>
          </a:p>
          <a:p>
            <a:endParaRPr lang="fr-FR" dirty="0"/>
          </a:p>
        </p:txBody>
      </p:sp>
    </p:spTree>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164</a:t>
            </a:fld>
            <a:endParaRPr lang="fr-FR"/>
          </a:p>
        </p:txBody>
      </p:sp>
      <p:sp>
        <p:nvSpPr>
          <p:cNvPr id="3" name="Espace réservé du contenu 2"/>
          <p:cNvSpPr>
            <a:spLocks noGrp="1"/>
          </p:cNvSpPr>
          <p:nvPr>
            <p:ph sz="quarter" idx="1"/>
          </p:nvPr>
        </p:nvSpPr>
        <p:spPr/>
        <p:txBody>
          <a:bodyPr/>
          <a:lstStyle/>
          <a:p>
            <a:r>
              <a:rPr lang="fr-FR" dirty="0" smtClean="0"/>
              <a:t>5. Date</a:t>
            </a:r>
          </a:p>
          <a:p>
            <a:pPr>
              <a:buNone/>
            </a:pPr>
            <a:r>
              <a:rPr lang="fr-FR" b="1" dirty="0" smtClean="0"/>
              <a:t>        {</a:t>
            </a:r>
            <a:endParaRPr lang="fr-FR" dirty="0" smtClean="0"/>
          </a:p>
          <a:p>
            <a:pPr>
              <a:buNone/>
            </a:pPr>
            <a:r>
              <a:rPr lang="fr-FR" b="1" dirty="0" smtClean="0"/>
              <a:t>            "</a:t>
            </a:r>
            <a:r>
              <a:rPr lang="fr-FR" b="1" dirty="0" err="1" smtClean="0"/>
              <a:t>DateNaissance</a:t>
            </a:r>
            <a:r>
              <a:rPr lang="fr-FR" b="1" dirty="0" smtClean="0"/>
              <a:t>"</a:t>
            </a:r>
            <a:r>
              <a:rPr lang="fr-FR" dirty="0" smtClean="0"/>
              <a:t>: "1996-01-25"</a:t>
            </a:r>
          </a:p>
          <a:p>
            <a:pPr>
              <a:buNone/>
            </a:pPr>
            <a:r>
              <a:rPr lang="fr-FR" b="1" dirty="0" smtClean="0"/>
              <a:t>          }</a:t>
            </a:r>
          </a:p>
          <a:p>
            <a:r>
              <a:rPr lang="en-US" dirty="0" smtClean="0"/>
              <a:t>6.Boolean</a:t>
            </a:r>
          </a:p>
          <a:p>
            <a:pPr>
              <a:buNone/>
            </a:pPr>
            <a:r>
              <a:rPr lang="en-US" b="1" dirty="0" smtClean="0"/>
              <a:t>        {</a:t>
            </a:r>
            <a:endParaRPr lang="en-US" dirty="0" smtClean="0"/>
          </a:p>
          <a:p>
            <a:pPr>
              <a:buNone/>
            </a:pPr>
            <a:r>
              <a:rPr lang="en-US" b="1" dirty="0" smtClean="0"/>
              <a:t>            "open"</a:t>
            </a:r>
            <a:r>
              <a:rPr lang="en-US" dirty="0" smtClean="0"/>
              <a:t>: true,</a:t>
            </a:r>
          </a:p>
          <a:p>
            <a:pPr>
              <a:buNone/>
            </a:pPr>
            <a:r>
              <a:rPr lang="en-US" b="1" dirty="0" smtClean="0"/>
              <a:t>            "close"</a:t>
            </a:r>
            <a:r>
              <a:rPr lang="en-US" dirty="0" smtClean="0"/>
              <a:t>: false</a:t>
            </a:r>
          </a:p>
          <a:p>
            <a:pPr>
              <a:buNone/>
            </a:pPr>
            <a:r>
              <a:rPr lang="en-US" b="1" dirty="0" smtClean="0"/>
              <a:t>         }</a:t>
            </a:r>
            <a:endParaRPr lang="en-US" dirty="0" smtClean="0"/>
          </a:p>
          <a:p>
            <a:pPr>
              <a:buNone/>
            </a:pPr>
            <a:endParaRPr lang="fr-FR" dirty="0" smtClean="0"/>
          </a:p>
          <a:p>
            <a:endParaRPr lang="fr-FR" dirty="0"/>
          </a:p>
        </p:txBody>
      </p:sp>
    </p:spTree>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28662" y="0"/>
            <a:ext cx="7686700" cy="1703414"/>
          </a:xfrm>
        </p:spPr>
        <p:txBody>
          <a:bodyPr/>
          <a:lstStyle/>
          <a:p>
            <a:r>
              <a:rPr lang="fr-FR" sz="3200" dirty="0" smtClean="0"/>
              <a:t>Comment lire les différents types de structure JSON</a:t>
            </a:r>
            <a:r>
              <a:rPr lang="fr-FR" dirty="0" smtClean="0"/>
              <a:t/>
            </a:r>
            <a:br>
              <a:rPr lang="fr-FR" dirty="0" smtClean="0"/>
            </a:b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165</a:t>
            </a:fld>
            <a:endParaRPr lang="fr-FR"/>
          </a:p>
        </p:txBody>
      </p:sp>
      <p:pic>
        <p:nvPicPr>
          <p:cNvPr id="1026" name="Picture 2"/>
          <p:cNvPicPr>
            <a:picLocks noGrp="1" noChangeAspect="1" noChangeArrowheads="1"/>
          </p:cNvPicPr>
          <p:nvPr>
            <p:ph sz="quarter" idx="1"/>
          </p:nvPr>
        </p:nvPicPr>
        <p:blipFill>
          <a:blip r:embed="rId2"/>
          <a:stretch>
            <a:fillRect/>
          </a:stretch>
        </p:blipFill>
        <p:spPr bwMode="auto">
          <a:xfrm>
            <a:off x="2235200" y="2695575"/>
            <a:ext cx="5130800" cy="20764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166</a:t>
            </a:fld>
            <a:endParaRPr lang="fr-FR"/>
          </a:p>
        </p:txBody>
      </p:sp>
      <p:pic>
        <p:nvPicPr>
          <p:cNvPr id="2050" name="Picture 2"/>
          <p:cNvPicPr>
            <a:picLocks noGrp="1" noChangeAspect="1" noChangeArrowheads="1"/>
          </p:cNvPicPr>
          <p:nvPr>
            <p:ph sz="quarter" idx="1"/>
          </p:nvPr>
        </p:nvPicPr>
        <p:blipFill>
          <a:blip r:embed="rId2"/>
          <a:stretch>
            <a:fillRect/>
          </a:stretch>
        </p:blipFill>
        <p:spPr bwMode="auto">
          <a:xfrm>
            <a:off x="2247900" y="2085975"/>
            <a:ext cx="5105400" cy="32956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167</a:t>
            </a:fld>
            <a:endParaRPr lang="fr-FR"/>
          </a:p>
        </p:txBody>
      </p:sp>
      <p:sp>
        <p:nvSpPr>
          <p:cNvPr id="3" name="Espace réservé du contenu 2"/>
          <p:cNvSpPr>
            <a:spLocks noGrp="1"/>
          </p:cNvSpPr>
          <p:nvPr>
            <p:ph sz="quarter" idx="1"/>
          </p:nvPr>
        </p:nvSpPr>
        <p:spPr/>
        <p:txBody>
          <a:bodyPr/>
          <a:lstStyle/>
          <a:p>
            <a:endParaRPr lang="fr-FR"/>
          </a:p>
        </p:txBody>
      </p:sp>
      <p:pic>
        <p:nvPicPr>
          <p:cNvPr id="3074" name="Picture 2"/>
          <p:cNvPicPr>
            <a:picLocks noChangeAspect="1" noChangeArrowheads="1"/>
          </p:cNvPicPr>
          <p:nvPr/>
        </p:nvPicPr>
        <p:blipFill>
          <a:blip r:embed="rId2"/>
          <a:srcRect/>
          <a:stretch>
            <a:fillRect/>
          </a:stretch>
        </p:blipFill>
        <p:spPr bwMode="auto">
          <a:xfrm>
            <a:off x="857224" y="1571612"/>
            <a:ext cx="7648575" cy="49149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Exercice 1:</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168</a:t>
            </a:fld>
            <a:endParaRPr lang="fr-FR"/>
          </a:p>
        </p:txBody>
      </p:sp>
      <p:pic>
        <p:nvPicPr>
          <p:cNvPr id="5" name="Espace réservé du contenu 4"/>
          <p:cNvPicPr>
            <a:picLocks noGrp="1"/>
          </p:cNvPicPr>
          <p:nvPr>
            <p:ph sz="quarter" idx="1"/>
          </p:nvPr>
        </p:nvPicPr>
        <p:blipFill>
          <a:blip r:embed="rId2"/>
          <a:stretch>
            <a:fillRect/>
          </a:stretch>
        </p:blipFill>
        <p:spPr bwMode="auto">
          <a:xfrm>
            <a:off x="1382286" y="1447800"/>
            <a:ext cx="6836627" cy="4572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Donner l'équivalence en JSON :</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169</a:t>
            </a:fld>
            <a:endParaRPr lang="fr-FR"/>
          </a:p>
        </p:txBody>
      </p:sp>
      <p:sp>
        <p:nvSpPr>
          <p:cNvPr id="5" name="Rectangle 4"/>
          <p:cNvSpPr/>
          <p:nvPr/>
        </p:nvSpPr>
        <p:spPr>
          <a:xfrm>
            <a:off x="714348" y="1285860"/>
            <a:ext cx="8215370" cy="53578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dirty="0" smtClean="0"/>
              <a:t>{</a:t>
            </a:r>
          </a:p>
          <a:p>
            <a:r>
              <a:rPr lang="fr-FR" dirty="0" smtClean="0"/>
              <a:t>"annuaire " :</a:t>
            </a:r>
          </a:p>
          <a:p>
            <a:r>
              <a:rPr lang="fr-FR" dirty="0" smtClean="0"/>
              <a:t>          {</a:t>
            </a:r>
          </a:p>
          <a:p>
            <a:r>
              <a:rPr lang="fr-FR" dirty="0" smtClean="0"/>
              <a:t>                "personne " :</a:t>
            </a:r>
          </a:p>
          <a:p>
            <a:r>
              <a:rPr lang="fr-FR" dirty="0" smtClean="0"/>
              <a:t>                                      [</a:t>
            </a:r>
          </a:p>
          <a:p>
            <a:r>
              <a:rPr lang="fr-FR" dirty="0" smtClean="0"/>
              <a:t>             {</a:t>
            </a:r>
          </a:p>
          <a:p>
            <a:r>
              <a:rPr lang="fr-FR" dirty="0" smtClean="0"/>
              <a:t>"nom": "Safi" ,</a:t>
            </a:r>
          </a:p>
          <a:p>
            <a:r>
              <a:rPr lang="fr-FR" dirty="0" smtClean="0"/>
              <a:t>"</a:t>
            </a:r>
            <a:r>
              <a:rPr lang="fr-FR" dirty="0" err="1" smtClean="0"/>
              <a:t>prenom</a:t>
            </a:r>
            <a:r>
              <a:rPr lang="fr-FR" dirty="0" smtClean="0"/>
              <a:t>":"Amal",</a:t>
            </a:r>
          </a:p>
          <a:p>
            <a:r>
              <a:rPr lang="fr-FR" dirty="0" smtClean="0"/>
              <a:t>"</a:t>
            </a:r>
            <a:r>
              <a:rPr lang="fr-FR" dirty="0" err="1" smtClean="0"/>
              <a:t>telephone</a:t>
            </a:r>
            <a:r>
              <a:rPr lang="fr-FR" dirty="0" smtClean="0"/>
              <a:t>":"06765845",</a:t>
            </a:r>
          </a:p>
          <a:p>
            <a:r>
              <a:rPr lang="fr-FR" dirty="0" smtClean="0"/>
              <a:t>"email": " </a:t>
            </a:r>
            <a:r>
              <a:rPr lang="fr-FR" dirty="0" smtClean="0">
                <a:hlinkClick r:id="rId2"/>
              </a:rPr>
              <a:t>safi@gmail.com</a:t>
            </a:r>
            <a:r>
              <a:rPr lang="fr-FR" dirty="0" smtClean="0"/>
              <a:t> "</a:t>
            </a:r>
          </a:p>
          <a:p>
            <a:r>
              <a:rPr lang="fr-FR" dirty="0" smtClean="0"/>
              <a:t>             },</a:t>
            </a:r>
          </a:p>
          <a:p>
            <a:r>
              <a:rPr lang="fr-FR" dirty="0" smtClean="0"/>
              <a:t>            {</a:t>
            </a:r>
          </a:p>
          <a:p>
            <a:r>
              <a:rPr lang="fr-FR" dirty="0" smtClean="0"/>
              <a:t>"nom": "</a:t>
            </a:r>
            <a:r>
              <a:rPr lang="fr-FR" dirty="0" err="1" smtClean="0"/>
              <a:t>alaoui</a:t>
            </a:r>
            <a:r>
              <a:rPr lang="fr-FR" dirty="0" smtClean="0"/>
              <a:t>" ,</a:t>
            </a:r>
          </a:p>
          <a:p>
            <a:r>
              <a:rPr lang="fr-FR" dirty="0" smtClean="0"/>
              <a:t>"</a:t>
            </a:r>
            <a:r>
              <a:rPr lang="fr-FR" dirty="0" err="1" smtClean="0"/>
              <a:t>prenom</a:t>
            </a:r>
            <a:r>
              <a:rPr lang="fr-FR" dirty="0" smtClean="0"/>
              <a:t>":"</a:t>
            </a:r>
            <a:r>
              <a:rPr lang="fr-FR" dirty="0" err="1" smtClean="0"/>
              <a:t>amin</a:t>
            </a:r>
            <a:r>
              <a:rPr lang="fr-FR" dirty="0" smtClean="0"/>
              <a:t>",</a:t>
            </a:r>
          </a:p>
          <a:p>
            <a:r>
              <a:rPr lang="fr-FR" dirty="0" smtClean="0"/>
              <a:t>"</a:t>
            </a:r>
            <a:r>
              <a:rPr lang="fr-FR" dirty="0" err="1" smtClean="0"/>
              <a:t>telephone</a:t>
            </a:r>
            <a:r>
              <a:rPr lang="fr-FR" dirty="0" smtClean="0"/>
              <a:t>":"06665845",</a:t>
            </a:r>
          </a:p>
          <a:p>
            <a:r>
              <a:rPr lang="fr-FR" dirty="0" smtClean="0"/>
              <a:t>"email": "alaoui@yahoo.fr"</a:t>
            </a:r>
          </a:p>
          <a:p>
            <a:r>
              <a:rPr lang="fr-FR" dirty="0" smtClean="0"/>
              <a:t>             }</a:t>
            </a:r>
          </a:p>
          <a:p>
            <a:r>
              <a:rPr lang="fr-FR" smtClean="0"/>
              <a:t>                                         ]</a:t>
            </a:r>
            <a:endParaRPr lang="fr-FR" dirty="0" smtClean="0"/>
          </a:p>
          <a:p>
            <a:r>
              <a:rPr lang="fr-FR" dirty="0" smtClean="0"/>
              <a:t>}</a:t>
            </a:r>
            <a:endParaRPr lang="fr-FR" dirty="0"/>
          </a:p>
        </p:txBody>
      </p:sp>
    </p:spTree>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TP- Lecteur Music</a:t>
            </a:r>
            <a:endParaRPr lang="fr-FR" dirty="0"/>
          </a:p>
        </p:txBody>
      </p:sp>
      <p:pic>
        <p:nvPicPr>
          <p:cNvPr id="1026" name="Picture 2"/>
          <p:cNvPicPr>
            <a:picLocks noChangeAspect="1" noChangeArrowheads="1"/>
          </p:cNvPicPr>
          <p:nvPr/>
        </p:nvPicPr>
        <p:blipFill>
          <a:blip r:embed="rId2"/>
          <a:srcRect/>
          <a:stretch>
            <a:fillRect/>
          </a:stretch>
        </p:blipFill>
        <p:spPr bwMode="auto">
          <a:xfrm>
            <a:off x="2786050" y="1285860"/>
            <a:ext cx="4095750" cy="52768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smtClean="0"/>
              <a:t>Albume.json</a:t>
            </a:r>
            <a:endParaRPr lang="fr-FR" dirty="0"/>
          </a:p>
        </p:txBody>
      </p:sp>
      <p:pic>
        <p:nvPicPr>
          <p:cNvPr id="2050" name="Picture 2"/>
          <p:cNvPicPr>
            <a:picLocks noChangeAspect="1" noChangeArrowheads="1"/>
          </p:cNvPicPr>
          <p:nvPr/>
        </p:nvPicPr>
        <p:blipFill>
          <a:blip r:embed="rId2"/>
          <a:srcRect/>
          <a:stretch>
            <a:fillRect/>
          </a:stretch>
        </p:blipFill>
        <p:spPr bwMode="auto">
          <a:xfrm>
            <a:off x="399364" y="2428868"/>
            <a:ext cx="8744636" cy="237649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Sérialisation / </a:t>
            </a:r>
            <a:r>
              <a:rPr lang="fr-FR" dirty="0" err="1" smtClean="0"/>
              <a:t>Dessérialisation</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172</a:t>
            </a:fld>
            <a:endParaRPr lang="fr-FR"/>
          </a:p>
        </p:txBody>
      </p:sp>
      <p:sp>
        <p:nvSpPr>
          <p:cNvPr id="5" name="Ellipse 4"/>
          <p:cNvSpPr/>
          <p:nvPr/>
        </p:nvSpPr>
        <p:spPr>
          <a:xfrm>
            <a:off x="857224" y="2928934"/>
            <a:ext cx="1714512" cy="1857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Objet </a:t>
            </a:r>
            <a:endParaRPr lang="fr-FR" dirty="0"/>
          </a:p>
        </p:txBody>
      </p:sp>
      <p:sp>
        <p:nvSpPr>
          <p:cNvPr id="7" name="Ellipse 6"/>
          <p:cNvSpPr/>
          <p:nvPr/>
        </p:nvSpPr>
        <p:spPr>
          <a:xfrm>
            <a:off x="6429388" y="3000372"/>
            <a:ext cx="1714512" cy="1857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Chaine de caractères JSON </a:t>
            </a:r>
            <a:endParaRPr lang="fr-FR" dirty="0"/>
          </a:p>
        </p:txBody>
      </p:sp>
      <p:sp>
        <p:nvSpPr>
          <p:cNvPr id="9" name="Flèche droite 8"/>
          <p:cNvSpPr/>
          <p:nvPr/>
        </p:nvSpPr>
        <p:spPr>
          <a:xfrm>
            <a:off x="2857488" y="2500306"/>
            <a:ext cx="3143272" cy="8572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Sérialisation</a:t>
            </a:r>
            <a:endParaRPr lang="fr-FR" dirty="0"/>
          </a:p>
        </p:txBody>
      </p:sp>
      <p:sp>
        <p:nvSpPr>
          <p:cNvPr id="10" name="Flèche gauche 9"/>
          <p:cNvSpPr/>
          <p:nvPr/>
        </p:nvSpPr>
        <p:spPr>
          <a:xfrm>
            <a:off x="2714612" y="4143380"/>
            <a:ext cx="3214710" cy="785818"/>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err="1" smtClean="0"/>
              <a:t>dessérialisation</a:t>
            </a:r>
            <a:endParaRPr lang="fr-FR" dirty="0"/>
          </a:p>
        </p:txBody>
      </p:sp>
    </p:spTree>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Fonctions</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173</a:t>
            </a:fld>
            <a:endParaRPr lang="fr-FR"/>
          </a:p>
        </p:txBody>
      </p:sp>
      <p:graphicFrame>
        <p:nvGraphicFramePr>
          <p:cNvPr id="5" name="Espace réservé du contenu 3"/>
          <p:cNvGraphicFramePr>
            <a:graphicFrameLocks noGrp="1"/>
          </p:cNvGraphicFramePr>
          <p:nvPr>
            <p:ph sz="quarter" idx="1"/>
          </p:nvPr>
        </p:nvGraphicFramePr>
        <p:xfrm>
          <a:off x="571472" y="2071678"/>
          <a:ext cx="8229600" cy="3643338"/>
        </p:xfrm>
        <a:graphic>
          <a:graphicData uri="http://schemas.openxmlformats.org/drawingml/2006/table">
            <a:tbl>
              <a:tblPr firstRow="1" bandRow="1">
                <a:tableStyleId>{FABFCF23-3B69-468F-B69F-88F6DE6A72F2}</a:tableStyleId>
              </a:tblPr>
              <a:tblGrid>
                <a:gridCol w="2743200"/>
                <a:gridCol w="2743200"/>
                <a:gridCol w="2743200"/>
              </a:tblGrid>
              <a:tr h="1214446">
                <a:tc>
                  <a:txBody>
                    <a:bodyPr/>
                    <a:lstStyle/>
                    <a:p>
                      <a:endParaRPr lang="fr-FR" dirty="0"/>
                    </a:p>
                  </a:txBody>
                  <a:tcPr/>
                </a:tc>
                <a:tc>
                  <a:txBody>
                    <a:bodyPr/>
                    <a:lstStyle/>
                    <a:p>
                      <a:r>
                        <a:rPr lang="fr-FR" dirty="0" smtClean="0"/>
                        <a:t>JavaScript</a:t>
                      </a:r>
                      <a:endParaRPr lang="fr-FR" dirty="0"/>
                    </a:p>
                  </a:txBody>
                  <a:tcPr/>
                </a:tc>
                <a:tc>
                  <a:txBody>
                    <a:bodyPr/>
                    <a:lstStyle/>
                    <a:p>
                      <a:r>
                        <a:rPr lang="fr-FR" dirty="0" smtClean="0"/>
                        <a:t>PHP</a:t>
                      </a:r>
                      <a:endParaRPr lang="fr-FR" dirty="0"/>
                    </a:p>
                  </a:txBody>
                  <a:tcPr/>
                </a:tc>
              </a:tr>
              <a:tr h="1214446">
                <a:tc>
                  <a:txBody>
                    <a:bodyPr/>
                    <a:lstStyle/>
                    <a:p>
                      <a:r>
                        <a:rPr lang="fr-FR" dirty="0" smtClean="0"/>
                        <a:t>Sérialisation</a:t>
                      </a:r>
                      <a:endParaRPr lang="fr-FR" dirty="0"/>
                    </a:p>
                  </a:txBody>
                  <a:tcPr/>
                </a:tc>
                <a:tc>
                  <a:txBody>
                    <a:bodyPr/>
                    <a:lstStyle/>
                    <a:p>
                      <a:r>
                        <a:rPr lang="fr-FR" dirty="0" err="1" smtClean="0"/>
                        <a:t>JSON.stringify</a:t>
                      </a:r>
                      <a:r>
                        <a:rPr lang="fr-FR" dirty="0" smtClean="0"/>
                        <a:t>()</a:t>
                      </a:r>
                      <a:endParaRPr lang="fr-FR" dirty="0"/>
                    </a:p>
                  </a:txBody>
                  <a:tcPr/>
                </a:tc>
                <a:tc>
                  <a:txBody>
                    <a:bodyPr/>
                    <a:lstStyle/>
                    <a:p>
                      <a:r>
                        <a:rPr lang="fr-FR" dirty="0" err="1" smtClean="0"/>
                        <a:t>json_encode</a:t>
                      </a:r>
                      <a:r>
                        <a:rPr lang="fr-FR" dirty="0" smtClean="0"/>
                        <a:t>()</a:t>
                      </a:r>
                      <a:endParaRPr lang="fr-FR" dirty="0"/>
                    </a:p>
                  </a:txBody>
                  <a:tcPr/>
                </a:tc>
              </a:tr>
              <a:tr h="1214446">
                <a:tc>
                  <a:txBody>
                    <a:bodyPr/>
                    <a:lstStyle/>
                    <a:p>
                      <a:r>
                        <a:rPr lang="fr-FR" dirty="0" err="1" smtClean="0"/>
                        <a:t>Desseérialisation</a:t>
                      </a:r>
                      <a:endParaRPr lang="fr-FR" dirty="0"/>
                    </a:p>
                  </a:txBody>
                  <a:tcPr/>
                </a:tc>
                <a:tc>
                  <a:txBody>
                    <a:bodyPr/>
                    <a:lstStyle/>
                    <a:p>
                      <a:r>
                        <a:rPr lang="fr-FR" sz="1800" b="0" i="0" kern="1200" dirty="0" err="1" smtClean="0">
                          <a:solidFill>
                            <a:schemeClr val="dk1"/>
                          </a:solidFill>
                          <a:latin typeface="+mn-lt"/>
                          <a:ea typeface="+mn-ea"/>
                          <a:cs typeface="+mn-cs"/>
                        </a:rPr>
                        <a:t>JSON.parse</a:t>
                      </a:r>
                      <a:r>
                        <a:rPr lang="fr-FR" sz="1800" b="0" i="0" kern="1200" dirty="0" smtClean="0">
                          <a:solidFill>
                            <a:schemeClr val="dk1"/>
                          </a:solidFill>
                          <a:latin typeface="+mn-lt"/>
                          <a:ea typeface="+mn-ea"/>
                          <a:cs typeface="+mn-cs"/>
                        </a:rPr>
                        <a:t>()</a:t>
                      </a:r>
                      <a:endParaRPr lang="fr-FR" dirty="0"/>
                    </a:p>
                  </a:txBody>
                  <a:tcPr/>
                </a:tc>
                <a:tc>
                  <a:txBody>
                    <a:bodyPr/>
                    <a:lstStyle/>
                    <a:p>
                      <a:r>
                        <a:rPr lang="fr-FR" dirty="0" err="1" smtClean="0"/>
                        <a:t>json_decode</a:t>
                      </a:r>
                      <a:r>
                        <a:rPr lang="fr-FR" dirty="0" smtClean="0"/>
                        <a:t>()</a:t>
                      </a:r>
                      <a:endParaRPr lang="fr-FR" dirty="0"/>
                    </a:p>
                  </a:txBody>
                  <a:tcPr/>
                </a:tc>
              </a:tr>
            </a:tbl>
          </a:graphicData>
        </a:graphic>
      </p:graphicFrame>
    </p:spTree>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14400" y="274638"/>
            <a:ext cx="7772400" cy="725470"/>
          </a:xfrm>
        </p:spPr>
        <p:txBody>
          <a:bodyPr/>
          <a:lstStyle/>
          <a:p>
            <a:r>
              <a:rPr lang="fr-FR" sz="3200" dirty="0" smtClean="0"/>
              <a:t>II-Retour JSON</a:t>
            </a:r>
            <a:endParaRPr lang="fr-FR" sz="3200"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174</a:t>
            </a:fld>
            <a:endParaRPr lang="fr-FR"/>
          </a:p>
        </p:txBody>
      </p:sp>
      <p:sp>
        <p:nvSpPr>
          <p:cNvPr id="5" name="Rectangle 2"/>
          <p:cNvSpPr>
            <a:spLocks noChangeArrowheads="1"/>
          </p:cNvSpPr>
          <p:nvPr/>
        </p:nvSpPr>
        <p:spPr bwMode="auto">
          <a:xfrm>
            <a:off x="5429256" y="357166"/>
            <a:ext cx="3357586" cy="628652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   &lt;script </a:t>
            </a:r>
            <a:r>
              <a:rPr kumimoji="0" lang="fr-FR" sz="1600" b="0" i="0" u="none" strike="noStrike" cap="none" normalizeH="0" baseline="0" dirty="0" err="1" smtClean="0">
                <a:ln>
                  <a:noFill/>
                </a:ln>
                <a:solidFill>
                  <a:srgbClr val="222222"/>
                </a:solidFill>
                <a:effectLst/>
                <a:latin typeface="Agency FB" pitchFamily="34" charset="0"/>
                <a:ea typeface="Arial" pitchFamily="34" charset="0"/>
                <a:cs typeface="Arial" pitchFamily="34" charset="0"/>
              </a:rPr>
              <a:t>laguage</a:t>
            </a: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="JavaScript"&gt;</a:t>
            </a:r>
          </a:p>
          <a:p>
            <a:pPr marL="0" marR="0" lvl="0" indent="0" algn="l" defTabSz="914400" rtl="0" eaLnBrk="1" fontAlgn="base" latinLnBrk="0" hangingPunct="1">
              <a:lnSpc>
                <a:spcPct val="100000"/>
              </a:lnSpc>
              <a:spcBef>
                <a:spcPct val="0"/>
              </a:spcBef>
              <a:spcAft>
                <a:spcPts val="1000"/>
              </a:spcAft>
              <a:buClrTx/>
              <a:buSzTx/>
              <a:buFontTx/>
              <a:buNone/>
              <a:tabLst/>
            </a:pP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        $(</a:t>
            </a:r>
            <a:r>
              <a:rPr kumimoji="0" lang="fr-FR" sz="1600" b="0" i="0" u="none" strike="noStrike" cap="none" normalizeH="0" baseline="0" dirty="0" err="1" smtClean="0">
                <a:ln>
                  <a:noFill/>
                </a:ln>
                <a:solidFill>
                  <a:srgbClr val="222222"/>
                </a:solidFill>
                <a:effectLst/>
                <a:latin typeface="Agency FB" pitchFamily="34" charset="0"/>
                <a:ea typeface="Arial" pitchFamily="34" charset="0"/>
                <a:cs typeface="Arial" pitchFamily="34" charset="0"/>
              </a:rPr>
              <a:t>function</a:t>
            </a: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a:t>
            </a:r>
          </a:p>
          <a:p>
            <a:pPr marL="0" marR="0" lvl="0" indent="0" algn="l" defTabSz="914400" rtl="0" eaLnBrk="1" fontAlgn="base" latinLnBrk="0" hangingPunct="1">
              <a:lnSpc>
                <a:spcPct val="100000"/>
              </a:lnSpc>
              <a:spcBef>
                <a:spcPct val="0"/>
              </a:spcBef>
              <a:spcAft>
                <a:spcPts val="1000"/>
              </a:spcAft>
              <a:buClrTx/>
              <a:buSzTx/>
              <a:buFontTx/>
              <a:buNone/>
              <a:tabLst/>
            </a:pP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              $('#</a:t>
            </a:r>
            <a:r>
              <a:rPr kumimoji="0" lang="fr-FR" sz="1600" b="0" i="0" u="none" strike="noStrike" cap="none" normalizeH="0" baseline="0" dirty="0" err="1" smtClean="0">
                <a:ln>
                  <a:noFill/>
                </a:ln>
                <a:solidFill>
                  <a:srgbClr val="222222"/>
                </a:solidFill>
                <a:effectLst/>
                <a:latin typeface="Agency FB" pitchFamily="34" charset="0"/>
                <a:ea typeface="Arial" pitchFamily="34" charset="0"/>
                <a:cs typeface="Arial" pitchFamily="34" charset="0"/>
              </a:rPr>
              <a:t>ivil</a:t>
            </a: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').change(</a:t>
            </a:r>
            <a:r>
              <a:rPr kumimoji="0" lang="fr-FR" sz="1600" b="0" i="0" u="none" strike="noStrike" cap="none" normalizeH="0" baseline="0" dirty="0" err="1" smtClean="0">
                <a:ln>
                  <a:noFill/>
                </a:ln>
                <a:solidFill>
                  <a:srgbClr val="222222"/>
                </a:solidFill>
                <a:effectLst/>
                <a:latin typeface="Agency FB" pitchFamily="34" charset="0"/>
                <a:ea typeface="Arial" pitchFamily="34" charset="0"/>
                <a:cs typeface="Arial" pitchFamily="34" charset="0"/>
              </a:rPr>
              <a:t>function</a:t>
            </a: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               var ville=$('#</a:t>
            </a:r>
            <a:r>
              <a:rPr kumimoji="0" lang="fr-FR" sz="1600" b="0" i="0" u="none" strike="noStrike" cap="none" normalizeH="0" baseline="0" dirty="0" err="1" smtClean="0">
                <a:ln>
                  <a:noFill/>
                </a:ln>
                <a:solidFill>
                  <a:srgbClr val="222222"/>
                </a:solidFill>
                <a:effectLst/>
                <a:latin typeface="Agency FB" pitchFamily="34" charset="0"/>
                <a:ea typeface="Arial" pitchFamily="34" charset="0"/>
                <a:cs typeface="Arial" pitchFamily="34" charset="0"/>
              </a:rPr>
              <a:t>ivil</a:t>
            </a: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').val();</a:t>
            </a:r>
          </a:p>
          <a:p>
            <a:pPr marL="0" marR="0" lvl="0" indent="0" algn="l" defTabSz="914400" rtl="0" eaLnBrk="1" fontAlgn="base" latinLnBrk="0" hangingPunct="1">
              <a:lnSpc>
                <a:spcPct val="100000"/>
              </a:lnSpc>
              <a:spcBef>
                <a:spcPct val="0"/>
              </a:spcBef>
              <a:spcAft>
                <a:spcPts val="1000"/>
              </a:spcAft>
              <a:buClrTx/>
              <a:buSzTx/>
              <a:buFontTx/>
              <a:buNone/>
              <a:tabLst/>
            </a:pP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    $.</a:t>
            </a:r>
            <a:r>
              <a:rPr kumimoji="0" lang="fr-FR" sz="1600" b="0" i="0" u="none" strike="noStrike" cap="none" normalizeH="0" baseline="0" dirty="0" err="1" smtClean="0">
                <a:ln>
                  <a:noFill/>
                </a:ln>
                <a:solidFill>
                  <a:srgbClr val="222222"/>
                </a:solidFill>
                <a:effectLst/>
                <a:latin typeface="Agency FB" pitchFamily="34" charset="0"/>
                <a:ea typeface="Arial" pitchFamily="34" charset="0"/>
                <a:cs typeface="Arial" pitchFamily="34" charset="0"/>
              </a:rPr>
              <a:t>ajax</a:t>
            </a: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     type: "POST",      url: "server.php", </a:t>
            </a:r>
          </a:p>
          <a:p>
            <a:pPr marL="0" marR="0" lvl="0" indent="0" algn="l" defTabSz="914400" rtl="0" eaLnBrk="1" fontAlgn="base" latinLnBrk="0" hangingPunct="1">
              <a:lnSpc>
                <a:spcPct val="100000"/>
              </a:lnSpc>
              <a:spcBef>
                <a:spcPct val="0"/>
              </a:spcBef>
              <a:spcAft>
                <a:spcPts val="1000"/>
              </a:spcAft>
              <a:buClrTx/>
              <a:buSzTx/>
              <a:buFontTx/>
              <a:buNone/>
              <a:tabLst/>
            </a:pP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     data: '</a:t>
            </a:r>
            <a:r>
              <a:rPr kumimoji="0" lang="fr-FR" sz="1600" b="0" i="0" u="none" strike="noStrike" cap="none" normalizeH="0" baseline="0" dirty="0" err="1" smtClean="0">
                <a:ln>
                  <a:noFill/>
                </a:ln>
                <a:solidFill>
                  <a:srgbClr val="222222"/>
                </a:solidFill>
                <a:effectLst/>
                <a:latin typeface="Agency FB" pitchFamily="34" charset="0"/>
                <a:ea typeface="Arial" pitchFamily="34" charset="0"/>
                <a:cs typeface="Arial" pitchFamily="34" charset="0"/>
              </a:rPr>
              <a:t>cvil</a:t>
            </a: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 + ville,</a:t>
            </a:r>
            <a:r>
              <a:rPr lang="fr-FR" sz="1600" dirty="0" smtClean="0">
                <a:solidFill>
                  <a:srgbClr val="222222"/>
                </a:solidFill>
                <a:latin typeface="Agency FB" pitchFamily="34" charset="0"/>
                <a:ea typeface="Arial" pitchFamily="34" charset="0"/>
                <a:cs typeface="Arial" pitchFamily="34" charset="0"/>
              </a:rPr>
              <a:t>     </a:t>
            </a:r>
            <a:r>
              <a:rPr lang="fr-FR" sz="1600" dirty="0" err="1" smtClean="0">
                <a:solidFill>
                  <a:srgbClr val="FF0000"/>
                </a:solidFill>
                <a:latin typeface="Agency FB" pitchFamily="34" charset="0"/>
                <a:ea typeface="Arial" pitchFamily="34" charset="0"/>
                <a:cs typeface="Arial" pitchFamily="34" charset="0"/>
              </a:rPr>
              <a:t>dataType</a:t>
            </a:r>
            <a:r>
              <a:rPr lang="fr-FR" sz="1600" dirty="0" smtClean="0">
                <a:solidFill>
                  <a:srgbClr val="FF0000"/>
                </a:solidFill>
                <a:latin typeface="Agency FB" pitchFamily="34" charset="0"/>
                <a:ea typeface="Arial" pitchFamily="34" charset="0"/>
                <a:cs typeface="Arial" pitchFamily="34" charset="0"/>
              </a:rPr>
              <a:t>: '</a:t>
            </a:r>
            <a:r>
              <a:rPr lang="fr-FR" sz="1600" dirty="0" err="1" smtClean="0">
                <a:solidFill>
                  <a:srgbClr val="FF0000"/>
                </a:solidFill>
                <a:latin typeface="Agency FB" pitchFamily="34" charset="0"/>
                <a:ea typeface="Arial" pitchFamily="34" charset="0"/>
                <a:cs typeface="Arial" pitchFamily="34" charset="0"/>
              </a:rPr>
              <a:t>json</a:t>
            </a:r>
            <a:r>
              <a:rPr lang="fr-FR" sz="1600" dirty="0" smtClean="0">
                <a:solidFill>
                  <a:srgbClr val="FF0000"/>
                </a:solidFill>
                <a:latin typeface="Agency FB" pitchFamily="34" charset="0"/>
                <a:ea typeface="Arial" pitchFamily="34" charset="0"/>
                <a:cs typeface="Arial" pitchFamily="34" charset="0"/>
              </a:rPr>
              <a:t>'</a:t>
            </a:r>
          </a:p>
          <a:p>
            <a:pPr marL="0" marR="0" lvl="0" indent="0" algn="l" defTabSz="914400" rtl="0" eaLnBrk="1" fontAlgn="base" latinLnBrk="0" hangingPunct="1">
              <a:lnSpc>
                <a:spcPct val="100000"/>
              </a:lnSpc>
              <a:spcBef>
                <a:spcPct val="0"/>
              </a:spcBef>
              <a:spcAft>
                <a:spcPts val="1000"/>
              </a:spcAft>
              <a:buClrTx/>
              <a:buSzTx/>
              <a:buFontTx/>
              <a:buNone/>
              <a:tabLst/>
            </a:pPr>
            <a:r>
              <a:rPr kumimoji="0" lang="fr-FR"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  </a:t>
            </a:r>
            <a:r>
              <a:rPr kumimoji="0" lang="en-US"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}).done(function(res){ </a:t>
            </a:r>
          </a:p>
          <a:p>
            <a:pPr>
              <a:spcAft>
                <a:spcPts val="1000"/>
              </a:spcAft>
            </a:pPr>
            <a:r>
              <a:rPr kumimoji="0" lang="en-US" sz="1600" b="0" i="0" u="none" strike="noStrike" cap="none" normalizeH="0" baseline="0" dirty="0" smtClean="0">
                <a:ln>
                  <a:noFill/>
                </a:ln>
                <a:solidFill>
                  <a:srgbClr val="222222"/>
                </a:solidFill>
                <a:effectLst/>
                <a:latin typeface="Agency FB" pitchFamily="34" charset="0"/>
                <a:ea typeface="Arial" pitchFamily="34" charset="0"/>
                <a:cs typeface="Arial" pitchFamily="34" charset="0"/>
              </a:rPr>
              <a:t> </a:t>
            </a:r>
            <a:r>
              <a:rPr lang="en-US" sz="1600" dirty="0" smtClean="0">
                <a:solidFill>
                  <a:srgbClr val="222222"/>
                </a:solidFill>
                <a:latin typeface="Agency FB" pitchFamily="34" charset="0"/>
                <a:ea typeface="Arial" pitchFamily="34" charset="0"/>
                <a:cs typeface="Arial" pitchFamily="34" charset="0"/>
              </a:rPr>
              <a:t>$('#</a:t>
            </a:r>
            <a:r>
              <a:rPr lang="en-US" sz="1600" dirty="0" err="1" smtClean="0">
                <a:solidFill>
                  <a:srgbClr val="222222"/>
                </a:solidFill>
                <a:latin typeface="Agency FB" pitchFamily="34" charset="0"/>
                <a:ea typeface="Arial" pitchFamily="34" charset="0"/>
                <a:cs typeface="Arial" pitchFamily="34" charset="0"/>
              </a:rPr>
              <a:t>ir</a:t>
            </a:r>
            <a:r>
              <a:rPr lang="en-US" sz="1600" dirty="0" smtClean="0">
                <a:solidFill>
                  <a:srgbClr val="222222"/>
                </a:solidFill>
                <a:latin typeface="Agency FB" pitchFamily="34" charset="0"/>
                <a:ea typeface="Arial" pitchFamily="34" charset="0"/>
                <a:cs typeface="Arial" pitchFamily="34" charset="0"/>
              </a:rPr>
              <a:t>').append("</a:t>
            </a:r>
            <a:r>
              <a:rPr lang="en-US" sz="1600" dirty="0" err="1" smtClean="0">
                <a:solidFill>
                  <a:srgbClr val="222222"/>
                </a:solidFill>
                <a:latin typeface="Agency FB" pitchFamily="34" charset="0"/>
                <a:ea typeface="Arial" pitchFamily="34" charset="0"/>
                <a:cs typeface="Arial" pitchFamily="34" charset="0"/>
              </a:rPr>
              <a:t>Stagiaire</a:t>
            </a:r>
            <a:r>
              <a:rPr lang="en-US" sz="1600" dirty="0" smtClean="0">
                <a:solidFill>
                  <a:srgbClr val="222222"/>
                </a:solidFill>
                <a:latin typeface="Agency FB" pitchFamily="34" charset="0"/>
                <a:ea typeface="Arial" pitchFamily="34" charset="0"/>
                <a:cs typeface="Arial" pitchFamily="34" charset="0"/>
              </a:rPr>
              <a:t> "+(</a:t>
            </a:r>
            <a:r>
              <a:rPr lang="en-US" sz="1600" dirty="0" err="1" smtClean="0">
                <a:solidFill>
                  <a:srgbClr val="222222"/>
                </a:solidFill>
                <a:latin typeface="Agency FB" pitchFamily="34" charset="0"/>
                <a:ea typeface="Arial" pitchFamily="34" charset="0"/>
                <a:cs typeface="Arial" pitchFamily="34" charset="0"/>
              </a:rPr>
              <a:t>i</a:t>
            </a:r>
            <a:r>
              <a:rPr lang="en-US" sz="1600" dirty="0" smtClean="0">
                <a:solidFill>
                  <a:srgbClr val="222222"/>
                </a:solidFill>
                <a:latin typeface="Agency FB" pitchFamily="34" charset="0"/>
                <a:ea typeface="Arial" pitchFamily="34" charset="0"/>
                <a:cs typeface="Arial" pitchFamily="34" charset="0"/>
              </a:rPr>
              <a:t>)+"&lt;</a:t>
            </a:r>
            <a:r>
              <a:rPr lang="en-US" sz="1600" dirty="0" err="1" smtClean="0">
                <a:solidFill>
                  <a:srgbClr val="222222"/>
                </a:solidFill>
                <a:latin typeface="Agency FB" pitchFamily="34" charset="0"/>
                <a:ea typeface="Arial" pitchFamily="34" charset="0"/>
                <a:cs typeface="Arial" pitchFamily="34" charset="0"/>
              </a:rPr>
              <a:t>br</a:t>
            </a:r>
            <a:r>
              <a:rPr lang="en-US" sz="1600" dirty="0" smtClean="0">
                <a:solidFill>
                  <a:srgbClr val="222222"/>
                </a:solidFill>
                <a:latin typeface="Agency FB" pitchFamily="34" charset="0"/>
                <a:ea typeface="Arial" pitchFamily="34" charset="0"/>
                <a:cs typeface="Arial" pitchFamily="34" charset="0"/>
              </a:rPr>
              <a:t>/&gt;");</a:t>
            </a:r>
            <a:endParaRPr lang="fr-FR" sz="1600" dirty="0" smtClean="0">
              <a:solidFill>
                <a:srgbClr val="222222"/>
              </a:solidFill>
              <a:latin typeface="Agency FB" pitchFamily="34" charset="0"/>
              <a:ea typeface="Arial" pitchFamily="34" charset="0"/>
              <a:cs typeface="Arial" pitchFamily="34" charset="0"/>
            </a:endParaRPr>
          </a:p>
          <a:p>
            <a:pPr>
              <a:spcAft>
                <a:spcPts val="1000"/>
              </a:spcAft>
            </a:pPr>
            <a:r>
              <a:rPr lang="en-US" sz="1600" dirty="0" smtClean="0">
                <a:solidFill>
                  <a:srgbClr val="222222"/>
                </a:solidFill>
                <a:latin typeface="Agency FB" pitchFamily="34" charset="0"/>
                <a:ea typeface="Arial" pitchFamily="34" charset="0"/>
                <a:cs typeface="Arial" pitchFamily="34" charset="0"/>
              </a:rPr>
              <a:t>         $('#</a:t>
            </a:r>
            <a:r>
              <a:rPr lang="en-US" sz="1600" dirty="0" err="1" smtClean="0">
                <a:solidFill>
                  <a:srgbClr val="222222"/>
                </a:solidFill>
                <a:latin typeface="Agency FB" pitchFamily="34" charset="0"/>
                <a:ea typeface="Arial" pitchFamily="34" charset="0"/>
                <a:cs typeface="Arial" pitchFamily="34" charset="0"/>
              </a:rPr>
              <a:t>ir</a:t>
            </a:r>
            <a:r>
              <a:rPr lang="en-US" sz="1600" dirty="0" smtClean="0">
                <a:solidFill>
                  <a:srgbClr val="222222"/>
                </a:solidFill>
                <a:latin typeface="Agency FB" pitchFamily="34" charset="0"/>
                <a:ea typeface="Arial" pitchFamily="34" charset="0"/>
                <a:cs typeface="Arial" pitchFamily="34" charset="0"/>
              </a:rPr>
              <a:t>').append("</a:t>
            </a:r>
            <a:r>
              <a:rPr lang="en-US" sz="1600" dirty="0" err="1" smtClean="0">
                <a:solidFill>
                  <a:srgbClr val="222222"/>
                </a:solidFill>
                <a:latin typeface="Agency FB" pitchFamily="34" charset="0"/>
                <a:ea typeface="Arial" pitchFamily="34" charset="0"/>
                <a:cs typeface="Arial" pitchFamily="34" charset="0"/>
              </a:rPr>
              <a:t>Cin</a:t>
            </a:r>
            <a:r>
              <a:rPr lang="en-US" sz="1600" dirty="0" smtClean="0">
                <a:solidFill>
                  <a:srgbClr val="222222"/>
                </a:solidFill>
                <a:latin typeface="Agency FB" pitchFamily="34" charset="0"/>
                <a:ea typeface="Arial" pitchFamily="34" charset="0"/>
                <a:cs typeface="Arial" pitchFamily="34" charset="0"/>
              </a:rPr>
              <a:t>:"+ </a:t>
            </a:r>
            <a:r>
              <a:rPr lang="en-US" sz="1600" dirty="0" err="1" smtClean="0">
                <a:solidFill>
                  <a:srgbClr val="222222"/>
                </a:solidFill>
                <a:latin typeface="Agency FB" pitchFamily="34" charset="0"/>
                <a:ea typeface="Arial" pitchFamily="34" charset="0"/>
                <a:cs typeface="Arial" pitchFamily="34" charset="0"/>
              </a:rPr>
              <a:t>res.stagiaires</a:t>
            </a:r>
            <a:r>
              <a:rPr lang="en-US" sz="1600" dirty="0" smtClean="0">
                <a:solidFill>
                  <a:srgbClr val="222222"/>
                </a:solidFill>
                <a:latin typeface="Agency FB" pitchFamily="34" charset="0"/>
                <a:ea typeface="Arial" pitchFamily="34" charset="0"/>
                <a:cs typeface="Arial" pitchFamily="34" charset="0"/>
              </a:rPr>
              <a:t>[</a:t>
            </a:r>
            <a:r>
              <a:rPr lang="en-US" sz="1600" dirty="0" err="1" smtClean="0">
                <a:solidFill>
                  <a:srgbClr val="222222"/>
                </a:solidFill>
                <a:latin typeface="Agency FB" pitchFamily="34" charset="0"/>
                <a:ea typeface="Arial" pitchFamily="34" charset="0"/>
                <a:cs typeface="Arial" pitchFamily="34" charset="0"/>
              </a:rPr>
              <a:t>i</a:t>
            </a:r>
            <a:r>
              <a:rPr lang="en-US" sz="1600" dirty="0" smtClean="0">
                <a:solidFill>
                  <a:srgbClr val="222222"/>
                </a:solidFill>
                <a:latin typeface="Agency FB" pitchFamily="34" charset="0"/>
                <a:ea typeface="Arial" pitchFamily="34" charset="0"/>
                <a:cs typeface="Arial" pitchFamily="34" charset="0"/>
              </a:rPr>
              <a:t>].</a:t>
            </a:r>
            <a:r>
              <a:rPr lang="en-US" sz="1600" dirty="0" err="1" smtClean="0">
                <a:solidFill>
                  <a:srgbClr val="222222"/>
                </a:solidFill>
                <a:latin typeface="Agency FB" pitchFamily="34" charset="0"/>
                <a:ea typeface="Arial" pitchFamily="34" charset="0"/>
                <a:cs typeface="Arial" pitchFamily="34" charset="0"/>
              </a:rPr>
              <a:t>cin</a:t>
            </a:r>
            <a:r>
              <a:rPr lang="en-US" sz="1600" dirty="0" smtClean="0">
                <a:solidFill>
                  <a:srgbClr val="222222"/>
                </a:solidFill>
                <a:latin typeface="Agency FB" pitchFamily="34" charset="0"/>
                <a:ea typeface="Arial" pitchFamily="34" charset="0"/>
                <a:cs typeface="Arial" pitchFamily="34" charset="0"/>
              </a:rPr>
              <a:t>+"&lt;</a:t>
            </a:r>
            <a:r>
              <a:rPr lang="en-US" sz="1600" dirty="0" err="1" smtClean="0">
                <a:solidFill>
                  <a:srgbClr val="222222"/>
                </a:solidFill>
                <a:latin typeface="Agency FB" pitchFamily="34" charset="0"/>
                <a:ea typeface="Arial" pitchFamily="34" charset="0"/>
                <a:cs typeface="Arial" pitchFamily="34" charset="0"/>
              </a:rPr>
              <a:t>br</a:t>
            </a:r>
            <a:r>
              <a:rPr lang="en-US" sz="1600" dirty="0" smtClean="0">
                <a:solidFill>
                  <a:srgbClr val="222222"/>
                </a:solidFill>
                <a:latin typeface="Agency FB" pitchFamily="34" charset="0"/>
                <a:ea typeface="Arial" pitchFamily="34" charset="0"/>
                <a:cs typeface="Arial" pitchFamily="34" charset="0"/>
              </a:rPr>
              <a:t>/&gt;");</a:t>
            </a:r>
            <a:endParaRPr lang="fr-FR" sz="1600" dirty="0" smtClean="0">
              <a:solidFill>
                <a:srgbClr val="222222"/>
              </a:solidFill>
              <a:latin typeface="Agency FB" pitchFamily="34" charset="0"/>
              <a:ea typeface="Arial" pitchFamily="34" charset="0"/>
              <a:cs typeface="Arial" pitchFamily="34" charset="0"/>
            </a:endParaRPr>
          </a:p>
          <a:p>
            <a:pPr>
              <a:spcAft>
                <a:spcPts val="1000"/>
              </a:spcAft>
            </a:pPr>
            <a:r>
              <a:rPr lang="en-US" sz="1600" dirty="0" smtClean="0">
                <a:solidFill>
                  <a:srgbClr val="222222"/>
                </a:solidFill>
                <a:latin typeface="Agency FB" pitchFamily="34" charset="0"/>
                <a:ea typeface="Arial" pitchFamily="34" charset="0"/>
                <a:cs typeface="Arial" pitchFamily="34" charset="0"/>
              </a:rPr>
              <a:t>    $('#</a:t>
            </a:r>
            <a:r>
              <a:rPr lang="en-US" sz="1600" dirty="0" err="1" smtClean="0">
                <a:solidFill>
                  <a:srgbClr val="222222"/>
                </a:solidFill>
                <a:latin typeface="Agency FB" pitchFamily="34" charset="0"/>
                <a:ea typeface="Arial" pitchFamily="34" charset="0"/>
                <a:cs typeface="Arial" pitchFamily="34" charset="0"/>
              </a:rPr>
              <a:t>ir</a:t>
            </a:r>
            <a:r>
              <a:rPr lang="en-US" sz="1600" dirty="0" smtClean="0">
                <a:solidFill>
                  <a:srgbClr val="222222"/>
                </a:solidFill>
                <a:latin typeface="Agency FB" pitchFamily="34" charset="0"/>
                <a:ea typeface="Arial" pitchFamily="34" charset="0"/>
                <a:cs typeface="Arial" pitchFamily="34" charset="0"/>
              </a:rPr>
              <a:t>').append("Nom:"+ </a:t>
            </a:r>
            <a:r>
              <a:rPr lang="en-US" sz="1600" dirty="0" err="1" smtClean="0">
                <a:solidFill>
                  <a:srgbClr val="222222"/>
                </a:solidFill>
                <a:latin typeface="Agency FB" pitchFamily="34" charset="0"/>
                <a:ea typeface="Arial" pitchFamily="34" charset="0"/>
                <a:cs typeface="Arial" pitchFamily="34" charset="0"/>
              </a:rPr>
              <a:t>res.stagiaires</a:t>
            </a:r>
            <a:r>
              <a:rPr lang="en-US" sz="1600" dirty="0" smtClean="0">
                <a:solidFill>
                  <a:srgbClr val="222222"/>
                </a:solidFill>
                <a:latin typeface="Agency FB" pitchFamily="34" charset="0"/>
                <a:ea typeface="Arial" pitchFamily="34" charset="0"/>
                <a:cs typeface="Arial" pitchFamily="34" charset="0"/>
              </a:rPr>
              <a:t>[</a:t>
            </a:r>
            <a:r>
              <a:rPr lang="en-US" sz="1600" dirty="0" err="1" smtClean="0">
                <a:solidFill>
                  <a:srgbClr val="222222"/>
                </a:solidFill>
                <a:latin typeface="Agency FB" pitchFamily="34" charset="0"/>
                <a:ea typeface="Arial" pitchFamily="34" charset="0"/>
                <a:cs typeface="Arial" pitchFamily="34" charset="0"/>
              </a:rPr>
              <a:t>i</a:t>
            </a:r>
            <a:r>
              <a:rPr lang="en-US" sz="1600" dirty="0" smtClean="0">
                <a:solidFill>
                  <a:srgbClr val="222222"/>
                </a:solidFill>
                <a:latin typeface="Agency FB" pitchFamily="34" charset="0"/>
                <a:ea typeface="Arial" pitchFamily="34" charset="0"/>
                <a:cs typeface="Arial" pitchFamily="34" charset="0"/>
              </a:rPr>
              <a:t>].nom+"&lt;</a:t>
            </a:r>
            <a:r>
              <a:rPr lang="en-US" sz="1600" dirty="0" err="1" smtClean="0">
                <a:solidFill>
                  <a:srgbClr val="222222"/>
                </a:solidFill>
                <a:latin typeface="Agency FB" pitchFamily="34" charset="0"/>
                <a:ea typeface="Arial" pitchFamily="34" charset="0"/>
                <a:cs typeface="Arial" pitchFamily="34" charset="0"/>
              </a:rPr>
              <a:t>br</a:t>
            </a:r>
            <a:r>
              <a:rPr lang="en-US" sz="1600" dirty="0" smtClean="0">
                <a:solidFill>
                  <a:srgbClr val="222222"/>
                </a:solidFill>
                <a:latin typeface="Agency FB" pitchFamily="34" charset="0"/>
                <a:ea typeface="Arial" pitchFamily="34" charset="0"/>
                <a:cs typeface="Arial" pitchFamily="34" charset="0"/>
              </a:rPr>
              <a:t>/&gt;");</a:t>
            </a:r>
            <a:endParaRPr lang="fr-FR" sz="1600" dirty="0" smtClean="0">
              <a:solidFill>
                <a:srgbClr val="222222"/>
              </a:solidFill>
              <a:latin typeface="Agency FB" pitchFamily="34" charset="0"/>
              <a:ea typeface="Arial" pitchFamily="34" charset="0"/>
              <a:cs typeface="Arial" pitchFamily="34" charset="0"/>
            </a:endParaRPr>
          </a:p>
          <a:p>
            <a:pPr>
              <a:spcAft>
                <a:spcPts val="1000"/>
              </a:spcAft>
            </a:pPr>
            <a:r>
              <a:rPr lang="en-US" sz="1600" dirty="0" smtClean="0">
                <a:solidFill>
                  <a:srgbClr val="222222"/>
                </a:solidFill>
                <a:latin typeface="Agency FB" pitchFamily="34" charset="0"/>
                <a:ea typeface="Arial" pitchFamily="34" charset="0"/>
                <a:cs typeface="Arial" pitchFamily="34" charset="0"/>
              </a:rPr>
              <a:t>    $('#</a:t>
            </a:r>
            <a:r>
              <a:rPr lang="en-US" sz="1600" dirty="0" err="1" smtClean="0">
                <a:solidFill>
                  <a:srgbClr val="222222"/>
                </a:solidFill>
                <a:latin typeface="Agency FB" pitchFamily="34" charset="0"/>
                <a:ea typeface="Arial" pitchFamily="34" charset="0"/>
                <a:cs typeface="Arial" pitchFamily="34" charset="0"/>
              </a:rPr>
              <a:t>ir</a:t>
            </a:r>
            <a:r>
              <a:rPr lang="en-US" sz="1600" dirty="0" smtClean="0">
                <a:solidFill>
                  <a:srgbClr val="222222"/>
                </a:solidFill>
                <a:latin typeface="Agency FB" pitchFamily="34" charset="0"/>
                <a:ea typeface="Arial" pitchFamily="34" charset="0"/>
                <a:cs typeface="Arial" pitchFamily="34" charset="0"/>
              </a:rPr>
              <a:t>').append("</a:t>
            </a:r>
            <a:r>
              <a:rPr lang="en-US" sz="1600" dirty="0" err="1" smtClean="0">
                <a:solidFill>
                  <a:srgbClr val="222222"/>
                </a:solidFill>
                <a:latin typeface="Agency FB" pitchFamily="34" charset="0"/>
                <a:ea typeface="Arial" pitchFamily="34" charset="0"/>
                <a:cs typeface="Arial" pitchFamily="34" charset="0"/>
              </a:rPr>
              <a:t>Groupe</a:t>
            </a:r>
            <a:r>
              <a:rPr lang="en-US" sz="1600" dirty="0" smtClean="0">
                <a:solidFill>
                  <a:srgbClr val="222222"/>
                </a:solidFill>
                <a:latin typeface="Agency FB" pitchFamily="34" charset="0"/>
                <a:ea typeface="Arial" pitchFamily="34" charset="0"/>
                <a:cs typeface="Arial" pitchFamily="34" charset="0"/>
              </a:rPr>
              <a:t>:"+ </a:t>
            </a:r>
            <a:r>
              <a:rPr lang="en-US" sz="1600" dirty="0" err="1" smtClean="0">
                <a:solidFill>
                  <a:srgbClr val="222222"/>
                </a:solidFill>
                <a:latin typeface="Agency FB" pitchFamily="34" charset="0"/>
                <a:ea typeface="Arial" pitchFamily="34" charset="0"/>
                <a:cs typeface="Arial" pitchFamily="34" charset="0"/>
              </a:rPr>
              <a:t>res.stagiaires</a:t>
            </a:r>
            <a:r>
              <a:rPr lang="en-US" sz="1600" dirty="0" smtClean="0">
                <a:solidFill>
                  <a:srgbClr val="222222"/>
                </a:solidFill>
                <a:latin typeface="Agency FB" pitchFamily="34" charset="0"/>
                <a:ea typeface="Arial" pitchFamily="34" charset="0"/>
                <a:cs typeface="Arial" pitchFamily="34" charset="0"/>
              </a:rPr>
              <a:t>[</a:t>
            </a:r>
            <a:r>
              <a:rPr lang="en-US" sz="1600" dirty="0" err="1" smtClean="0">
                <a:solidFill>
                  <a:srgbClr val="222222"/>
                </a:solidFill>
                <a:latin typeface="Agency FB" pitchFamily="34" charset="0"/>
                <a:ea typeface="Arial" pitchFamily="34" charset="0"/>
                <a:cs typeface="Arial" pitchFamily="34" charset="0"/>
              </a:rPr>
              <a:t>i</a:t>
            </a:r>
            <a:r>
              <a:rPr lang="en-US" sz="1600" dirty="0" smtClean="0">
                <a:solidFill>
                  <a:srgbClr val="222222"/>
                </a:solidFill>
                <a:latin typeface="Agency FB" pitchFamily="34" charset="0"/>
                <a:ea typeface="Arial" pitchFamily="34" charset="0"/>
                <a:cs typeface="Arial" pitchFamily="34" charset="0"/>
              </a:rPr>
              <a:t>].</a:t>
            </a:r>
            <a:r>
              <a:rPr lang="en-US" sz="1600" dirty="0" err="1" smtClean="0">
                <a:solidFill>
                  <a:srgbClr val="222222"/>
                </a:solidFill>
                <a:latin typeface="Agency FB" pitchFamily="34" charset="0"/>
                <a:ea typeface="Arial" pitchFamily="34" charset="0"/>
                <a:cs typeface="Arial" pitchFamily="34" charset="0"/>
              </a:rPr>
              <a:t>code_g</a:t>
            </a:r>
            <a:r>
              <a:rPr lang="en-US" sz="1600" dirty="0" smtClean="0">
                <a:solidFill>
                  <a:srgbClr val="222222"/>
                </a:solidFill>
                <a:latin typeface="Agency FB" pitchFamily="34" charset="0"/>
                <a:ea typeface="Arial" pitchFamily="34" charset="0"/>
                <a:cs typeface="Arial" pitchFamily="34" charset="0"/>
              </a:rPr>
              <a:t>+"&lt;</a:t>
            </a:r>
            <a:r>
              <a:rPr lang="en-US" sz="1600" dirty="0" err="1" smtClean="0">
                <a:solidFill>
                  <a:srgbClr val="222222"/>
                </a:solidFill>
                <a:latin typeface="Agency FB" pitchFamily="34" charset="0"/>
                <a:ea typeface="Arial" pitchFamily="34" charset="0"/>
                <a:cs typeface="Arial" pitchFamily="34" charset="0"/>
              </a:rPr>
              <a:t>br</a:t>
            </a:r>
            <a:r>
              <a:rPr lang="en-US" sz="1600" dirty="0" smtClean="0">
                <a:solidFill>
                  <a:srgbClr val="222222"/>
                </a:solidFill>
                <a:latin typeface="Agency FB" pitchFamily="34" charset="0"/>
                <a:ea typeface="Arial" pitchFamily="34" charset="0"/>
                <a:cs typeface="Arial" pitchFamily="34" charset="0"/>
              </a:rPr>
              <a:t>/&gt;");</a:t>
            </a:r>
          </a:p>
          <a:p>
            <a:pPr>
              <a:spcAft>
                <a:spcPts val="1000"/>
              </a:spcAft>
            </a:pPr>
            <a:r>
              <a:rPr lang="en-US" sz="1600" dirty="0" smtClean="0">
                <a:solidFill>
                  <a:srgbClr val="222222"/>
                </a:solidFill>
                <a:latin typeface="Agency FB" pitchFamily="34" charset="0"/>
                <a:ea typeface="Arial" pitchFamily="34" charset="0"/>
                <a:cs typeface="Arial" pitchFamily="34" charset="0"/>
              </a:rPr>
              <a:t>     </a:t>
            </a:r>
            <a:r>
              <a:rPr lang="fr-FR" sz="1600" dirty="0" smtClean="0">
                <a:solidFill>
                  <a:srgbClr val="222222"/>
                </a:solidFill>
                <a:latin typeface="Agency FB" pitchFamily="34" charset="0"/>
                <a:ea typeface="Arial" pitchFamily="34" charset="0"/>
                <a:cs typeface="Arial" pitchFamily="34" charset="0"/>
              </a:rPr>
              <a:t>}); </a:t>
            </a:r>
          </a:p>
          <a:p>
            <a:pPr>
              <a:spcAft>
                <a:spcPts val="1000"/>
              </a:spcAft>
            </a:pPr>
            <a:r>
              <a:rPr lang="fr-FR" sz="1600" dirty="0" smtClean="0">
                <a:solidFill>
                  <a:srgbClr val="222222"/>
                </a:solidFill>
                <a:latin typeface="Agency FB" pitchFamily="34" charset="0"/>
                <a:ea typeface="Arial" pitchFamily="34" charset="0"/>
                <a:cs typeface="Arial" pitchFamily="34" charset="0"/>
              </a:rPr>
              <a:t>                    })             });        &lt;/script&gt;</a:t>
            </a:r>
          </a:p>
        </p:txBody>
      </p:sp>
      <p:cxnSp>
        <p:nvCxnSpPr>
          <p:cNvPr id="7" name="Connecteur droit avec flèche 6"/>
          <p:cNvCxnSpPr/>
          <p:nvPr/>
        </p:nvCxnSpPr>
        <p:spPr>
          <a:xfrm rot="16200000" flipH="1">
            <a:off x="6929454" y="3786190"/>
            <a:ext cx="1214446" cy="78581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7715272" y="4857760"/>
            <a:ext cx="1000132" cy="428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JSON</a:t>
            </a:r>
            <a:endParaRPr lang="fr-FR" dirty="0"/>
          </a:p>
        </p:txBody>
      </p:sp>
      <p:sp>
        <p:nvSpPr>
          <p:cNvPr id="10" name="Rectangle 2"/>
          <p:cNvSpPr>
            <a:spLocks noChangeArrowheads="1"/>
          </p:cNvSpPr>
          <p:nvPr/>
        </p:nvSpPr>
        <p:spPr bwMode="auto">
          <a:xfrm>
            <a:off x="1071538" y="1071546"/>
            <a:ext cx="4143404" cy="5572164"/>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a:spcAft>
                <a:spcPts val="1000"/>
              </a:spcAft>
            </a:pPr>
            <a:r>
              <a:rPr lang="en-US" sz="1600" dirty="0" smtClean="0">
                <a:solidFill>
                  <a:srgbClr val="222222"/>
                </a:solidFill>
                <a:latin typeface="Agency FB" pitchFamily="34" charset="0"/>
                <a:ea typeface="Arial" pitchFamily="34" charset="0"/>
                <a:cs typeface="Arial" pitchFamily="34" charset="0"/>
              </a:rPr>
              <a:t>include 'Traitement.php';</a:t>
            </a:r>
            <a:endParaRPr lang="fr-FR" sz="1600" dirty="0" smtClean="0">
              <a:solidFill>
                <a:srgbClr val="222222"/>
              </a:solidFill>
              <a:latin typeface="Agency FB" pitchFamily="34" charset="0"/>
              <a:ea typeface="Arial" pitchFamily="34" charset="0"/>
              <a:cs typeface="Arial" pitchFamily="34" charset="0"/>
            </a:endParaRPr>
          </a:p>
          <a:p>
            <a:pPr>
              <a:spcAft>
                <a:spcPts val="1000"/>
              </a:spcAft>
            </a:pPr>
            <a:r>
              <a:rPr lang="en-US" sz="1600" dirty="0" smtClean="0">
                <a:solidFill>
                  <a:srgbClr val="222222"/>
                </a:solidFill>
                <a:latin typeface="Agency FB" pitchFamily="34" charset="0"/>
                <a:ea typeface="Arial" pitchFamily="34" charset="0"/>
                <a:cs typeface="Arial" pitchFamily="34" charset="0"/>
              </a:rPr>
              <a:t>if(</a:t>
            </a:r>
            <a:r>
              <a:rPr lang="en-US" sz="1600" dirty="0" err="1" smtClean="0">
                <a:solidFill>
                  <a:srgbClr val="222222"/>
                </a:solidFill>
                <a:latin typeface="Agency FB" pitchFamily="34" charset="0"/>
                <a:ea typeface="Arial" pitchFamily="34" charset="0"/>
                <a:cs typeface="Arial" pitchFamily="34" charset="0"/>
              </a:rPr>
              <a:t>isset</a:t>
            </a:r>
            <a:r>
              <a:rPr lang="en-US" sz="1600" dirty="0" smtClean="0">
                <a:solidFill>
                  <a:srgbClr val="222222"/>
                </a:solidFill>
                <a:latin typeface="Agency FB" pitchFamily="34" charset="0"/>
                <a:ea typeface="Arial" pitchFamily="34" charset="0"/>
                <a:cs typeface="Arial" pitchFamily="34" charset="0"/>
              </a:rPr>
              <a:t>($_POST['</a:t>
            </a:r>
            <a:r>
              <a:rPr lang="en-US" sz="1600" dirty="0" err="1" smtClean="0">
                <a:solidFill>
                  <a:srgbClr val="222222"/>
                </a:solidFill>
                <a:latin typeface="Agency FB" pitchFamily="34" charset="0"/>
                <a:ea typeface="Arial" pitchFamily="34" charset="0"/>
                <a:cs typeface="Arial" pitchFamily="34" charset="0"/>
              </a:rPr>
              <a:t>cgroupe</a:t>
            </a:r>
            <a:r>
              <a:rPr lang="en-US" sz="1600" dirty="0" smtClean="0">
                <a:solidFill>
                  <a:srgbClr val="222222"/>
                </a:solidFill>
                <a:latin typeface="Agency FB" pitchFamily="34" charset="0"/>
                <a:ea typeface="Arial" pitchFamily="34" charset="0"/>
                <a:cs typeface="Arial" pitchFamily="34" charset="0"/>
              </a:rPr>
              <a:t>']))</a:t>
            </a:r>
            <a:endParaRPr lang="fr-FR" sz="1600" dirty="0" smtClean="0">
              <a:solidFill>
                <a:srgbClr val="222222"/>
              </a:solidFill>
              <a:latin typeface="Agency FB" pitchFamily="34" charset="0"/>
              <a:ea typeface="Arial" pitchFamily="34" charset="0"/>
              <a:cs typeface="Arial" pitchFamily="34" charset="0"/>
            </a:endParaRPr>
          </a:p>
          <a:p>
            <a:pPr>
              <a:spcAft>
                <a:spcPts val="1000"/>
              </a:spcAft>
            </a:pPr>
            <a:r>
              <a:rPr lang="en-US" sz="1600" dirty="0" smtClean="0">
                <a:solidFill>
                  <a:srgbClr val="222222"/>
                </a:solidFill>
                <a:latin typeface="Agency FB" pitchFamily="34" charset="0"/>
                <a:ea typeface="Arial" pitchFamily="34" charset="0"/>
                <a:cs typeface="Arial" pitchFamily="34" charset="0"/>
              </a:rPr>
              <a:t>{</a:t>
            </a:r>
            <a:endParaRPr lang="fr-FR" sz="1600" dirty="0" smtClean="0">
              <a:solidFill>
                <a:srgbClr val="222222"/>
              </a:solidFill>
              <a:latin typeface="Agency FB" pitchFamily="34" charset="0"/>
              <a:ea typeface="Arial" pitchFamily="34" charset="0"/>
              <a:cs typeface="Arial" pitchFamily="34" charset="0"/>
            </a:endParaRPr>
          </a:p>
          <a:p>
            <a:pPr>
              <a:spcAft>
                <a:spcPts val="1000"/>
              </a:spcAft>
            </a:pPr>
            <a:r>
              <a:rPr lang="en-US" sz="1600" dirty="0" smtClean="0">
                <a:solidFill>
                  <a:srgbClr val="222222"/>
                </a:solidFill>
                <a:latin typeface="Agency FB" pitchFamily="34" charset="0"/>
                <a:ea typeface="Arial" pitchFamily="34" charset="0"/>
                <a:cs typeface="Arial" pitchFamily="34" charset="0"/>
              </a:rPr>
              <a:t>$</a:t>
            </a:r>
            <a:r>
              <a:rPr lang="en-US" sz="1600" dirty="0" err="1" smtClean="0">
                <a:solidFill>
                  <a:srgbClr val="222222"/>
                </a:solidFill>
                <a:latin typeface="Agency FB" pitchFamily="34" charset="0"/>
                <a:ea typeface="Arial" pitchFamily="34" charset="0"/>
                <a:cs typeface="Arial" pitchFamily="34" charset="0"/>
              </a:rPr>
              <a:t>code_g</a:t>
            </a:r>
            <a:r>
              <a:rPr lang="en-US" sz="1600" dirty="0" smtClean="0">
                <a:solidFill>
                  <a:srgbClr val="222222"/>
                </a:solidFill>
                <a:latin typeface="Agency FB" pitchFamily="34" charset="0"/>
                <a:ea typeface="Arial" pitchFamily="34" charset="0"/>
                <a:cs typeface="Arial" pitchFamily="34" charset="0"/>
              </a:rPr>
              <a:t> = $_POST['</a:t>
            </a:r>
            <a:r>
              <a:rPr lang="en-US" sz="1600" dirty="0" err="1" smtClean="0">
                <a:solidFill>
                  <a:srgbClr val="222222"/>
                </a:solidFill>
                <a:latin typeface="Agency FB" pitchFamily="34" charset="0"/>
                <a:ea typeface="Arial" pitchFamily="34" charset="0"/>
                <a:cs typeface="Arial" pitchFamily="34" charset="0"/>
              </a:rPr>
              <a:t>cgroupe</a:t>
            </a:r>
            <a:r>
              <a:rPr lang="en-US" sz="1600" dirty="0" smtClean="0">
                <a:solidFill>
                  <a:srgbClr val="222222"/>
                </a:solidFill>
                <a:latin typeface="Agency FB" pitchFamily="34" charset="0"/>
                <a:ea typeface="Arial" pitchFamily="34" charset="0"/>
                <a:cs typeface="Arial" pitchFamily="34" charset="0"/>
              </a:rPr>
              <a:t>'];</a:t>
            </a:r>
            <a:endParaRPr lang="fr-FR" sz="1600" dirty="0" smtClean="0">
              <a:solidFill>
                <a:srgbClr val="222222"/>
              </a:solidFill>
              <a:latin typeface="Agency FB" pitchFamily="34" charset="0"/>
              <a:ea typeface="Arial" pitchFamily="34" charset="0"/>
              <a:cs typeface="Arial" pitchFamily="34" charset="0"/>
            </a:endParaRPr>
          </a:p>
          <a:p>
            <a:pPr>
              <a:spcAft>
                <a:spcPts val="1000"/>
              </a:spcAft>
            </a:pPr>
            <a:r>
              <a:rPr lang="en-US" sz="1600" dirty="0" smtClean="0">
                <a:solidFill>
                  <a:srgbClr val="222222"/>
                </a:solidFill>
                <a:latin typeface="Agency FB" pitchFamily="34" charset="0"/>
                <a:ea typeface="Arial" pitchFamily="34" charset="0"/>
                <a:cs typeface="Arial" pitchFamily="34" charset="0"/>
              </a:rPr>
              <a:t>$</a:t>
            </a:r>
            <a:r>
              <a:rPr lang="en-US" sz="1600" dirty="0" err="1" smtClean="0">
                <a:solidFill>
                  <a:srgbClr val="222222"/>
                </a:solidFill>
                <a:latin typeface="Agency FB" pitchFamily="34" charset="0"/>
                <a:ea typeface="Arial" pitchFamily="34" charset="0"/>
                <a:cs typeface="Arial" pitchFamily="34" charset="0"/>
              </a:rPr>
              <a:t>curs_s</a:t>
            </a:r>
            <a:r>
              <a:rPr lang="en-US" sz="1600" dirty="0" smtClean="0">
                <a:solidFill>
                  <a:srgbClr val="222222"/>
                </a:solidFill>
                <a:latin typeface="Agency FB" pitchFamily="34" charset="0"/>
                <a:ea typeface="Arial" pitchFamily="34" charset="0"/>
                <a:cs typeface="Arial" pitchFamily="34" charset="0"/>
              </a:rPr>
              <a:t>= </a:t>
            </a:r>
            <a:r>
              <a:rPr lang="en-US" sz="1600" dirty="0" err="1" smtClean="0">
                <a:solidFill>
                  <a:srgbClr val="222222"/>
                </a:solidFill>
                <a:latin typeface="Agency FB" pitchFamily="34" charset="0"/>
                <a:ea typeface="Arial" pitchFamily="34" charset="0"/>
                <a:cs typeface="Arial" pitchFamily="34" charset="0"/>
              </a:rPr>
              <a:t>getstagiairesbygroup</a:t>
            </a:r>
            <a:r>
              <a:rPr lang="en-US" sz="1600" dirty="0" smtClean="0">
                <a:solidFill>
                  <a:srgbClr val="222222"/>
                </a:solidFill>
                <a:latin typeface="Agency FB" pitchFamily="34" charset="0"/>
                <a:ea typeface="Arial" pitchFamily="34" charset="0"/>
                <a:cs typeface="Arial" pitchFamily="34" charset="0"/>
              </a:rPr>
              <a:t>($</a:t>
            </a:r>
            <a:r>
              <a:rPr lang="en-US" sz="1600" dirty="0" err="1" smtClean="0">
                <a:solidFill>
                  <a:srgbClr val="222222"/>
                </a:solidFill>
                <a:latin typeface="Agency FB" pitchFamily="34" charset="0"/>
                <a:ea typeface="Arial" pitchFamily="34" charset="0"/>
                <a:cs typeface="Arial" pitchFamily="34" charset="0"/>
              </a:rPr>
              <a:t>code_g</a:t>
            </a:r>
            <a:r>
              <a:rPr lang="en-US" sz="1600" dirty="0" smtClean="0">
                <a:solidFill>
                  <a:srgbClr val="222222"/>
                </a:solidFill>
                <a:latin typeface="Agency FB" pitchFamily="34" charset="0"/>
                <a:ea typeface="Arial" pitchFamily="34" charset="0"/>
                <a:cs typeface="Arial" pitchFamily="34" charset="0"/>
              </a:rPr>
              <a:t>);</a:t>
            </a:r>
            <a:endParaRPr lang="fr-FR" sz="1600" dirty="0" smtClean="0">
              <a:solidFill>
                <a:srgbClr val="222222"/>
              </a:solidFill>
              <a:latin typeface="Agency FB" pitchFamily="34" charset="0"/>
              <a:ea typeface="Arial" pitchFamily="34" charset="0"/>
              <a:cs typeface="Arial" pitchFamily="34" charset="0"/>
            </a:endParaRPr>
          </a:p>
          <a:p>
            <a:pPr>
              <a:spcAft>
                <a:spcPts val="1000"/>
              </a:spcAft>
            </a:pPr>
            <a:r>
              <a:rPr lang="en-US" sz="1600" dirty="0" smtClean="0">
                <a:solidFill>
                  <a:srgbClr val="222222"/>
                </a:solidFill>
                <a:latin typeface="Agency FB" pitchFamily="34" charset="0"/>
                <a:ea typeface="Arial" pitchFamily="34" charset="0"/>
                <a:cs typeface="Arial" pitchFamily="34" charset="0"/>
              </a:rPr>
              <a:t>$</a:t>
            </a:r>
            <a:r>
              <a:rPr lang="en-US" sz="1600" dirty="0" err="1" smtClean="0">
                <a:solidFill>
                  <a:srgbClr val="222222"/>
                </a:solidFill>
                <a:latin typeface="Agency FB" pitchFamily="34" charset="0"/>
                <a:ea typeface="Arial" pitchFamily="34" charset="0"/>
                <a:cs typeface="Arial" pitchFamily="34" charset="0"/>
              </a:rPr>
              <a:t>reponse</a:t>
            </a:r>
            <a:r>
              <a:rPr lang="en-US" sz="1600" dirty="0" smtClean="0">
                <a:solidFill>
                  <a:srgbClr val="222222"/>
                </a:solidFill>
                <a:latin typeface="Agency FB" pitchFamily="34" charset="0"/>
                <a:ea typeface="Arial" pitchFamily="34" charset="0"/>
                <a:cs typeface="Arial" pitchFamily="34" charset="0"/>
              </a:rPr>
              <a:t>["</a:t>
            </a:r>
            <a:r>
              <a:rPr lang="en-US" sz="1600" dirty="0" err="1" smtClean="0">
                <a:solidFill>
                  <a:srgbClr val="222222"/>
                </a:solidFill>
                <a:latin typeface="Agency FB" pitchFamily="34" charset="0"/>
                <a:ea typeface="Arial" pitchFamily="34" charset="0"/>
                <a:cs typeface="Arial" pitchFamily="34" charset="0"/>
              </a:rPr>
              <a:t>stagiaires</a:t>
            </a:r>
            <a:r>
              <a:rPr lang="en-US" sz="1600" dirty="0" smtClean="0">
                <a:solidFill>
                  <a:srgbClr val="222222"/>
                </a:solidFill>
                <a:latin typeface="Agency FB" pitchFamily="34" charset="0"/>
                <a:ea typeface="Arial" pitchFamily="34" charset="0"/>
                <a:cs typeface="Arial" pitchFamily="34" charset="0"/>
              </a:rPr>
              <a:t>"] = array();</a:t>
            </a:r>
            <a:endParaRPr lang="fr-FR" sz="1600" dirty="0" smtClean="0">
              <a:solidFill>
                <a:srgbClr val="222222"/>
              </a:solidFill>
              <a:latin typeface="Agency FB" pitchFamily="34" charset="0"/>
              <a:ea typeface="Arial" pitchFamily="34" charset="0"/>
              <a:cs typeface="Arial" pitchFamily="34" charset="0"/>
            </a:endParaRPr>
          </a:p>
          <a:p>
            <a:pPr>
              <a:spcAft>
                <a:spcPts val="1000"/>
              </a:spcAft>
            </a:pPr>
            <a:r>
              <a:rPr lang="en-US" sz="1600" dirty="0" smtClean="0">
                <a:solidFill>
                  <a:srgbClr val="222222"/>
                </a:solidFill>
                <a:latin typeface="Agency FB" pitchFamily="34" charset="0"/>
                <a:ea typeface="Arial" pitchFamily="34" charset="0"/>
                <a:cs typeface="Arial" pitchFamily="34" charset="0"/>
              </a:rPr>
              <a:t>     while ($row $</a:t>
            </a:r>
            <a:r>
              <a:rPr lang="en-US" sz="1600" dirty="0" err="1" smtClean="0">
                <a:solidFill>
                  <a:srgbClr val="222222"/>
                </a:solidFill>
                <a:latin typeface="Agency FB" pitchFamily="34" charset="0"/>
                <a:ea typeface="Arial" pitchFamily="34" charset="0"/>
                <a:cs typeface="Arial" pitchFamily="34" charset="0"/>
              </a:rPr>
              <a:t>curs_s</a:t>
            </a:r>
            <a:r>
              <a:rPr lang="en-US" sz="1600" dirty="0" smtClean="0">
                <a:solidFill>
                  <a:srgbClr val="222222"/>
                </a:solidFill>
                <a:latin typeface="Agency FB" pitchFamily="34" charset="0"/>
                <a:ea typeface="Arial" pitchFamily="34" charset="0"/>
                <a:cs typeface="Arial" pitchFamily="34" charset="0"/>
              </a:rPr>
              <a:t>-</a:t>
            </a:r>
            <a:r>
              <a:rPr lang="fr-FR" sz="1600" dirty="0" smtClean="0"/>
              <a:t> &gt;</a:t>
            </a:r>
            <a:r>
              <a:rPr lang="fr-FR" sz="1600" dirty="0" err="1" smtClean="0"/>
              <a:t>fetch</a:t>
            </a:r>
            <a:r>
              <a:rPr lang="fr-FR" sz="1600" dirty="0" smtClean="0"/>
              <a:t>()</a:t>
            </a:r>
            <a:r>
              <a:rPr lang="en-US" sz="1600" dirty="0" smtClean="0">
                <a:solidFill>
                  <a:srgbClr val="222222"/>
                </a:solidFill>
                <a:latin typeface="Agency FB" pitchFamily="34" charset="0"/>
                <a:ea typeface="Arial" pitchFamily="34" charset="0"/>
                <a:cs typeface="Arial" pitchFamily="34" charset="0"/>
              </a:rPr>
              <a:t>) {</a:t>
            </a:r>
            <a:endParaRPr lang="fr-FR" sz="1600" dirty="0" smtClean="0">
              <a:solidFill>
                <a:srgbClr val="222222"/>
              </a:solidFill>
              <a:latin typeface="Agency FB" pitchFamily="34" charset="0"/>
              <a:ea typeface="Arial" pitchFamily="34" charset="0"/>
              <a:cs typeface="Arial" pitchFamily="34" charset="0"/>
            </a:endParaRPr>
          </a:p>
          <a:p>
            <a:pPr>
              <a:spcAft>
                <a:spcPts val="1000"/>
              </a:spcAft>
            </a:pPr>
            <a:r>
              <a:rPr lang="en-US" sz="1600" dirty="0" smtClean="0">
                <a:solidFill>
                  <a:srgbClr val="222222"/>
                </a:solidFill>
                <a:latin typeface="Agency FB" pitchFamily="34" charset="0"/>
                <a:ea typeface="Arial" pitchFamily="34" charset="0"/>
                <a:cs typeface="Arial" pitchFamily="34" charset="0"/>
              </a:rPr>
              <a:t>        </a:t>
            </a:r>
            <a:r>
              <a:rPr lang="fr-FR" sz="1600" dirty="0" smtClean="0">
                <a:solidFill>
                  <a:srgbClr val="222222"/>
                </a:solidFill>
                <a:latin typeface="Agency FB" pitchFamily="34" charset="0"/>
                <a:ea typeface="Arial" pitchFamily="34" charset="0"/>
                <a:cs typeface="Arial" pitchFamily="34" charset="0"/>
              </a:rPr>
              <a:t>// </a:t>
            </a:r>
            <a:r>
              <a:rPr lang="fr-FR" sz="1600" dirty="0" err="1" smtClean="0">
                <a:solidFill>
                  <a:srgbClr val="222222"/>
                </a:solidFill>
                <a:latin typeface="Agency FB" pitchFamily="34" charset="0"/>
                <a:ea typeface="Arial" pitchFamily="34" charset="0"/>
                <a:cs typeface="Arial" pitchFamily="34" charset="0"/>
              </a:rPr>
              <a:t>temp</a:t>
            </a:r>
            <a:r>
              <a:rPr lang="fr-FR" sz="1600" dirty="0" smtClean="0">
                <a:solidFill>
                  <a:srgbClr val="222222"/>
                </a:solidFill>
                <a:latin typeface="Agency FB" pitchFamily="34" charset="0"/>
                <a:ea typeface="Arial" pitchFamily="34" charset="0"/>
                <a:cs typeface="Arial" pitchFamily="34" charset="0"/>
              </a:rPr>
              <a:t> user </a:t>
            </a:r>
            <a:r>
              <a:rPr lang="fr-FR" sz="1600" dirty="0" err="1" smtClean="0">
                <a:solidFill>
                  <a:srgbClr val="222222"/>
                </a:solidFill>
                <a:latin typeface="Agency FB" pitchFamily="34" charset="0"/>
                <a:ea typeface="Arial" pitchFamily="34" charset="0"/>
                <a:cs typeface="Arial" pitchFamily="34" charset="0"/>
              </a:rPr>
              <a:t>array</a:t>
            </a:r>
            <a:endParaRPr lang="fr-FR" sz="1600" dirty="0" smtClean="0">
              <a:solidFill>
                <a:srgbClr val="222222"/>
              </a:solidFill>
              <a:latin typeface="Agency FB" pitchFamily="34" charset="0"/>
              <a:ea typeface="Arial" pitchFamily="34" charset="0"/>
              <a:cs typeface="Arial" pitchFamily="34" charset="0"/>
            </a:endParaRPr>
          </a:p>
          <a:p>
            <a:pPr>
              <a:spcAft>
                <a:spcPts val="1000"/>
              </a:spcAft>
            </a:pPr>
            <a:r>
              <a:rPr lang="fr-FR" sz="1600" dirty="0" smtClean="0">
                <a:solidFill>
                  <a:srgbClr val="222222"/>
                </a:solidFill>
                <a:latin typeface="Agency FB" pitchFamily="34" charset="0"/>
                <a:ea typeface="Arial" pitchFamily="34" charset="0"/>
                <a:cs typeface="Arial" pitchFamily="34" charset="0"/>
              </a:rPr>
              <a:t>        $ligne = </a:t>
            </a:r>
            <a:r>
              <a:rPr lang="fr-FR" sz="1600" dirty="0" err="1" smtClean="0">
                <a:solidFill>
                  <a:srgbClr val="222222"/>
                </a:solidFill>
                <a:latin typeface="Agency FB" pitchFamily="34" charset="0"/>
                <a:ea typeface="Arial" pitchFamily="34" charset="0"/>
                <a:cs typeface="Arial" pitchFamily="34" charset="0"/>
              </a:rPr>
              <a:t>array</a:t>
            </a:r>
            <a:r>
              <a:rPr lang="fr-FR" sz="1600" dirty="0" smtClean="0">
                <a:solidFill>
                  <a:srgbClr val="222222"/>
                </a:solidFill>
                <a:latin typeface="Agency FB" pitchFamily="34" charset="0"/>
                <a:ea typeface="Arial" pitchFamily="34" charset="0"/>
                <a:cs typeface="Arial" pitchFamily="34" charset="0"/>
              </a:rPr>
              <a:t>();        $ligne["</a:t>
            </a:r>
            <a:r>
              <a:rPr lang="fr-FR" sz="1600" dirty="0" err="1" smtClean="0">
                <a:solidFill>
                  <a:srgbClr val="222222"/>
                </a:solidFill>
                <a:latin typeface="Agency FB" pitchFamily="34" charset="0"/>
                <a:ea typeface="Arial" pitchFamily="34" charset="0"/>
                <a:cs typeface="Arial" pitchFamily="34" charset="0"/>
              </a:rPr>
              <a:t>cin</a:t>
            </a:r>
            <a:r>
              <a:rPr lang="fr-FR" sz="1600" dirty="0" smtClean="0">
                <a:solidFill>
                  <a:srgbClr val="222222"/>
                </a:solidFill>
                <a:latin typeface="Agency FB" pitchFamily="34" charset="0"/>
                <a:ea typeface="Arial" pitchFamily="34" charset="0"/>
                <a:cs typeface="Arial" pitchFamily="34" charset="0"/>
              </a:rPr>
              <a:t>"] = $</a:t>
            </a:r>
            <a:r>
              <a:rPr lang="fr-FR" sz="1600" dirty="0" err="1" smtClean="0">
                <a:solidFill>
                  <a:srgbClr val="222222"/>
                </a:solidFill>
                <a:latin typeface="Agency FB" pitchFamily="34" charset="0"/>
                <a:ea typeface="Arial" pitchFamily="34" charset="0"/>
                <a:cs typeface="Arial" pitchFamily="34" charset="0"/>
              </a:rPr>
              <a:t>row</a:t>
            </a:r>
            <a:r>
              <a:rPr lang="fr-FR" sz="1600" dirty="0" smtClean="0">
                <a:solidFill>
                  <a:srgbClr val="222222"/>
                </a:solidFill>
                <a:latin typeface="Agency FB" pitchFamily="34" charset="0"/>
                <a:ea typeface="Arial" pitchFamily="34" charset="0"/>
                <a:cs typeface="Arial" pitchFamily="34" charset="0"/>
              </a:rPr>
              <a:t>[0];</a:t>
            </a:r>
          </a:p>
          <a:p>
            <a:pPr>
              <a:spcAft>
                <a:spcPts val="1000"/>
              </a:spcAft>
            </a:pPr>
            <a:r>
              <a:rPr lang="fr-FR" sz="1600" dirty="0" smtClean="0">
                <a:solidFill>
                  <a:srgbClr val="222222"/>
                </a:solidFill>
                <a:latin typeface="Agency FB" pitchFamily="34" charset="0"/>
                <a:ea typeface="Arial" pitchFamily="34" charset="0"/>
                <a:cs typeface="Arial" pitchFamily="34" charset="0"/>
              </a:rPr>
              <a:t>        $ligne["nom"] = $</a:t>
            </a:r>
            <a:r>
              <a:rPr lang="fr-FR" sz="1600" dirty="0" err="1" smtClean="0">
                <a:solidFill>
                  <a:srgbClr val="222222"/>
                </a:solidFill>
                <a:latin typeface="Agency FB" pitchFamily="34" charset="0"/>
                <a:ea typeface="Arial" pitchFamily="34" charset="0"/>
                <a:cs typeface="Arial" pitchFamily="34" charset="0"/>
              </a:rPr>
              <a:t>row</a:t>
            </a:r>
            <a:r>
              <a:rPr lang="fr-FR" sz="1600" dirty="0" smtClean="0">
                <a:solidFill>
                  <a:srgbClr val="222222"/>
                </a:solidFill>
                <a:latin typeface="Agency FB" pitchFamily="34" charset="0"/>
                <a:ea typeface="Arial" pitchFamily="34" charset="0"/>
                <a:cs typeface="Arial" pitchFamily="34" charset="0"/>
              </a:rPr>
              <a:t>[1];    $ligne["</a:t>
            </a:r>
            <a:r>
              <a:rPr lang="fr-FR" sz="1600" dirty="0" err="1" smtClean="0">
                <a:solidFill>
                  <a:srgbClr val="222222"/>
                </a:solidFill>
                <a:latin typeface="Agency FB" pitchFamily="34" charset="0"/>
                <a:ea typeface="Arial" pitchFamily="34" charset="0"/>
                <a:cs typeface="Arial" pitchFamily="34" charset="0"/>
              </a:rPr>
              <a:t>code_g</a:t>
            </a:r>
            <a:r>
              <a:rPr lang="fr-FR" sz="1600" dirty="0" smtClean="0">
                <a:solidFill>
                  <a:srgbClr val="222222"/>
                </a:solidFill>
                <a:latin typeface="Agency FB" pitchFamily="34" charset="0"/>
                <a:ea typeface="Arial" pitchFamily="34" charset="0"/>
                <a:cs typeface="Arial" pitchFamily="34" charset="0"/>
              </a:rPr>
              <a:t>"] = $</a:t>
            </a:r>
            <a:r>
              <a:rPr lang="fr-FR" sz="1600" dirty="0" err="1" smtClean="0">
                <a:solidFill>
                  <a:srgbClr val="222222"/>
                </a:solidFill>
                <a:latin typeface="Agency FB" pitchFamily="34" charset="0"/>
                <a:ea typeface="Arial" pitchFamily="34" charset="0"/>
                <a:cs typeface="Arial" pitchFamily="34" charset="0"/>
              </a:rPr>
              <a:t>row</a:t>
            </a:r>
            <a:r>
              <a:rPr lang="fr-FR" sz="1600" dirty="0" smtClean="0">
                <a:solidFill>
                  <a:srgbClr val="222222"/>
                </a:solidFill>
                <a:latin typeface="Agency FB" pitchFamily="34" charset="0"/>
                <a:ea typeface="Arial" pitchFamily="34" charset="0"/>
                <a:cs typeface="Arial" pitchFamily="34" charset="0"/>
              </a:rPr>
              <a:t>[2];</a:t>
            </a:r>
          </a:p>
          <a:p>
            <a:pPr>
              <a:spcAft>
                <a:spcPts val="1000"/>
              </a:spcAft>
            </a:pPr>
            <a:r>
              <a:rPr lang="fr-FR" sz="1600" dirty="0" smtClean="0">
                <a:solidFill>
                  <a:srgbClr val="222222"/>
                </a:solidFill>
                <a:latin typeface="Agency FB" pitchFamily="34" charset="0"/>
                <a:ea typeface="Arial" pitchFamily="34" charset="0"/>
                <a:cs typeface="Arial" pitchFamily="34" charset="0"/>
              </a:rPr>
              <a:t>                  </a:t>
            </a:r>
            <a:r>
              <a:rPr lang="en-US" sz="1600" dirty="0" smtClean="0">
                <a:solidFill>
                  <a:srgbClr val="222222"/>
                </a:solidFill>
                <a:latin typeface="Agency FB" pitchFamily="34" charset="0"/>
                <a:ea typeface="Arial" pitchFamily="34" charset="0"/>
                <a:cs typeface="Arial" pitchFamily="34" charset="0"/>
              </a:rPr>
              <a:t>// push single row into final response array</a:t>
            </a:r>
            <a:endParaRPr lang="fr-FR" sz="1600" dirty="0" smtClean="0">
              <a:solidFill>
                <a:srgbClr val="222222"/>
              </a:solidFill>
              <a:latin typeface="Agency FB" pitchFamily="34" charset="0"/>
              <a:ea typeface="Arial" pitchFamily="34" charset="0"/>
              <a:cs typeface="Arial" pitchFamily="34" charset="0"/>
            </a:endParaRPr>
          </a:p>
          <a:p>
            <a:pPr>
              <a:spcAft>
                <a:spcPts val="1000"/>
              </a:spcAft>
            </a:pPr>
            <a:r>
              <a:rPr lang="en-US" sz="1600" dirty="0" smtClean="0">
                <a:solidFill>
                  <a:srgbClr val="222222"/>
                </a:solidFill>
                <a:latin typeface="Agency FB" pitchFamily="34" charset="0"/>
                <a:ea typeface="Arial" pitchFamily="34" charset="0"/>
                <a:cs typeface="Arial" pitchFamily="34" charset="0"/>
              </a:rPr>
              <a:t>        </a:t>
            </a:r>
            <a:r>
              <a:rPr lang="fr-FR" sz="1600" dirty="0" err="1" smtClean="0">
                <a:solidFill>
                  <a:srgbClr val="222222"/>
                </a:solidFill>
                <a:latin typeface="Agency FB" pitchFamily="34" charset="0"/>
                <a:ea typeface="Arial" pitchFamily="34" charset="0"/>
                <a:cs typeface="Arial" pitchFamily="34" charset="0"/>
              </a:rPr>
              <a:t>array_push</a:t>
            </a:r>
            <a:r>
              <a:rPr lang="fr-FR" sz="1600" dirty="0" smtClean="0">
                <a:solidFill>
                  <a:srgbClr val="222222"/>
                </a:solidFill>
                <a:latin typeface="Agency FB" pitchFamily="34" charset="0"/>
                <a:ea typeface="Arial" pitchFamily="34" charset="0"/>
                <a:cs typeface="Arial" pitchFamily="34" charset="0"/>
              </a:rPr>
              <a:t>($</a:t>
            </a:r>
            <a:r>
              <a:rPr lang="fr-FR" sz="1600" dirty="0" err="1" smtClean="0">
                <a:solidFill>
                  <a:srgbClr val="222222"/>
                </a:solidFill>
                <a:latin typeface="Agency FB" pitchFamily="34" charset="0"/>
                <a:ea typeface="Arial" pitchFamily="34" charset="0"/>
                <a:cs typeface="Arial" pitchFamily="34" charset="0"/>
              </a:rPr>
              <a:t>reponse</a:t>
            </a:r>
            <a:r>
              <a:rPr lang="fr-FR" sz="1600" dirty="0" smtClean="0">
                <a:solidFill>
                  <a:srgbClr val="222222"/>
                </a:solidFill>
                <a:latin typeface="Agency FB" pitchFamily="34" charset="0"/>
                <a:ea typeface="Arial" pitchFamily="34" charset="0"/>
                <a:cs typeface="Arial" pitchFamily="34" charset="0"/>
              </a:rPr>
              <a:t>["stagiaires"], $ligne);</a:t>
            </a:r>
          </a:p>
          <a:p>
            <a:pPr>
              <a:spcAft>
                <a:spcPts val="1000"/>
              </a:spcAft>
            </a:pPr>
            <a:r>
              <a:rPr lang="fr-FR" sz="1600" dirty="0" smtClean="0">
                <a:solidFill>
                  <a:srgbClr val="222222"/>
                </a:solidFill>
                <a:latin typeface="Agency FB" pitchFamily="34" charset="0"/>
                <a:ea typeface="Arial" pitchFamily="34" charset="0"/>
                <a:cs typeface="Arial" pitchFamily="34" charset="0"/>
              </a:rPr>
              <a:t>    }</a:t>
            </a:r>
          </a:p>
          <a:p>
            <a:pPr>
              <a:spcAft>
                <a:spcPts val="1000"/>
              </a:spcAft>
            </a:pPr>
            <a:r>
              <a:rPr lang="fr-FR" sz="1600" dirty="0" smtClean="0">
                <a:solidFill>
                  <a:srgbClr val="222222"/>
                </a:solidFill>
                <a:latin typeface="Agency FB" pitchFamily="34" charset="0"/>
                <a:ea typeface="Arial" pitchFamily="34" charset="0"/>
                <a:cs typeface="Arial" pitchFamily="34" charset="0"/>
              </a:rPr>
              <a:t>    </a:t>
            </a:r>
            <a:r>
              <a:rPr lang="fr-FR" sz="1600" dirty="0" err="1" smtClean="0">
                <a:solidFill>
                  <a:srgbClr val="222222"/>
                </a:solidFill>
                <a:latin typeface="Agency FB" pitchFamily="34" charset="0"/>
                <a:ea typeface="Arial" pitchFamily="34" charset="0"/>
                <a:cs typeface="Arial" pitchFamily="34" charset="0"/>
              </a:rPr>
              <a:t>echo</a:t>
            </a:r>
            <a:r>
              <a:rPr lang="fr-FR" sz="1600" dirty="0" smtClean="0">
                <a:solidFill>
                  <a:srgbClr val="222222"/>
                </a:solidFill>
                <a:latin typeface="Agency FB" pitchFamily="34" charset="0"/>
                <a:ea typeface="Arial" pitchFamily="34" charset="0"/>
                <a:cs typeface="Arial" pitchFamily="34" charset="0"/>
              </a:rPr>
              <a:t> </a:t>
            </a:r>
            <a:r>
              <a:rPr lang="fr-FR" sz="1600" dirty="0" err="1" smtClean="0">
                <a:solidFill>
                  <a:srgbClr val="222222"/>
                </a:solidFill>
                <a:latin typeface="Agency FB" pitchFamily="34" charset="0"/>
                <a:ea typeface="Arial" pitchFamily="34" charset="0"/>
                <a:cs typeface="Arial" pitchFamily="34" charset="0"/>
              </a:rPr>
              <a:t>json_encode</a:t>
            </a:r>
            <a:r>
              <a:rPr lang="fr-FR" sz="1600" dirty="0" smtClean="0">
                <a:solidFill>
                  <a:srgbClr val="222222"/>
                </a:solidFill>
                <a:latin typeface="Agency FB" pitchFamily="34" charset="0"/>
                <a:ea typeface="Arial" pitchFamily="34" charset="0"/>
                <a:cs typeface="Arial" pitchFamily="34" charset="0"/>
              </a:rPr>
              <a:t>($</a:t>
            </a:r>
            <a:r>
              <a:rPr lang="fr-FR" sz="1600" dirty="0" err="1" smtClean="0">
                <a:solidFill>
                  <a:srgbClr val="222222"/>
                </a:solidFill>
                <a:latin typeface="Agency FB" pitchFamily="34" charset="0"/>
                <a:ea typeface="Arial" pitchFamily="34" charset="0"/>
                <a:cs typeface="Arial" pitchFamily="34" charset="0"/>
              </a:rPr>
              <a:t>reponse</a:t>
            </a:r>
            <a:r>
              <a:rPr lang="fr-FR" sz="1600" dirty="0" smtClean="0">
                <a:solidFill>
                  <a:srgbClr val="222222"/>
                </a:solidFill>
                <a:latin typeface="Agency FB" pitchFamily="34" charset="0"/>
                <a:ea typeface="Arial" pitchFamily="34" charset="0"/>
                <a:cs typeface="Arial" pitchFamily="34" charset="0"/>
              </a:rPr>
              <a:t>);</a:t>
            </a:r>
          </a:p>
          <a:p>
            <a:pPr>
              <a:spcAft>
                <a:spcPts val="1000"/>
              </a:spcAft>
            </a:pPr>
            <a:r>
              <a:rPr lang="fr-FR" sz="1600" dirty="0" smtClean="0">
                <a:solidFill>
                  <a:srgbClr val="222222"/>
                </a:solidFill>
                <a:latin typeface="Agency FB" pitchFamily="34" charset="0"/>
                <a:ea typeface="Arial" pitchFamily="34" charset="0"/>
                <a:cs typeface="Arial" pitchFamily="34" charset="0"/>
              </a:rPr>
              <a:t>}</a:t>
            </a:r>
          </a:p>
          <a:p>
            <a:pPr marL="0" marR="0" lvl="0" indent="0" algn="l" defTabSz="914400" rtl="0" eaLnBrk="1" fontAlgn="base" latinLnBrk="0" hangingPunct="1">
              <a:lnSpc>
                <a:spcPct val="100000"/>
              </a:lnSpc>
              <a:spcBef>
                <a:spcPct val="0"/>
              </a:spcBef>
              <a:spcAft>
                <a:spcPts val="1000"/>
              </a:spcAft>
              <a:buClrTx/>
              <a:buSzTx/>
              <a:buFontTx/>
              <a:buNone/>
              <a:tabLst/>
            </a:pP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TP 8 (JSON)</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175</a:t>
            </a:fld>
            <a:endParaRPr lang="fr-FR"/>
          </a:p>
        </p:txBody>
      </p:sp>
      <p:pic>
        <p:nvPicPr>
          <p:cNvPr id="1027" name="Picture 3"/>
          <p:cNvPicPr>
            <a:picLocks noChangeAspect="1" noChangeArrowheads="1"/>
          </p:cNvPicPr>
          <p:nvPr/>
        </p:nvPicPr>
        <p:blipFill>
          <a:blip r:embed="rId2"/>
          <a:srcRect/>
          <a:stretch>
            <a:fillRect/>
          </a:stretch>
        </p:blipFill>
        <p:spPr bwMode="auto">
          <a:xfrm>
            <a:off x="500034" y="2357430"/>
            <a:ext cx="8429684" cy="235745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2400" dirty="0" smtClean="0"/>
              <a:t>TP 9 -</a:t>
            </a:r>
            <a:r>
              <a:rPr lang="fr-FR" sz="2400" b="1" i="1" u="sng" dirty="0" smtClean="0"/>
              <a:t>Atlas Restaurant: "Gestion des Réservations"</a:t>
            </a:r>
            <a:r>
              <a:rPr lang="fr-FR" dirty="0" smtClean="0"/>
              <a:t/>
            </a:r>
            <a:br>
              <a:rPr lang="fr-FR" dirty="0" smtClean="0"/>
            </a:b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176</a:t>
            </a:fld>
            <a:endParaRPr lang="fr-FR"/>
          </a:p>
        </p:txBody>
      </p:sp>
      <p:pic>
        <p:nvPicPr>
          <p:cNvPr id="5" name="Image 4"/>
          <p:cNvPicPr/>
          <p:nvPr/>
        </p:nvPicPr>
        <p:blipFill>
          <a:blip r:embed="rId2"/>
          <a:srcRect/>
          <a:stretch>
            <a:fillRect/>
          </a:stretch>
        </p:blipFill>
        <p:spPr bwMode="auto">
          <a:xfrm>
            <a:off x="2143108" y="1142984"/>
            <a:ext cx="5144770" cy="335534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TP 10</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177</a:t>
            </a:fld>
            <a:endParaRPr lang="fr-FR"/>
          </a:p>
        </p:txBody>
      </p:sp>
      <p:pic>
        <p:nvPicPr>
          <p:cNvPr id="5" name="Image 4"/>
          <p:cNvPicPr/>
          <p:nvPr/>
        </p:nvPicPr>
        <p:blipFill>
          <a:blip r:embed="rId2"/>
          <a:srcRect/>
          <a:stretch>
            <a:fillRect/>
          </a:stretch>
        </p:blipFill>
        <p:spPr bwMode="auto">
          <a:xfrm>
            <a:off x="642910" y="1285860"/>
            <a:ext cx="7715304" cy="5143536"/>
          </a:xfrm>
          <a:prstGeom prst="rect">
            <a:avLst/>
          </a:prstGeom>
          <a:noFill/>
          <a:ln w="9525">
            <a:noFill/>
            <a:miter lim="800000"/>
            <a:headEnd/>
            <a:tailEnd/>
          </a:ln>
        </p:spPr>
      </p:pic>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TP 11 (mini projet : TDM-Annonces)</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178</a:t>
            </a:fld>
            <a:endParaRPr lang="fr-FR"/>
          </a:p>
        </p:txBody>
      </p:sp>
      <p:pic>
        <p:nvPicPr>
          <p:cNvPr id="5" name="Image 4"/>
          <p:cNvPicPr/>
          <p:nvPr/>
        </p:nvPicPr>
        <p:blipFill>
          <a:blip r:embed="rId2"/>
          <a:srcRect/>
          <a:stretch>
            <a:fillRect/>
          </a:stretch>
        </p:blipFill>
        <p:spPr bwMode="auto">
          <a:xfrm>
            <a:off x="357158" y="1285860"/>
            <a:ext cx="3878268" cy="2409831"/>
          </a:xfrm>
          <a:prstGeom prst="rect">
            <a:avLst/>
          </a:prstGeom>
          <a:noFill/>
          <a:ln w="9525">
            <a:noFill/>
            <a:miter lim="800000"/>
            <a:headEnd/>
            <a:tailEnd/>
          </a:ln>
        </p:spPr>
      </p:pic>
      <p:pic>
        <p:nvPicPr>
          <p:cNvPr id="6" name="Image 5"/>
          <p:cNvPicPr/>
          <p:nvPr/>
        </p:nvPicPr>
        <p:blipFill>
          <a:blip r:embed="rId3"/>
          <a:srcRect/>
          <a:stretch>
            <a:fillRect/>
          </a:stretch>
        </p:blipFill>
        <p:spPr bwMode="auto">
          <a:xfrm>
            <a:off x="500034" y="3786190"/>
            <a:ext cx="3714776" cy="2643206"/>
          </a:xfrm>
          <a:prstGeom prst="rect">
            <a:avLst/>
          </a:prstGeom>
          <a:noFill/>
          <a:ln w="9525">
            <a:noFill/>
            <a:miter lim="800000"/>
            <a:headEnd/>
            <a:tailEnd/>
          </a:ln>
        </p:spPr>
      </p:pic>
      <p:pic>
        <p:nvPicPr>
          <p:cNvPr id="7" name="Image 6"/>
          <p:cNvPicPr/>
          <p:nvPr/>
        </p:nvPicPr>
        <p:blipFill>
          <a:blip r:embed="rId4"/>
          <a:srcRect/>
          <a:stretch>
            <a:fillRect/>
          </a:stretch>
        </p:blipFill>
        <p:spPr bwMode="auto">
          <a:xfrm>
            <a:off x="4572000" y="1285860"/>
            <a:ext cx="4357718" cy="5357850"/>
          </a:xfrm>
          <a:prstGeom prst="rect">
            <a:avLst/>
          </a:prstGeom>
          <a:noFill/>
          <a:ln w="9525">
            <a:noFill/>
            <a:miter lim="800000"/>
            <a:headEnd/>
            <a:tailEnd/>
          </a:ln>
        </p:spPr>
      </p:pic>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179</a:t>
            </a:fld>
            <a:endParaRPr lang="fr-FR"/>
          </a:p>
        </p:txBody>
      </p:sp>
      <p:sp>
        <p:nvSpPr>
          <p:cNvPr id="5" name="Sous-titre 2"/>
          <p:cNvSpPr txBox="1">
            <a:spLocks/>
          </p:cNvSpPr>
          <p:nvPr/>
        </p:nvSpPr>
        <p:spPr bwMode="auto">
          <a:xfrm>
            <a:off x="1214414" y="3214686"/>
            <a:ext cx="6400800" cy="1600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73050" marR="0" lvl="0" indent="-273050" algn="l" defTabSz="914400" rtl="0" eaLnBrk="0" fontAlgn="base" latinLnBrk="0" hangingPunct="0">
              <a:lnSpc>
                <a:spcPct val="100000"/>
              </a:lnSpc>
              <a:spcBef>
                <a:spcPts val="575"/>
              </a:spcBef>
              <a:spcAft>
                <a:spcPct val="0"/>
              </a:spcAft>
              <a:buClr>
                <a:schemeClr val="accent1"/>
              </a:buClr>
              <a:buSzPct val="85000"/>
              <a:tabLst/>
              <a:defRPr/>
            </a:pPr>
            <a:r>
              <a:rPr lang="fr-FR" sz="4000" dirty="0" smtClean="0">
                <a:solidFill>
                  <a:schemeClr val="tx2"/>
                </a:solidFill>
                <a:latin typeface="+mj-lt"/>
                <a:ea typeface="+mj-ea"/>
                <a:cs typeface="+mj-cs"/>
              </a:rPr>
              <a:t>Service Web</a:t>
            </a:r>
            <a:endParaRPr lang="fr-FR" sz="4000" dirty="0">
              <a:solidFill>
                <a:schemeClr val="tx2"/>
              </a:solidFill>
              <a:latin typeface="+mj-lt"/>
              <a:ea typeface="+mj-ea"/>
              <a:cs typeface="+mj-cs"/>
            </a:endParaRPr>
          </a:p>
        </p:txBody>
      </p:sp>
    </p:spTree>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Définition</a:t>
            </a:r>
            <a:endParaRPr lang="fr-FR" dirty="0"/>
          </a:p>
        </p:txBody>
      </p:sp>
      <p:sp>
        <p:nvSpPr>
          <p:cNvPr id="3" name="Espace réservé du contenu 2"/>
          <p:cNvSpPr>
            <a:spLocks noGrp="1"/>
          </p:cNvSpPr>
          <p:nvPr>
            <p:ph sz="quarter" idx="1"/>
          </p:nvPr>
        </p:nvSpPr>
        <p:spPr/>
        <p:txBody>
          <a:bodyPr/>
          <a:lstStyle/>
          <a:p>
            <a:r>
              <a:rPr lang="fr-FR" dirty="0" smtClean="0"/>
              <a:t>qu'est-ce qu'un Web service ? Un Web service est un site Internet, sauf qu'au lieu de nous retourner du HTML que notre navigateur web mettra en forme pour que cela ressemble à tous nos sites internet classiques, il va nous retourner du texte brut que nous allons pouvoir exploiter. </a:t>
            </a:r>
            <a:endParaRPr lang="fr-FR" dirty="0"/>
          </a:p>
        </p:txBody>
      </p:sp>
    </p:spTree>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Exemple </a:t>
            </a:r>
            <a:endParaRPr lang="fr-FR" dirty="0"/>
          </a:p>
        </p:txBody>
      </p:sp>
      <p:sp>
        <p:nvSpPr>
          <p:cNvPr id="3" name="Espace réservé du contenu 2"/>
          <p:cNvSpPr>
            <a:spLocks noGrp="1"/>
          </p:cNvSpPr>
          <p:nvPr>
            <p:ph sz="quarter" idx="1"/>
          </p:nvPr>
        </p:nvSpPr>
        <p:spPr/>
        <p:txBody>
          <a:bodyPr/>
          <a:lstStyle/>
          <a:p>
            <a:r>
              <a:rPr lang="fr-FR" dirty="0" smtClean="0"/>
              <a:t>Nous allons utiliser le </a:t>
            </a:r>
            <a:r>
              <a:rPr lang="fr-FR" dirty="0" err="1" smtClean="0"/>
              <a:t>Webservice</a:t>
            </a:r>
            <a:r>
              <a:rPr lang="fr-FR" dirty="0" smtClean="0"/>
              <a:t> de la ville de Toulouse. Beaucoup de villes en France mettent à disposition leurs données sous forme de Web service.</a:t>
            </a:r>
          </a:p>
          <a:p>
            <a:r>
              <a:rPr lang="fr-FR" dirty="0" smtClean="0"/>
              <a:t> Ça s'appelle l'Open data. Donc en tapant Open data et le nom de Toulouse, on tombe sur celui de la ville de Toulouse. Il en existe pour beaucoup de villes en France. </a:t>
            </a:r>
          </a:p>
          <a:p>
            <a:endParaRPr lang="fr-FR" dirty="0"/>
          </a:p>
        </p:txBody>
      </p:sp>
    </p:spTree>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sz="quarter" idx="1"/>
          </p:nvPr>
        </p:nvPicPr>
        <p:blipFill>
          <a:blip r:embed="rId2"/>
          <a:srcRect/>
          <a:stretch>
            <a:fillRect/>
          </a:stretch>
        </p:blipFill>
        <p:spPr bwMode="auto">
          <a:xfrm>
            <a:off x="500034" y="928670"/>
            <a:ext cx="8215370" cy="5143536"/>
          </a:xfrm>
          <a:prstGeom prst="rect">
            <a:avLst/>
          </a:prstGeom>
          <a:noFill/>
          <a:ln w="9525">
            <a:noFill/>
            <a:miter lim="800000"/>
            <a:headEnd/>
            <a:tailEnd/>
          </a:ln>
          <a:effectLst/>
        </p:spPr>
      </p:pic>
      <p:sp>
        <p:nvSpPr>
          <p:cNvPr id="7" name="Flèche vers le haut 6"/>
          <p:cNvSpPr/>
          <p:nvPr/>
        </p:nvSpPr>
        <p:spPr>
          <a:xfrm>
            <a:off x="7929586" y="3429000"/>
            <a:ext cx="285752" cy="171451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pic>
        <p:nvPicPr>
          <p:cNvPr id="2050" name="Picture 2"/>
          <p:cNvPicPr>
            <a:picLocks noGrp="1" noChangeAspect="1" noChangeArrowheads="1"/>
          </p:cNvPicPr>
          <p:nvPr>
            <p:ph sz="quarter" idx="1"/>
          </p:nvPr>
        </p:nvPicPr>
        <p:blipFill>
          <a:blip r:embed="rId2"/>
          <a:stretch>
            <a:fillRect/>
          </a:stretch>
        </p:blipFill>
        <p:spPr bwMode="auto">
          <a:xfrm>
            <a:off x="2171700" y="1879600"/>
            <a:ext cx="5257800" cy="3708400"/>
          </a:xfrm>
          <a:prstGeom prst="rect">
            <a:avLst/>
          </a:prstGeom>
          <a:noFill/>
          <a:ln w="9525">
            <a:noFill/>
            <a:miter lim="800000"/>
            <a:headEnd/>
            <a:tailEnd/>
          </a:ln>
          <a:effectLst/>
        </p:spPr>
      </p:pic>
      <p:sp>
        <p:nvSpPr>
          <p:cNvPr id="5" name="Flèche vers le haut 4"/>
          <p:cNvSpPr/>
          <p:nvPr/>
        </p:nvSpPr>
        <p:spPr>
          <a:xfrm>
            <a:off x="5929322" y="5929330"/>
            <a:ext cx="285752" cy="78581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pic>
        <p:nvPicPr>
          <p:cNvPr id="3074" name="Picture 2"/>
          <p:cNvPicPr>
            <a:picLocks noGrp="1" noChangeAspect="1" noChangeArrowheads="1"/>
          </p:cNvPicPr>
          <p:nvPr>
            <p:ph sz="quarter" idx="1"/>
          </p:nvPr>
        </p:nvPicPr>
        <p:blipFill>
          <a:blip r:embed="rId2"/>
          <a:stretch>
            <a:fillRect/>
          </a:stretch>
        </p:blipFill>
        <p:spPr bwMode="auto">
          <a:xfrm>
            <a:off x="1587500" y="1889125"/>
            <a:ext cx="6426200" cy="36893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Installer l’extension </a:t>
            </a:r>
            <a:r>
              <a:rPr lang="fr-FR" dirty="0" err="1" smtClean="0"/>
              <a:t>JSONformatter</a:t>
            </a:r>
            <a:r>
              <a:rPr lang="fr-FR" dirty="0" smtClean="0"/>
              <a:t/>
            </a:r>
            <a:br>
              <a:rPr lang="fr-FR" dirty="0" smtClean="0"/>
            </a:br>
            <a:r>
              <a:rPr lang="fr-FR" dirty="0" smtClean="0"/>
              <a:t>(Chrome)</a:t>
            </a:r>
            <a:endParaRPr lang="fr-FR" dirty="0"/>
          </a:p>
        </p:txBody>
      </p:sp>
      <p:pic>
        <p:nvPicPr>
          <p:cNvPr id="2051" name="Picture 3"/>
          <p:cNvPicPr>
            <a:picLocks noChangeAspect="1" noChangeArrowheads="1"/>
          </p:cNvPicPr>
          <p:nvPr/>
        </p:nvPicPr>
        <p:blipFill>
          <a:blip r:embed="rId2"/>
          <a:srcRect/>
          <a:stretch>
            <a:fillRect/>
          </a:stretch>
        </p:blipFill>
        <p:spPr bwMode="auto">
          <a:xfrm>
            <a:off x="642910" y="1928802"/>
            <a:ext cx="7896246" cy="376264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214282" y="714356"/>
            <a:ext cx="8643966" cy="571504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1-</a:t>
            </a:r>
            <a:r>
              <a:rPr lang="fr-FR" dirty="0" err="1" smtClean="0"/>
              <a:t>Declarer</a:t>
            </a:r>
            <a:r>
              <a:rPr lang="fr-FR" dirty="0" smtClean="0"/>
              <a:t> la source du service web :</a:t>
            </a:r>
            <a:br>
              <a:rPr lang="fr-FR" dirty="0" smtClean="0"/>
            </a:br>
            <a:endParaRPr lang="fr-FR" dirty="0"/>
          </a:p>
        </p:txBody>
      </p:sp>
      <p:sp>
        <p:nvSpPr>
          <p:cNvPr id="3" name="Espace réservé du contenu 2"/>
          <p:cNvSpPr>
            <a:spLocks noGrp="1"/>
          </p:cNvSpPr>
          <p:nvPr>
            <p:ph sz="quarter" idx="1"/>
          </p:nvPr>
        </p:nvSpPr>
        <p:spPr/>
        <p:txBody>
          <a:bodyPr/>
          <a:lstStyle/>
          <a:p>
            <a:pPr>
              <a:buNone/>
            </a:pPr>
            <a:r>
              <a:rPr lang="fr-FR" dirty="0" smtClean="0"/>
              <a:t>$url="https://data.toulouse-metropole.fr/api/records/1.0/search/?dataset=agenda-des-manifestations-culturelles-so-toulouse&amp;facet=type_de_manifestation";</a:t>
            </a:r>
          </a:p>
          <a:p>
            <a:pPr>
              <a:buNone/>
            </a:pPr>
            <a:endParaRPr lang="fr-FR" dirty="0" smtClean="0"/>
          </a:p>
          <a:p>
            <a:pPr>
              <a:buNone/>
            </a:pPr>
            <a:endParaRPr lang="fr-FR" dirty="0"/>
          </a:p>
        </p:txBody>
      </p:sp>
    </p:spTree>
  </p:cSld>
  <p:clrMapOvr>
    <a:masterClrMapping/>
  </p:clrMapOvr>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2-Lire le flux JSON</a:t>
            </a:r>
            <a:endParaRPr lang="fr-FR" dirty="0"/>
          </a:p>
        </p:txBody>
      </p:sp>
      <p:sp>
        <p:nvSpPr>
          <p:cNvPr id="3" name="Espace réservé du contenu 2"/>
          <p:cNvSpPr>
            <a:spLocks noGrp="1"/>
          </p:cNvSpPr>
          <p:nvPr>
            <p:ph sz="quarter" idx="1"/>
          </p:nvPr>
        </p:nvSpPr>
        <p:spPr/>
        <p:txBody>
          <a:bodyPr/>
          <a:lstStyle/>
          <a:p>
            <a:endParaRPr lang="fr-FR" dirty="0" smtClean="0"/>
          </a:p>
          <a:p>
            <a:endParaRPr lang="fr-FR" dirty="0" smtClean="0"/>
          </a:p>
          <a:p>
            <a:endParaRPr lang="fr-FR" dirty="0" smtClean="0"/>
          </a:p>
          <a:p>
            <a:endParaRPr lang="fr-FR" dirty="0" smtClean="0"/>
          </a:p>
          <a:p>
            <a:pPr>
              <a:buNone/>
            </a:pPr>
            <a:r>
              <a:rPr lang="fr-FR" dirty="0" smtClean="0"/>
              <a:t>$</a:t>
            </a:r>
            <a:r>
              <a:rPr lang="fr-FR" dirty="0" err="1" smtClean="0"/>
              <a:t>json_source</a:t>
            </a:r>
            <a:r>
              <a:rPr lang="fr-FR" dirty="0" smtClean="0"/>
              <a:t> = </a:t>
            </a:r>
            <a:r>
              <a:rPr lang="fr-FR" dirty="0" err="1" smtClean="0"/>
              <a:t>file_get_contents</a:t>
            </a:r>
            <a:r>
              <a:rPr lang="fr-FR" dirty="0" smtClean="0"/>
              <a:t>($url);</a:t>
            </a:r>
          </a:p>
          <a:p>
            <a:endParaRPr lang="fr-FR" dirty="0"/>
          </a:p>
        </p:txBody>
      </p:sp>
    </p:spTree>
  </p:cSld>
  <p:clrMapOvr>
    <a:masterClrMapping/>
  </p:clrMapOvr>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3-Décoder le code JSON</a:t>
            </a:r>
            <a:endParaRPr lang="fr-FR" dirty="0"/>
          </a:p>
        </p:txBody>
      </p:sp>
      <p:sp>
        <p:nvSpPr>
          <p:cNvPr id="3" name="Espace réservé du contenu 2"/>
          <p:cNvSpPr>
            <a:spLocks noGrp="1"/>
          </p:cNvSpPr>
          <p:nvPr>
            <p:ph sz="quarter" idx="1"/>
          </p:nvPr>
        </p:nvSpPr>
        <p:spPr/>
        <p:txBody>
          <a:bodyPr/>
          <a:lstStyle/>
          <a:p>
            <a:pPr>
              <a:buNone/>
            </a:pPr>
            <a:endParaRPr lang="fr-FR" dirty="0" smtClean="0"/>
          </a:p>
          <a:p>
            <a:pPr>
              <a:buNone/>
            </a:pPr>
            <a:endParaRPr lang="fr-FR" dirty="0" smtClean="0"/>
          </a:p>
          <a:p>
            <a:pPr>
              <a:buNone/>
            </a:pPr>
            <a:endParaRPr lang="fr-FR" dirty="0" smtClean="0"/>
          </a:p>
          <a:p>
            <a:pPr>
              <a:buNone/>
            </a:pPr>
            <a:endParaRPr lang="fr-FR" dirty="0" smtClean="0"/>
          </a:p>
          <a:p>
            <a:pPr>
              <a:buNone/>
            </a:pPr>
            <a:r>
              <a:rPr lang="fr-FR" dirty="0" smtClean="0"/>
              <a:t>$</a:t>
            </a:r>
            <a:r>
              <a:rPr lang="fr-FR" dirty="0" err="1" smtClean="0"/>
              <a:t>json_data</a:t>
            </a:r>
            <a:r>
              <a:rPr lang="fr-FR" dirty="0" smtClean="0"/>
              <a:t> = </a:t>
            </a:r>
            <a:r>
              <a:rPr lang="fr-FR" dirty="0" err="1" smtClean="0"/>
              <a:t>json_decode</a:t>
            </a:r>
            <a:r>
              <a:rPr lang="fr-FR" dirty="0" smtClean="0"/>
              <a:t>($</a:t>
            </a:r>
            <a:r>
              <a:rPr lang="fr-FR" dirty="0" err="1" smtClean="0"/>
              <a:t>json_source</a:t>
            </a:r>
            <a:r>
              <a:rPr lang="fr-FR" dirty="0" smtClean="0"/>
              <a:t>);</a:t>
            </a:r>
          </a:p>
          <a:p>
            <a:endParaRPr lang="fr-FR" dirty="0"/>
          </a:p>
        </p:txBody>
      </p:sp>
    </p:spTree>
  </p:cSld>
  <p:clrMapOvr>
    <a:masterClrMapping/>
  </p:clrMapOvr>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Exemple 1:</a:t>
            </a:r>
            <a:endParaRPr lang="fr-FR" dirty="0"/>
          </a:p>
        </p:txBody>
      </p:sp>
      <p:sp>
        <p:nvSpPr>
          <p:cNvPr id="3" name="Espace réservé du contenu 2"/>
          <p:cNvSpPr>
            <a:spLocks noGrp="1"/>
          </p:cNvSpPr>
          <p:nvPr>
            <p:ph sz="quarter" idx="1"/>
          </p:nvPr>
        </p:nvSpPr>
        <p:spPr/>
        <p:txBody>
          <a:bodyPr/>
          <a:lstStyle/>
          <a:p>
            <a:r>
              <a:rPr lang="fr-FR" dirty="0" smtClean="0"/>
              <a:t> $</a:t>
            </a:r>
            <a:r>
              <a:rPr lang="fr-FR" dirty="0" err="1" smtClean="0"/>
              <a:t>tableau_man</a:t>
            </a:r>
            <a:r>
              <a:rPr lang="fr-FR" dirty="0" smtClean="0"/>
              <a:t>=$</a:t>
            </a:r>
            <a:r>
              <a:rPr lang="fr-FR" dirty="0" err="1" smtClean="0"/>
              <a:t>json_data</a:t>
            </a:r>
            <a:r>
              <a:rPr lang="fr-FR" dirty="0" smtClean="0"/>
              <a:t>-&gt;records;</a:t>
            </a:r>
          </a:p>
          <a:p>
            <a:r>
              <a:rPr lang="fr-FR" dirty="0" smtClean="0"/>
              <a:t> </a:t>
            </a:r>
            <a:r>
              <a:rPr lang="fr-FR" dirty="0" err="1" smtClean="0"/>
              <a:t>print_r</a:t>
            </a:r>
            <a:r>
              <a:rPr lang="fr-FR" dirty="0" smtClean="0"/>
              <a:t>($</a:t>
            </a:r>
            <a:r>
              <a:rPr lang="fr-FR" dirty="0" err="1" smtClean="0"/>
              <a:t>tableau_man</a:t>
            </a:r>
            <a:r>
              <a:rPr lang="fr-FR" dirty="0" smtClean="0"/>
              <a:t>[0]-&gt;</a:t>
            </a:r>
            <a:r>
              <a:rPr lang="fr-FR" dirty="0" err="1" smtClean="0"/>
              <a:t>fields</a:t>
            </a:r>
            <a:r>
              <a:rPr lang="fr-FR" dirty="0" smtClean="0"/>
              <a:t>-&gt;</a:t>
            </a:r>
            <a:r>
              <a:rPr lang="fr-FR" dirty="0" err="1" smtClean="0"/>
              <a:t>descriptif_long</a:t>
            </a:r>
            <a:r>
              <a:rPr lang="fr-FR" dirty="0" smtClean="0"/>
              <a:t>);</a:t>
            </a:r>
          </a:p>
          <a:p>
            <a:endParaRPr lang="fr-FR" dirty="0" smtClean="0"/>
          </a:p>
          <a:p>
            <a:endParaRPr lang="fr-FR" dirty="0" smtClean="0"/>
          </a:p>
          <a:p>
            <a:endParaRPr lang="fr-FR" dirty="0"/>
          </a:p>
        </p:txBody>
      </p:sp>
      <p:sp>
        <p:nvSpPr>
          <p:cNvPr id="4" name="Rectangle 3"/>
          <p:cNvSpPr/>
          <p:nvPr/>
        </p:nvSpPr>
        <p:spPr>
          <a:xfrm>
            <a:off x="714348" y="3857628"/>
            <a:ext cx="7358114" cy="26432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"Le premier dimanche du mois, les musées (collections permanentes) sont gratuits pour l'ensemble des visiteurs. Les expositions temporaires restent payantes. Les musées concernés sont : Musée des Abattoirs - Musée Georges </a:t>
            </a:r>
            <a:r>
              <a:rPr lang="fr-FR" dirty="0" err="1" smtClean="0"/>
              <a:t>Labit</a:t>
            </a:r>
            <a:r>
              <a:rPr lang="fr-FR" dirty="0" smtClean="0"/>
              <a:t> - Musée Saint-Raymond - Muséum d'histoire naturelle - Couvent des Jacobins - Quai des savoirs. Attention: le Musée Paul Dupuy et le musée des Augustins sont fermés pour travaux."</a:t>
            </a:r>
            <a:endParaRPr lang="fr-FR" dirty="0"/>
          </a:p>
        </p:txBody>
      </p:sp>
      <p:sp>
        <p:nvSpPr>
          <p:cNvPr id="5" name="Flèche vers le bas 4"/>
          <p:cNvSpPr/>
          <p:nvPr/>
        </p:nvSpPr>
        <p:spPr>
          <a:xfrm>
            <a:off x="5643570" y="3071810"/>
            <a:ext cx="357190" cy="71438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4429124" y="2428868"/>
            <a:ext cx="3571900" cy="571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err="1" smtClean="0"/>
              <a:t>Descriptif_lon</a:t>
            </a:r>
            <a:r>
              <a:rPr lang="fr-FR" dirty="0" smtClean="0"/>
              <a:t> de la </a:t>
            </a:r>
            <a:r>
              <a:rPr lang="fr-FR" dirty="0" err="1" smtClean="0"/>
              <a:t>premiere</a:t>
            </a:r>
            <a:r>
              <a:rPr lang="fr-FR" dirty="0" smtClean="0"/>
              <a:t> manifestation</a:t>
            </a:r>
            <a:endParaRPr lang="fr-FR" dirty="0"/>
          </a:p>
        </p:txBody>
      </p:sp>
    </p:spTree>
  </p:cSld>
  <p:clrMapOvr>
    <a:masterClrMapping/>
  </p:clrMapOvr>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85786" y="3143248"/>
            <a:ext cx="7772400" cy="1143000"/>
          </a:xfrm>
        </p:spPr>
        <p:txBody>
          <a:bodyPr/>
          <a:lstStyle/>
          <a:p>
            <a:r>
              <a:rPr lang="fr-FR" dirty="0" smtClean="0"/>
              <a:t>E-commerce</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191</a:t>
            </a:fld>
            <a:endParaRPr lang="fr-F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Définition</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192</a:t>
            </a:fld>
            <a:endParaRPr lang="fr-FR"/>
          </a:p>
        </p:txBody>
      </p:sp>
      <p:sp>
        <p:nvSpPr>
          <p:cNvPr id="3" name="Espace réservé du contenu 2"/>
          <p:cNvSpPr>
            <a:spLocks noGrp="1"/>
          </p:cNvSpPr>
          <p:nvPr>
            <p:ph sz="quarter" idx="1"/>
          </p:nvPr>
        </p:nvSpPr>
        <p:spPr/>
        <p:txBody>
          <a:bodyPr/>
          <a:lstStyle/>
          <a:p>
            <a:r>
              <a:rPr lang="fr-FR" dirty="0" smtClean="0"/>
              <a:t>E-Commerce ( commerce électronique): est le commerce par internet , c’est  la vente de produits ou services à travers internet .</a:t>
            </a:r>
            <a:endParaRPr lang="fr-FR"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caractéristiques</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193</a:t>
            </a:fld>
            <a:endParaRPr lang="fr-FR"/>
          </a:p>
        </p:txBody>
      </p:sp>
      <p:sp>
        <p:nvSpPr>
          <p:cNvPr id="3" name="Espace réservé du contenu 2"/>
          <p:cNvSpPr>
            <a:spLocks noGrp="1"/>
          </p:cNvSpPr>
          <p:nvPr>
            <p:ph sz="quarter" idx="1"/>
          </p:nvPr>
        </p:nvSpPr>
        <p:spPr/>
        <p:txBody>
          <a:bodyPr/>
          <a:lstStyle/>
          <a:p>
            <a:r>
              <a:rPr lang="fr-FR" dirty="0" smtClean="0"/>
              <a:t>Nom de domaine significatif ayant un rapport avec le produit ou le service que vous vendez.</a:t>
            </a:r>
          </a:p>
          <a:p>
            <a:r>
              <a:rPr lang="fr-FR" dirty="0" smtClean="0"/>
              <a:t>Ergonomique et responsive.</a:t>
            </a:r>
          </a:p>
          <a:p>
            <a:r>
              <a:rPr lang="fr-FR" dirty="0" smtClean="0"/>
              <a:t>Design attractif. </a:t>
            </a:r>
          </a:p>
          <a:p>
            <a:endParaRPr lang="fr-FR"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Structure</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194</a:t>
            </a:fld>
            <a:endParaRPr lang="fr-FR"/>
          </a:p>
        </p:txBody>
      </p:sp>
      <p:sp>
        <p:nvSpPr>
          <p:cNvPr id="3" name="Espace réservé du contenu 2"/>
          <p:cNvSpPr>
            <a:spLocks noGrp="1"/>
          </p:cNvSpPr>
          <p:nvPr>
            <p:ph sz="quarter" idx="1"/>
          </p:nvPr>
        </p:nvSpPr>
        <p:spPr/>
        <p:txBody>
          <a:bodyPr/>
          <a:lstStyle/>
          <a:p>
            <a:r>
              <a:rPr lang="fr-FR" dirty="0" smtClean="0"/>
              <a:t>Page de renvoi (Landing page) :est la première page que les visiteurs voient après avoir cliqué sur votre bannière publicitaire (banner ad), votre annonce de recherche(</a:t>
            </a:r>
            <a:r>
              <a:rPr lang="fr-FR" dirty="0" err="1" smtClean="0"/>
              <a:t>search</a:t>
            </a:r>
            <a:r>
              <a:rPr lang="fr-FR" dirty="0" smtClean="0"/>
              <a:t> ad) (</a:t>
            </a:r>
            <a:r>
              <a:rPr lang="fr-FR" dirty="0" err="1" smtClean="0"/>
              <a:t>google</a:t>
            </a:r>
            <a:r>
              <a:rPr lang="fr-FR" dirty="0" smtClean="0"/>
              <a:t> </a:t>
            </a:r>
            <a:r>
              <a:rPr lang="fr-FR" dirty="0" err="1" smtClean="0"/>
              <a:t>ads</a:t>
            </a:r>
            <a:r>
              <a:rPr lang="fr-FR" dirty="0" smtClean="0"/>
              <a:t>), votre e-mail promotionnel ou votre annonce sur les réseaux sociaux.</a:t>
            </a:r>
            <a:endParaRPr lang="fr-FR" dirty="0"/>
          </a:p>
        </p:txBody>
      </p:sp>
      <p:sp>
        <p:nvSpPr>
          <p:cNvPr id="5" name="Rectangle 4"/>
          <p:cNvSpPr/>
          <p:nvPr/>
        </p:nvSpPr>
        <p:spPr>
          <a:xfrm>
            <a:off x="2428860" y="3500438"/>
            <a:ext cx="4429156" cy="23574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2857488" y="4214818"/>
            <a:ext cx="857256" cy="428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err="1" smtClean="0"/>
              <a:t>Video</a:t>
            </a:r>
            <a:r>
              <a:rPr lang="fr-FR" dirty="0" smtClean="0"/>
              <a:t> </a:t>
            </a:r>
            <a:endParaRPr lang="fr-FR" dirty="0"/>
          </a:p>
        </p:txBody>
      </p:sp>
      <p:sp>
        <p:nvSpPr>
          <p:cNvPr id="7" name="Rectangle 6"/>
          <p:cNvSpPr/>
          <p:nvPr/>
        </p:nvSpPr>
        <p:spPr>
          <a:xfrm>
            <a:off x="2571736" y="3643314"/>
            <a:ext cx="714380" cy="428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Logo</a:t>
            </a:r>
            <a:endParaRPr lang="fr-FR" dirty="0"/>
          </a:p>
        </p:txBody>
      </p:sp>
      <p:sp>
        <p:nvSpPr>
          <p:cNvPr id="8" name="Rectangle 7"/>
          <p:cNvSpPr/>
          <p:nvPr/>
        </p:nvSpPr>
        <p:spPr>
          <a:xfrm>
            <a:off x="2571736" y="5429264"/>
            <a:ext cx="4143404"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Adresse                 copyright </a:t>
            </a:r>
            <a:endParaRPr lang="fr-FR" dirty="0"/>
          </a:p>
        </p:txBody>
      </p:sp>
      <p:sp>
        <p:nvSpPr>
          <p:cNvPr id="9" name="Rectangle 8"/>
          <p:cNvSpPr/>
          <p:nvPr/>
        </p:nvSpPr>
        <p:spPr>
          <a:xfrm>
            <a:off x="3929058" y="4214818"/>
            <a:ext cx="1143008" cy="428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About</a:t>
            </a:r>
            <a:endParaRPr lang="fr-FR" dirty="0"/>
          </a:p>
        </p:txBody>
      </p:sp>
      <p:sp>
        <p:nvSpPr>
          <p:cNvPr id="10" name="Rectangle 9"/>
          <p:cNvSpPr/>
          <p:nvPr/>
        </p:nvSpPr>
        <p:spPr>
          <a:xfrm>
            <a:off x="5214942" y="4214818"/>
            <a:ext cx="1214446" cy="428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err="1" smtClean="0"/>
              <a:t>Sign</a:t>
            </a:r>
            <a:r>
              <a:rPr lang="fr-FR" dirty="0" smtClean="0"/>
              <a:t> up</a:t>
            </a:r>
            <a:endParaRPr lang="fr-FR" dirty="0"/>
          </a:p>
        </p:txBody>
      </p:sp>
      <p:sp>
        <p:nvSpPr>
          <p:cNvPr id="11" name="Rectangle 10"/>
          <p:cNvSpPr/>
          <p:nvPr/>
        </p:nvSpPr>
        <p:spPr>
          <a:xfrm>
            <a:off x="5286380" y="5000636"/>
            <a:ext cx="1143008" cy="2857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err="1" smtClean="0"/>
              <a:t>Buy</a:t>
            </a:r>
            <a:r>
              <a:rPr lang="fr-FR" dirty="0" smtClean="0"/>
              <a:t> </a:t>
            </a:r>
            <a:r>
              <a:rPr lang="fr-FR" dirty="0" err="1" smtClean="0"/>
              <a:t>now</a:t>
            </a:r>
            <a:endParaRPr lang="fr-FR"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195</a:t>
            </a:fld>
            <a:endParaRPr lang="fr-FR"/>
          </a:p>
        </p:txBody>
      </p:sp>
      <p:sp>
        <p:nvSpPr>
          <p:cNvPr id="3" name="Espace réservé du contenu 2"/>
          <p:cNvSpPr>
            <a:spLocks noGrp="1"/>
          </p:cNvSpPr>
          <p:nvPr>
            <p:ph sz="quarter" idx="1"/>
          </p:nvPr>
        </p:nvSpPr>
        <p:spPr/>
        <p:txBody>
          <a:bodyPr/>
          <a:lstStyle/>
          <a:p>
            <a:r>
              <a:rPr lang="fr-FR" dirty="0" smtClean="0"/>
              <a:t>Squeeze </a:t>
            </a:r>
            <a:r>
              <a:rPr lang="fr-FR" dirty="0" err="1" smtClean="0"/>
              <a:t>page:conçue</a:t>
            </a:r>
            <a:r>
              <a:rPr lang="fr-FR" dirty="0" smtClean="0"/>
              <a:t> pour capturer les coordonnées ( adresse </a:t>
            </a:r>
            <a:r>
              <a:rPr lang="fr-FR" dirty="0" err="1" smtClean="0"/>
              <a:t>e-mail,Tel</a:t>
            </a:r>
            <a:r>
              <a:rPr lang="fr-FR" dirty="0" smtClean="0"/>
              <a:t>,…)  des abonnés potentiels.</a:t>
            </a:r>
          </a:p>
          <a:p>
            <a:r>
              <a:rPr lang="fr-FR" dirty="0" smtClean="0"/>
              <a:t>Sales page </a:t>
            </a:r>
          </a:p>
          <a:p>
            <a:r>
              <a:rPr lang="fr-FR" dirty="0" err="1" smtClean="0"/>
              <a:t>Card</a:t>
            </a:r>
            <a:r>
              <a:rPr lang="fr-FR" dirty="0" smtClean="0"/>
              <a:t> page(panier des achats)</a:t>
            </a:r>
          </a:p>
          <a:p>
            <a:r>
              <a:rPr lang="fr-FR" dirty="0" err="1" smtClean="0"/>
              <a:t>Checkout</a:t>
            </a:r>
            <a:r>
              <a:rPr lang="fr-FR" dirty="0" smtClean="0"/>
              <a:t> page</a:t>
            </a:r>
          </a:p>
          <a:p>
            <a:r>
              <a:rPr lang="fr-FR" dirty="0" err="1" smtClean="0"/>
              <a:t>Thank</a:t>
            </a:r>
            <a:r>
              <a:rPr lang="fr-FR" dirty="0" smtClean="0"/>
              <a:t> </a:t>
            </a:r>
            <a:r>
              <a:rPr lang="fr-FR" dirty="0" err="1" smtClean="0"/>
              <a:t>you</a:t>
            </a:r>
            <a:r>
              <a:rPr lang="fr-FR" dirty="0" smtClean="0"/>
              <a:t> page</a:t>
            </a:r>
          </a:p>
          <a:p>
            <a:endParaRPr lang="fr-FR"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Sources du trafic</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196</a:t>
            </a:fld>
            <a:endParaRPr lang="fr-FR"/>
          </a:p>
        </p:txBody>
      </p:sp>
      <p:sp>
        <p:nvSpPr>
          <p:cNvPr id="3" name="Espace réservé du contenu 2"/>
          <p:cNvSpPr>
            <a:spLocks noGrp="1"/>
          </p:cNvSpPr>
          <p:nvPr>
            <p:ph sz="quarter" idx="1"/>
          </p:nvPr>
        </p:nvSpPr>
        <p:spPr/>
        <p:txBody>
          <a:bodyPr/>
          <a:lstStyle/>
          <a:p>
            <a:r>
              <a:rPr lang="fr-FR" dirty="0" err="1" smtClean="0"/>
              <a:t>Reseaux</a:t>
            </a:r>
            <a:r>
              <a:rPr lang="fr-FR" dirty="0" smtClean="0"/>
              <a:t> sociaux , </a:t>
            </a:r>
            <a:r>
              <a:rPr lang="fr-FR" dirty="0" err="1" smtClean="0"/>
              <a:t>google</a:t>
            </a:r>
            <a:r>
              <a:rPr lang="fr-FR" dirty="0" smtClean="0"/>
              <a:t> , sites publicitaires …</a:t>
            </a:r>
          </a:p>
          <a:p>
            <a:endParaRPr lang="fr-FR" dirty="0" smtClean="0"/>
          </a:p>
          <a:p>
            <a:r>
              <a:rPr lang="fr-FR" dirty="0" err="1" smtClean="0"/>
              <a:t>Paid</a:t>
            </a:r>
            <a:r>
              <a:rPr lang="fr-FR" dirty="0" smtClean="0"/>
              <a:t> trafic : (</a:t>
            </a:r>
            <a:r>
              <a:rPr lang="fr-FR" dirty="0" err="1" smtClean="0"/>
              <a:t>Audiance</a:t>
            </a:r>
            <a:r>
              <a:rPr lang="fr-FR" dirty="0" smtClean="0"/>
              <a:t> (</a:t>
            </a:r>
            <a:r>
              <a:rPr lang="fr-FR" dirty="0" err="1" smtClean="0"/>
              <a:t>Age,sexe</a:t>
            </a:r>
            <a:r>
              <a:rPr lang="fr-FR" dirty="0" smtClean="0"/>
              <a:t>,</a:t>
            </a:r>
            <a:r>
              <a:rPr lang="fr-FR" dirty="0" err="1" smtClean="0"/>
              <a:t>Geolocalisation</a:t>
            </a:r>
            <a:r>
              <a:rPr lang="fr-FR" dirty="0" smtClean="0"/>
              <a:t>)-</a:t>
            </a:r>
            <a:r>
              <a:rPr lang="fr-FR" dirty="0" err="1" smtClean="0"/>
              <a:t>behaviours</a:t>
            </a:r>
            <a:r>
              <a:rPr lang="fr-FR" dirty="0" smtClean="0"/>
              <a:t>(</a:t>
            </a:r>
            <a:r>
              <a:rPr lang="fr-FR" dirty="0" err="1" smtClean="0"/>
              <a:t>célibataires,mariés</a:t>
            </a:r>
            <a:r>
              <a:rPr lang="fr-FR" dirty="0" smtClean="0"/>
              <a:t>,</a:t>
            </a:r>
            <a:r>
              <a:rPr lang="fr-FR" dirty="0" err="1" smtClean="0"/>
              <a:t>travellers,sportifs</a:t>
            </a:r>
            <a:r>
              <a:rPr lang="fr-FR" dirty="0" smtClean="0"/>
              <a:t> ..)-Mobile(</a:t>
            </a:r>
            <a:r>
              <a:rPr lang="fr-FR" dirty="0" err="1" smtClean="0"/>
              <a:t>Iphone,Android</a:t>
            </a:r>
            <a:r>
              <a:rPr lang="fr-FR" dirty="0" smtClean="0"/>
              <a:t> ..))</a:t>
            </a:r>
          </a:p>
          <a:p>
            <a:endParaRPr lang="fr-FR" dirty="0" smtClean="0"/>
          </a:p>
          <a:p>
            <a:r>
              <a:rPr lang="fr-FR" dirty="0" smtClean="0"/>
              <a:t>Free trafic : post dans un forum</a:t>
            </a:r>
            <a:endParaRPr lang="fr-FR" dirty="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terminologie</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197</a:t>
            </a:fld>
            <a:endParaRPr lang="fr-FR"/>
          </a:p>
        </p:txBody>
      </p:sp>
      <p:sp>
        <p:nvSpPr>
          <p:cNvPr id="3" name="Espace réservé du contenu 2"/>
          <p:cNvSpPr>
            <a:spLocks noGrp="1"/>
          </p:cNvSpPr>
          <p:nvPr>
            <p:ph sz="quarter" idx="1"/>
          </p:nvPr>
        </p:nvSpPr>
        <p:spPr/>
        <p:txBody>
          <a:bodyPr>
            <a:normAutofit lnSpcReduction="10000"/>
          </a:bodyPr>
          <a:lstStyle/>
          <a:p>
            <a:r>
              <a:rPr lang="fr-FR" dirty="0" smtClean="0"/>
              <a:t>Conversion    ( sale conversion , </a:t>
            </a:r>
            <a:r>
              <a:rPr lang="fr-FR" dirty="0" err="1" smtClean="0"/>
              <a:t>lead</a:t>
            </a:r>
            <a:r>
              <a:rPr lang="fr-FR" dirty="0" smtClean="0"/>
              <a:t> conversion)</a:t>
            </a:r>
          </a:p>
          <a:p>
            <a:endParaRPr lang="fr-FR" dirty="0" smtClean="0"/>
          </a:p>
          <a:p>
            <a:endParaRPr lang="fr-FR" dirty="0" smtClean="0"/>
          </a:p>
          <a:p>
            <a:r>
              <a:rPr lang="fr-FR" dirty="0" smtClean="0"/>
              <a:t>Sale conversion :   visiteurs -------- acheteurs</a:t>
            </a:r>
          </a:p>
          <a:p>
            <a:endParaRPr lang="fr-FR" dirty="0" smtClean="0"/>
          </a:p>
          <a:p>
            <a:r>
              <a:rPr lang="fr-FR" dirty="0" err="1" smtClean="0"/>
              <a:t>Lead</a:t>
            </a:r>
            <a:r>
              <a:rPr lang="fr-FR" dirty="0" smtClean="0"/>
              <a:t> conversion : visiteurs --------- saisir leurs coordonnées</a:t>
            </a:r>
          </a:p>
          <a:p>
            <a:endParaRPr lang="fr-FR" dirty="0" smtClean="0"/>
          </a:p>
          <a:p>
            <a:r>
              <a:rPr lang="fr-FR" dirty="0" smtClean="0"/>
              <a:t>Cr : conversion rate  (le pourcentage)</a:t>
            </a:r>
          </a:p>
          <a:p>
            <a:r>
              <a:rPr lang="fr-FR" dirty="0" smtClean="0"/>
              <a:t>Exemple </a:t>
            </a:r>
            <a:r>
              <a:rPr lang="fr-FR" dirty="0" err="1" smtClean="0"/>
              <a:t>cr</a:t>
            </a:r>
            <a:r>
              <a:rPr lang="fr-FR" dirty="0" smtClean="0"/>
              <a:t> (sale) =3%      pour chaque 100 visiteurs 3 ont acheté </a:t>
            </a:r>
          </a:p>
          <a:p>
            <a:endParaRPr lang="fr-FR"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COD - </a:t>
            </a:r>
            <a:r>
              <a:rPr lang="fr-FR" dirty="0" err="1" smtClean="0"/>
              <a:t>Dropshipping</a:t>
            </a:r>
            <a:endParaRPr lang="fr-FR"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198</a:t>
            </a:fld>
            <a:endParaRPr lang="fr-FR"/>
          </a:p>
        </p:txBody>
      </p:sp>
      <p:sp>
        <p:nvSpPr>
          <p:cNvPr id="3" name="Espace réservé du contenu 2"/>
          <p:cNvSpPr>
            <a:spLocks noGrp="1"/>
          </p:cNvSpPr>
          <p:nvPr>
            <p:ph sz="quarter" idx="1"/>
          </p:nvPr>
        </p:nvSpPr>
        <p:spPr/>
        <p:txBody>
          <a:bodyPr/>
          <a:lstStyle/>
          <a:p>
            <a:r>
              <a:rPr lang="fr-FR" dirty="0" smtClean="0"/>
              <a:t>Cod : cash on </a:t>
            </a:r>
            <a:r>
              <a:rPr lang="fr-FR" dirty="0" err="1" smtClean="0"/>
              <a:t>delivery</a:t>
            </a:r>
            <a:r>
              <a:rPr lang="fr-FR" dirty="0" smtClean="0"/>
              <a:t> : payer à la livraison (</a:t>
            </a:r>
            <a:r>
              <a:rPr lang="fr-FR" dirty="0" err="1" smtClean="0"/>
              <a:t>Amana,Aramex</a:t>
            </a:r>
            <a:r>
              <a:rPr lang="fr-FR" dirty="0" smtClean="0"/>
              <a:t>..)</a:t>
            </a:r>
          </a:p>
          <a:p>
            <a:endParaRPr lang="fr-FR" dirty="0" smtClean="0"/>
          </a:p>
          <a:p>
            <a:r>
              <a:rPr lang="fr-FR" dirty="0" err="1" smtClean="0"/>
              <a:t>Dropshipping</a:t>
            </a:r>
            <a:r>
              <a:rPr lang="fr-FR" dirty="0" smtClean="0"/>
              <a:t> :</a:t>
            </a:r>
            <a:r>
              <a:rPr lang="fr-FR" dirty="0" err="1" smtClean="0"/>
              <a:t>paypal</a:t>
            </a:r>
            <a:r>
              <a:rPr lang="fr-FR" dirty="0" smtClean="0"/>
              <a:t> ,</a:t>
            </a:r>
            <a:r>
              <a:rPr lang="fr-FR" dirty="0" err="1" smtClean="0"/>
              <a:t>stripe</a:t>
            </a:r>
            <a:r>
              <a:rPr lang="fr-FR" dirty="0" smtClean="0"/>
              <a:t>…</a:t>
            </a:r>
          </a:p>
          <a:p>
            <a:endParaRPr lang="fr-FR" dirty="0"/>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55576" y="2996952"/>
            <a:ext cx="7772400" cy="1143000"/>
          </a:xfrm>
        </p:spPr>
        <p:txBody>
          <a:bodyPr>
            <a:noAutofit/>
          </a:bodyPr>
          <a:lstStyle/>
          <a:p>
            <a:r>
              <a:rPr lang="fr-CA" sz="8000" dirty="0" err="1" smtClean="0"/>
              <a:t>Laravel</a:t>
            </a:r>
            <a:endParaRPr lang="fr-FR" sz="8000" dirty="0"/>
          </a:p>
        </p:txBody>
      </p:sp>
      <p:sp>
        <p:nvSpPr>
          <p:cNvPr id="4" name="Espace réservé du numéro de diapositive 3"/>
          <p:cNvSpPr>
            <a:spLocks noGrp="1"/>
          </p:cNvSpPr>
          <p:nvPr>
            <p:ph type="sldNum" sz="quarter" idx="12"/>
          </p:nvPr>
        </p:nvSpPr>
        <p:spPr/>
        <p:txBody>
          <a:bodyPr/>
          <a:lstStyle/>
          <a:p>
            <a:pPr>
              <a:defRPr/>
            </a:pPr>
            <a:fld id="{2587FB62-00FB-47AF-8468-6E513D457B45}" type="slidenum">
              <a:rPr lang="fr-FR" smtClean="0"/>
              <a:pPr>
                <a:defRPr/>
              </a:pPr>
              <a:t>199</a:t>
            </a:fld>
            <a:endParaRPr lang="fr-FR"/>
          </a:p>
        </p:txBody>
      </p:sp>
    </p:spTree>
    <p:extLst>
      <p:ext uri="{BB962C8B-B14F-4D97-AF65-F5344CB8AC3E}">
        <p14:creationId xmlns:p14="http://schemas.microsoft.com/office/powerpoint/2010/main" val="263727932"/>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smtClean="0"/>
              <a:t>Qu’est ce qu’un Framework</a:t>
            </a:r>
            <a:endParaRPr lang="fr-FR" dirty="0"/>
          </a:p>
        </p:txBody>
      </p:sp>
      <p:sp>
        <p:nvSpPr>
          <p:cNvPr id="3" name="Espace réservé du numéro de diapositive 2"/>
          <p:cNvSpPr>
            <a:spLocks noGrp="1"/>
          </p:cNvSpPr>
          <p:nvPr>
            <p:ph type="sldNum" sz="quarter" idx="12"/>
          </p:nvPr>
        </p:nvSpPr>
        <p:spPr/>
        <p:txBody>
          <a:bodyPr/>
          <a:lstStyle/>
          <a:p>
            <a:pPr>
              <a:defRPr/>
            </a:pPr>
            <a:fld id="{2587FB62-00FB-47AF-8468-6E513D457B45}" type="slidenum">
              <a:rPr lang="fr-FR" smtClean="0"/>
              <a:pPr>
                <a:defRPr/>
              </a:pPr>
              <a:t>200</a:t>
            </a:fld>
            <a:endParaRPr lang="fr-FR"/>
          </a:p>
        </p:txBody>
      </p:sp>
      <p:sp>
        <p:nvSpPr>
          <p:cNvPr id="4" name="Espace réservé du contenu 3"/>
          <p:cNvSpPr>
            <a:spLocks noGrp="1"/>
          </p:cNvSpPr>
          <p:nvPr>
            <p:ph sz="quarter" idx="1"/>
          </p:nvPr>
        </p:nvSpPr>
        <p:spPr/>
        <p:txBody>
          <a:bodyPr/>
          <a:lstStyle/>
          <a:p>
            <a:r>
              <a:rPr lang="fr-CA" dirty="0" smtClean="0"/>
              <a:t>C’est un ensemble d’outils qui sert à faciliter le travail du développeur, </a:t>
            </a:r>
          </a:p>
          <a:p>
            <a:endParaRPr lang="fr-CA" dirty="0"/>
          </a:p>
          <a:p>
            <a:endParaRPr lang="fr-CA" dirty="0" smtClean="0"/>
          </a:p>
          <a:p>
            <a:r>
              <a:rPr lang="fr-CA" dirty="0" smtClean="0"/>
              <a:t>Dans le cas du </a:t>
            </a:r>
            <a:r>
              <a:rPr lang="fr-CA" dirty="0" err="1" smtClean="0"/>
              <a:t>php</a:t>
            </a:r>
            <a:r>
              <a:rPr lang="fr-CA" dirty="0" smtClean="0"/>
              <a:t> ,</a:t>
            </a:r>
            <a:r>
              <a:rPr lang="fr-CA" dirty="0" err="1" smtClean="0"/>
              <a:t>Laravel</a:t>
            </a:r>
            <a:r>
              <a:rPr lang="fr-CA" dirty="0" smtClean="0"/>
              <a:t> est un </a:t>
            </a:r>
            <a:r>
              <a:rPr lang="fr-CA" dirty="0" err="1" smtClean="0"/>
              <a:t>framework</a:t>
            </a:r>
            <a:r>
              <a:rPr lang="fr-CA" dirty="0" smtClean="0"/>
              <a:t> basé </a:t>
            </a:r>
            <a:r>
              <a:rPr lang="fr-CA" dirty="0"/>
              <a:t>sur l’architecture MVC,</a:t>
            </a:r>
            <a:r>
              <a:rPr lang="fr-CA" dirty="0" smtClean="0"/>
              <a:t> et qui constitué d’un ensemble de fonctions de bases que l’on peut trouver dans la plupart des application PHP</a:t>
            </a:r>
            <a:r>
              <a:rPr lang="fr-CA" dirty="0"/>
              <a:t>(‘(système d’</a:t>
            </a:r>
            <a:r>
              <a:rPr lang="fr-CA" dirty="0" err="1"/>
              <a:t>authentification,gestion</a:t>
            </a:r>
            <a:r>
              <a:rPr lang="fr-CA" dirty="0"/>
              <a:t> d’erreurs, gestion des droits</a:t>
            </a:r>
            <a:r>
              <a:rPr lang="fr-CA" dirty="0" smtClean="0"/>
              <a:t>) .</a:t>
            </a:r>
            <a:endParaRPr lang="fr-FR" dirty="0"/>
          </a:p>
        </p:txBody>
      </p:sp>
    </p:spTree>
    <p:extLst>
      <p:ext uri="{BB962C8B-B14F-4D97-AF65-F5344CB8AC3E}">
        <p14:creationId xmlns:p14="http://schemas.microsoft.com/office/powerpoint/2010/main" val="1402380360"/>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dirty="0" smtClean="0"/>
              <a:t>Le </a:t>
            </a:r>
            <a:r>
              <a:rPr lang="fr-CA" dirty="0" err="1" smtClean="0"/>
              <a:t>framework</a:t>
            </a:r>
            <a:r>
              <a:rPr lang="fr-CA" dirty="0" smtClean="0"/>
              <a:t> </a:t>
            </a:r>
            <a:r>
              <a:rPr lang="fr-CA" dirty="0" err="1" smtClean="0"/>
              <a:t>Laravel</a:t>
            </a:r>
            <a:r>
              <a:rPr lang="fr-CA" dirty="0" smtClean="0"/>
              <a:t> </a:t>
            </a:r>
            <a:r>
              <a:rPr lang="fr-CA" dirty="0"/>
              <a:t>offre :</a:t>
            </a:r>
            <a:br>
              <a:rPr lang="fr-CA" dirty="0"/>
            </a:br>
            <a:endParaRPr lang="fr-FR" dirty="0"/>
          </a:p>
        </p:txBody>
      </p:sp>
      <p:sp>
        <p:nvSpPr>
          <p:cNvPr id="3" name="Espace réservé du numéro de diapositive 2"/>
          <p:cNvSpPr>
            <a:spLocks noGrp="1"/>
          </p:cNvSpPr>
          <p:nvPr>
            <p:ph type="sldNum" sz="quarter" idx="12"/>
          </p:nvPr>
        </p:nvSpPr>
        <p:spPr/>
        <p:txBody>
          <a:bodyPr/>
          <a:lstStyle/>
          <a:p>
            <a:pPr>
              <a:defRPr/>
            </a:pPr>
            <a:fld id="{2587FB62-00FB-47AF-8468-6E513D457B45}" type="slidenum">
              <a:rPr lang="fr-FR" smtClean="0"/>
              <a:pPr>
                <a:defRPr/>
              </a:pPr>
              <a:t>201</a:t>
            </a:fld>
            <a:endParaRPr lang="fr-FR"/>
          </a:p>
        </p:txBody>
      </p:sp>
      <p:sp>
        <p:nvSpPr>
          <p:cNvPr id="4" name="Espace réservé du contenu 3"/>
          <p:cNvSpPr>
            <a:spLocks noGrp="1"/>
          </p:cNvSpPr>
          <p:nvPr>
            <p:ph sz="quarter" idx="1"/>
          </p:nvPr>
        </p:nvSpPr>
        <p:spPr/>
        <p:txBody>
          <a:bodyPr/>
          <a:lstStyle/>
          <a:p>
            <a:r>
              <a:rPr lang="fr-CA" dirty="0" smtClean="0"/>
              <a:t>Un système d’envoie d’emails, </a:t>
            </a:r>
          </a:p>
          <a:p>
            <a:r>
              <a:rPr lang="fr-CA" dirty="0"/>
              <a:t>un système de routage performent,</a:t>
            </a:r>
          </a:p>
          <a:p>
            <a:r>
              <a:rPr lang="fr-CA" dirty="0" smtClean="0"/>
              <a:t>un moteur de Template efficace, </a:t>
            </a:r>
          </a:p>
          <a:p>
            <a:r>
              <a:rPr lang="fr-CA" dirty="0" smtClean="0"/>
              <a:t>un système d’authentification pour les connexions et inscriptions, </a:t>
            </a:r>
          </a:p>
          <a:p>
            <a:r>
              <a:rPr lang="fr-CA" dirty="0" smtClean="0"/>
              <a:t>Un système de migrations pour les bases de données,</a:t>
            </a:r>
          </a:p>
          <a:p>
            <a:r>
              <a:rPr lang="fr-CA" dirty="0" smtClean="0"/>
              <a:t>un créateur de </a:t>
            </a:r>
            <a:r>
              <a:rPr lang="fr-CA" dirty="0" err="1" smtClean="0"/>
              <a:t>requettes</a:t>
            </a:r>
            <a:r>
              <a:rPr lang="fr-CA" dirty="0" smtClean="0"/>
              <a:t> SQL et un ORM performent.</a:t>
            </a:r>
          </a:p>
          <a:p>
            <a:r>
              <a:rPr lang="fr-CA" dirty="0" smtClean="0"/>
              <a:t>Un système de cache</a:t>
            </a:r>
          </a:p>
          <a:p>
            <a:r>
              <a:rPr lang="fr-CA" dirty="0" smtClean="0"/>
              <a:t>Une gestion des sessions</a:t>
            </a:r>
            <a:endParaRPr lang="fr-FR" dirty="0"/>
          </a:p>
        </p:txBody>
      </p:sp>
    </p:spTree>
    <p:extLst>
      <p:ext uri="{BB962C8B-B14F-4D97-AF65-F5344CB8AC3E}">
        <p14:creationId xmlns:p14="http://schemas.microsoft.com/office/powerpoint/2010/main" val="1213901054"/>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2"/>
          </p:nvPr>
        </p:nvSpPr>
        <p:spPr/>
        <p:txBody>
          <a:bodyPr/>
          <a:lstStyle/>
          <a:p>
            <a:pPr>
              <a:defRPr/>
            </a:pPr>
            <a:fld id="{2587FB62-00FB-47AF-8468-6E513D457B45}" type="slidenum">
              <a:rPr lang="fr-FR" smtClean="0"/>
              <a:pPr>
                <a:defRPr/>
              </a:pPr>
              <a:t>202</a:t>
            </a:fld>
            <a:endParaRPr lang="fr-F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7793" y="782977"/>
            <a:ext cx="6642423" cy="3000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827584" y="4094029"/>
            <a:ext cx="7632848" cy="10081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smtClean="0"/>
              <a:t>Composer </a:t>
            </a:r>
            <a:r>
              <a:rPr lang="fr-CA" dirty="0"/>
              <a:t>est un logiciel gestionnaire de dépendances libre écrit en PHP. Il permet à ses utilisateurs de déclarer et d'installer les bibliothèques dont le projet principal a besoin.</a:t>
            </a:r>
            <a:endParaRPr lang="fr-FR" dirty="0"/>
          </a:p>
        </p:txBody>
      </p:sp>
      <p:sp>
        <p:nvSpPr>
          <p:cNvPr id="7" name="Rectangle 6"/>
          <p:cNvSpPr/>
          <p:nvPr/>
        </p:nvSpPr>
        <p:spPr>
          <a:xfrm>
            <a:off x="832581" y="5373216"/>
            <a:ext cx="7632848" cy="10081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err="1" smtClean="0"/>
              <a:t>WampServer</a:t>
            </a:r>
            <a:r>
              <a:rPr lang="fr-CA" dirty="0" smtClean="0"/>
              <a:t> </a:t>
            </a:r>
            <a:r>
              <a:rPr lang="fr-CA" dirty="0"/>
              <a:t>est une plateforme de développement Web de type WAMP, permettant de faire fonctionner localement des scripts PHP.</a:t>
            </a:r>
            <a:endParaRPr lang="fr-FR" dirty="0"/>
          </a:p>
        </p:txBody>
      </p:sp>
    </p:spTree>
    <p:extLst>
      <p:ext uri="{BB962C8B-B14F-4D97-AF65-F5344CB8AC3E}">
        <p14:creationId xmlns:p14="http://schemas.microsoft.com/office/powerpoint/2010/main" val="243657253"/>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smtClean="0"/>
              <a:t>Créer un Projet </a:t>
            </a:r>
            <a:r>
              <a:rPr lang="fr-CA" dirty="0" err="1" smtClean="0"/>
              <a:t>Laravel</a:t>
            </a:r>
            <a:endParaRPr lang="fr-FR" dirty="0"/>
          </a:p>
        </p:txBody>
      </p:sp>
      <p:sp>
        <p:nvSpPr>
          <p:cNvPr id="3" name="Espace réservé du numéro de diapositive 2"/>
          <p:cNvSpPr>
            <a:spLocks noGrp="1"/>
          </p:cNvSpPr>
          <p:nvPr>
            <p:ph type="sldNum" sz="quarter" idx="12"/>
          </p:nvPr>
        </p:nvSpPr>
        <p:spPr/>
        <p:txBody>
          <a:bodyPr/>
          <a:lstStyle/>
          <a:p>
            <a:pPr>
              <a:defRPr/>
            </a:pPr>
            <a:fld id="{2587FB62-00FB-47AF-8468-6E513D457B45}" type="slidenum">
              <a:rPr lang="fr-FR" smtClean="0"/>
              <a:pPr>
                <a:defRPr/>
              </a:pPr>
              <a:t>203</a:t>
            </a:fld>
            <a:endParaRPr lang="fr-FR"/>
          </a:p>
        </p:txBody>
      </p:sp>
      <p:sp>
        <p:nvSpPr>
          <p:cNvPr id="4" name="Espace réservé du contenu 3"/>
          <p:cNvSpPr>
            <a:spLocks noGrp="1"/>
          </p:cNvSpPr>
          <p:nvPr>
            <p:ph sz="quarter" idx="1"/>
          </p:nvPr>
        </p:nvSpPr>
        <p:spPr/>
        <p:txBody>
          <a:bodyPr>
            <a:normAutofit lnSpcReduction="10000"/>
          </a:bodyPr>
          <a:lstStyle/>
          <a:p>
            <a:pPr marL="0" indent="0">
              <a:buNone/>
            </a:pPr>
            <a:r>
              <a:rPr lang="fr-CA" dirty="0" smtClean="0"/>
              <a:t>1-se positionner au dossier WWW du </a:t>
            </a:r>
            <a:r>
              <a:rPr lang="fr-CA" dirty="0" err="1" smtClean="0"/>
              <a:t>wapm</a:t>
            </a:r>
            <a:r>
              <a:rPr lang="fr-CA" dirty="0" smtClean="0"/>
              <a:t> et </a:t>
            </a:r>
            <a:r>
              <a:rPr lang="fr-CA" dirty="0" err="1" smtClean="0"/>
              <a:t>executer</a:t>
            </a:r>
            <a:r>
              <a:rPr lang="fr-CA" dirty="0" smtClean="0"/>
              <a:t> la commande : </a:t>
            </a:r>
          </a:p>
          <a:p>
            <a:pPr marL="0" indent="0">
              <a:buNone/>
            </a:pPr>
            <a:r>
              <a:rPr lang="fr-FR" b="1" dirty="0" smtClean="0"/>
              <a:t> composer </a:t>
            </a:r>
            <a:r>
              <a:rPr lang="fr-FR" b="1" dirty="0" err="1"/>
              <a:t>create-project</a:t>
            </a:r>
            <a:r>
              <a:rPr lang="fr-FR" b="1" dirty="0"/>
              <a:t> --</a:t>
            </a:r>
            <a:r>
              <a:rPr lang="fr-FR" b="1" dirty="0" err="1"/>
              <a:t>prefer-dist</a:t>
            </a:r>
            <a:r>
              <a:rPr lang="fr-FR" b="1" dirty="0"/>
              <a:t> </a:t>
            </a:r>
            <a:r>
              <a:rPr lang="fr-FR" b="1" dirty="0" err="1"/>
              <a:t>laravel</a:t>
            </a:r>
            <a:r>
              <a:rPr lang="fr-FR" b="1" dirty="0"/>
              <a:t>/</a:t>
            </a:r>
            <a:r>
              <a:rPr lang="fr-FR" b="1" dirty="0" err="1"/>
              <a:t>laravel</a:t>
            </a:r>
            <a:r>
              <a:rPr lang="fr-FR" b="1" dirty="0"/>
              <a:t> </a:t>
            </a:r>
            <a:r>
              <a:rPr lang="fr-FR" b="1" dirty="0" err="1" smtClean="0"/>
              <a:t>NomDuProjet</a:t>
            </a:r>
            <a:endParaRPr lang="fr-FR" b="1" dirty="0" smtClean="0"/>
          </a:p>
          <a:p>
            <a:pPr marL="0" indent="0">
              <a:buNone/>
            </a:pPr>
            <a:endParaRPr lang="fr-CA" b="1" dirty="0"/>
          </a:p>
          <a:p>
            <a:pPr marL="0" indent="0">
              <a:buNone/>
            </a:pPr>
            <a:r>
              <a:rPr lang="fr-CA" dirty="0"/>
              <a:t>2-une fois le projet créé, on peut le lancer via la commande : </a:t>
            </a:r>
          </a:p>
          <a:p>
            <a:pPr marL="0" indent="0">
              <a:buNone/>
            </a:pPr>
            <a:r>
              <a:rPr lang="fr-CA" b="1" dirty="0"/>
              <a:t> </a:t>
            </a:r>
            <a:r>
              <a:rPr lang="fr-CA" b="1" dirty="0" err="1" smtClean="0"/>
              <a:t>php</a:t>
            </a:r>
            <a:r>
              <a:rPr lang="fr-CA" b="1" dirty="0" smtClean="0"/>
              <a:t> artisan </a:t>
            </a:r>
            <a:r>
              <a:rPr lang="fr-CA" b="1" dirty="0" err="1" smtClean="0"/>
              <a:t>serv</a:t>
            </a:r>
            <a:endParaRPr lang="fr-CA" b="1" dirty="0" smtClean="0"/>
          </a:p>
          <a:p>
            <a:pPr marL="0" indent="0">
              <a:buNone/>
            </a:pPr>
            <a:endParaRPr lang="fr-CA" b="1" dirty="0"/>
          </a:p>
          <a:p>
            <a:pPr marL="0" indent="0">
              <a:buNone/>
            </a:pPr>
            <a:r>
              <a:rPr lang="fr-CA" b="1" dirty="0" smtClean="0"/>
              <a:t>3</a:t>
            </a:r>
            <a:r>
              <a:rPr lang="fr-CA" dirty="0"/>
              <a:t>-installer l’extension </a:t>
            </a:r>
            <a:r>
              <a:rPr lang="fr-CA" dirty="0" err="1" smtClean="0"/>
              <a:t>cocur</a:t>
            </a:r>
            <a:r>
              <a:rPr lang="fr-CA" dirty="0" smtClean="0"/>
              <a:t>/</a:t>
            </a:r>
            <a:r>
              <a:rPr lang="fr-CA" dirty="0" err="1" smtClean="0"/>
              <a:t>slugify</a:t>
            </a:r>
            <a:r>
              <a:rPr lang="fr-CA" dirty="0"/>
              <a:t>( </a:t>
            </a:r>
            <a:r>
              <a:rPr lang="fr-FR" dirty="0"/>
              <a:t>Supprime tous les caractères spéciaux d'une </a:t>
            </a:r>
            <a:r>
              <a:rPr lang="fr-FR" dirty="0" smtClean="0"/>
              <a:t>chaîne) via la commande:</a:t>
            </a:r>
            <a:endParaRPr lang="fr-CA" b="1" dirty="0" smtClean="0"/>
          </a:p>
          <a:p>
            <a:pPr marL="0" indent="0">
              <a:buNone/>
            </a:pPr>
            <a:r>
              <a:rPr lang="fr-CA" dirty="0"/>
              <a:t> </a:t>
            </a:r>
            <a:r>
              <a:rPr lang="fr-CA" dirty="0" smtClean="0"/>
              <a:t>   </a:t>
            </a:r>
            <a:r>
              <a:rPr lang="fr-FR" b="1" dirty="0"/>
              <a:t>composer </a:t>
            </a:r>
            <a:r>
              <a:rPr lang="fr-FR" b="1" dirty="0" err="1"/>
              <a:t>require</a:t>
            </a:r>
            <a:r>
              <a:rPr lang="fr-FR" b="1" dirty="0"/>
              <a:t> </a:t>
            </a:r>
            <a:r>
              <a:rPr lang="fr-FR" b="1" dirty="0" err="1"/>
              <a:t>cocur</a:t>
            </a:r>
            <a:r>
              <a:rPr lang="fr-FR" b="1" dirty="0"/>
              <a:t>/</a:t>
            </a:r>
            <a:r>
              <a:rPr lang="fr-FR" b="1" dirty="0" err="1"/>
              <a:t>slugify</a:t>
            </a:r>
            <a:endParaRPr lang="fr-FR" b="1" dirty="0"/>
          </a:p>
        </p:txBody>
      </p:sp>
    </p:spTree>
    <p:extLst>
      <p:ext uri="{BB962C8B-B14F-4D97-AF65-F5344CB8AC3E}">
        <p14:creationId xmlns:p14="http://schemas.microsoft.com/office/powerpoint/2010/main" val="1396136665"/>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smtClean="0"/>
              <a:t>Architecture d’un projet </a:t>
            </a:r>
            <a:r>
              <a:rPr lang="fr-CA" dirty="0" err="1" smtClean="0"/>
              <a:t>Laravel</a:t>
            </a:r>
            <a:r>
              <a:rPr lang="fr-CA" dirty="0" smtClean="0"/>
              <a:t>:</a:t>
            </a:r>
            <a:endParaRPr lang="fr-FR" dirty="0"/>
          </a:p>
        </p:txBody>
      </p:sp>
      <p:sp>
        <p:nvSpPr>
          <p:cNvPr id="3" name="Espace réservé du numéro de diapositive 2"/>
          <p:cNvSpPr>
            <a:spLocks noGrp="1"/>
          </p:cNvSpPr>
          <p:nvPr>
            <p:ph type="sldNum" sz="quarter" idx="12"/>
          </p:nvPr>
        </p:nvSpPr>
        <p:spPr/>
        <p:txBody>
          <a:bodyPr/>
          <a:lstStyle/>
          <a:p>
            <a:pPr>
              <a:defRPr/>
            </a:pPr>
            <a:fld id="{2587FB62-00FB-47AF-8468-6E513D457B45}" type="slidenum">
              <a:rPr lang="fr-FR" smtClean="0"/>
              <a:pPr>
                <a:defRPr/>
              </a:pPr>
              <a:t>204</a:t>
            </a:fld>
            <a:endParaRPr lang="fr-FR"/>
          </a:p>
        </p:txBody>
      </p:sp>
      <p:sp>
        <p:nvSpPr>
          <p:cNvPr id="4" name="Espace réservé du contenu 3"/>
          <p:cNvSpPr>
            <a:spLocks noGrp="1"/>
          </p:cNvSpPr>
          <p:nvPr>
            <p:ph sz="quarter" idx="1"/>
          </p:nvPr>
        </p:nvSpPr>
        <p:spPr/>
        <p:txBody>
          <a:bodyPr/>
          <a:lstStyle/>
          <a:p>
            <a:r>
              <a:rPr lang="fr-CA" dirty="0" err="1"/>
              <a:t>a</a:t>
            </a:r>
            <a:r>
              <a:rPr lang="fr-CA" dirty="0" err="1" smtClean="0"/>
              <a:t>pp</a:t>
            </a:r>
            <a:r>
              <a:rPr lang="fr-CA" dirty="0" smtClean="0"/>
              <a:t>: le dossier le plus important du projet (contient les </a:t>
            </a:r>
            <a:r>
              <a:rPr lang="fr-CA" dirty="0" err="1" smtClean="0"/>
              <a:t>mdels,les</a:t>
            </a:r>
            <a:r>
              <a:rPr lang="fr-CA" dirty="0" smtClean="0"/>
              <a:t> </a:t>
            </a:r>
            <a:r>
              <a:rPr lang="fr-CA" dirty="0" err="1" smtClean="0"/>
              <a:t>controlleurs</a:t>
            </a:r>
            <a:r>
              <a:rPr lang="fr-CA" dirty="0" smtClean="0"/>
              <a:t>…)</a:t>
            </a:r>
          </a:p>
          <a:p>
            <a:r>
              <a:rPr lang="fr-CA" dirty="0" err="1"/>
              <a:t>b</a:t>
            </a:r>
            <a:r>
              <a:rPr lang="fr-CA" dirty="0" err="1" smtClean="0"/>
              <a:t>ootstrap</a:t>
            </a:r>
            <a:r>
              <a:rPr lang="fr-CA" dirty="0" smtClean="0"/>
              <a:t> : contient des fichiers liés au lancement du </a:t>
            </a:r>
            <a:r>
              <a:rPr lang="fr-CA" dirty="0" err="1" smtClean="0"/>
              <a:t>framework</a:t>
            </a:r>
            <a:endParaRPr lang="fr-CA" dirty="0" smtClean="0"/>
          </a:p>
          <a:p>
            <a:r>
              <a:rPr lang="fr-CA" dirty="0"/>
              <a:t>c</a:t>
            </a:r>
            <a:r>
              <a:rPr lang="fr-CA" dirty="0" smtClean="0"/>
              <a:t>onfig : permet la configuration du </a:t>
            </a:r>
            <a:r>
              <a:rPr lang="fr-CA" dirty="0" err="1" smtClean="0"/>
              <a:t>framework</a:t>
            </a:r>
            <a:endParaRPr lang="fr-CA" dirty="0" smtClean="0"/>
          </a:p>
          <a:p>
            <a:r>
              <a:rPr lang="fr-CA" dirty="0" err="1"/>
              <a:t>d</a:t>
            </a:r>
            <a:r>
              <a:rPr lang="fr-CA" dirty="0" err="1" smtClean="0"/>
              <a:t>atabase</a:t>
            </a:r>
            <a:r>
              <a:rPr lang="fr-CA" dirty="0" smtClean="0"/>
              <a:t>: permet la gestion de la Base de </a:t>
            </a:r>
            <a:r>
              <a:rPr lang="fr-CA" dirty="0" err="1" smtClean="0"/>
              <a:t>donées</a:t>
            </a:r>
            <a:r>
              <a:rPr lang="fr-CA" dirty="0" smtClean="0"/>
              <a:t>(migrations)</a:t>
            </a:r>
          </a:p>
          <a:p>
            <a:endParaRPr lang="fr-CA" dirty="0" smtClean="0"/>
          </a:p>
          <a:p>
            <a:r>
              <a:rPr lang="fr-CA" dirty="0" smtClean="0"/>
              <a:t>public: contient les fichiers accessibles par le visiteur</a:t>
            </a:r>
            <a:r>
              <a:rPr lang="fr-CA" dirty="0"/>
              <a:t>(images, </a:t>
            </a:r>
            <a:r>
              <a:rPr lang="fr-CA" dirty="0" err="1"/>
              <a:t>css</a:t>
            </a:r>
            <a:r>
              <a:rPr lang="fr-CA" dirty="0"/>
              <a:t>…) </a:t>
            </a:r>
            <a:r>
              <a:rPr lang="fr-CA" dirty="0" smtClean="0"/>
              <a:t>,le fichier </a:t>
            </a:r>
            <a:r>
              <a:rPr lang="fr-CA" dirty="0" err="1" smtClean="0"/>
              <a:t>index.php</a:t>
            </a:r>
            <a:r>
              <a:rPr lang="fr-CA" dirty="0" smtClean="0"/>
              <a:t> (représente le point d’entrée de l’application)</a:t>
            </a:r>
            <a:endParaRPr lang="fr-FR" dirty="0"/>
          </a:p>
        </p:txBody>
      </p:sp>
    </p:spTree>
    <p:extLst>
      <p:ext uri="{BB962C8B-B14F-4D97-AF65-F5344CB8AC3E}">
        <p14:creationId xmlns:p14="http://schemas.microsoft.com/office/powerpoint/2010/main" val="1641279298"/>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numéro de diapositive 2"/>
          <p:cNvSpPr>
            <a:spLocks noGrp="1"/>
          </p:cNvSpPr>
          <p:nvPr>
            <p:ph type="sldNum" sz="quarter" idx="12"/>
          </p:nvPr>
        </p:nvSpPr>
        <p:spPr/>
        <p:txBody>
          <a:bodyPr/>
          <a:lstStyle/>
          <a:p>
            <a:pPr>
              <a:defRPr/>
            </a:pPr>
            <a:fld id="{2587FB62-00FB-47AF-8468-6E513D457B45}" type="slidenum">
              <a:rPr lang="fr-FR" smtClean="0"/>
              <a:pPr>
                <a:defRPr/>
              </a:pPr>
              <a:t>205</a:t>
            </a:fld>
            <a:endParaRPr lang="fr-FR"/>
          </a:p>
        </p:txBody>
      </p:sp>
      <p:sp>
        <p:nvSpPr>
          <p:cNvPr id="4" name="Espace réservé du contenu 3"/>
          <p:cNvSpPr>
            <a:spLocks noGrp="1"/>
          </p:cNvSpPr>
          <p:nvPr>
            <p:ph sz="quarter" idx="1"/>
          </p:nvPr>
        </p:nvSpPr>
        <p:spPr/>
        <p:txBody>
          <a:bodyPr/>
          <a:lstStyle/>
          <a:p>
            <a:r>
              <a:rPr lang="fr-CA" dirty="0" smtClean="0"/>
              <a:t>ressources: contient les </a:t>
            </a:r>
            <a:r>
              <a:rPr lang="fr-CA" dirty="0" err="1" smtClean="0"/>
              <a:t>views</a:t>
            </a:r>
            <a:r>
              <a:rPr lang="fr-CA" dirty="0" smtClean="0"/>
              <a:t> de notre application</a:t>
            </a:r>
          </a:p>
          <a:p>
            <a:r>
              <a:rPr lang="fr-CA" dirty="0"/>
              <a:t>r</a:t>
            </a:r>
            <a:r>
              <a:rPr lang="fr-CA" dirty="0" smtClean="0"/>
              <a:t>oute: déclarer les routes de l’application</a:t>
            </a:r>
          </a:p>
          <a:p>
            <a:r>
              <a:rPr lang="fr-CA" dirty="0" err="1"/>
              <a:t>s</a:t>
            </a:r>
            <a:r>
              <a:rPr lang="fr-CA" dirty="0" err="1" smtClean="0"/>
              <a:t>torage</a:t>
            </a:r>
            <a:r>
              <a:rPr lang="fr-CA" dirty="0" smtClean="0"/>
              <a:t>: contient les fichiers générés par l’application (facture PDF , photo de profile…)</a:t>
            </a:r>
          </a:p>
          <a:p>
            <a:r>
              <a:rPr lang="fr-CA" dirty="0"/>
              <a:t>t</a:t>
            </a:r>
            <a:r>
              <a:rPr lang="fr-CA" dirty="0" smtClean="0"/>
              <a:t>ests : contient les fichiers liés aux tests de l’application</a:t>
            </a:r>
          </a:p>
          <a:p>
            <a:r>
              <a:rPr lang="fr-CA" dirty="0" err="1"/>
              <a:t>v</a:t>
            </a:r>
            <a:r>
              <a:rPr lang="fr-CA" dirty="0" err="1" smtClean="0"/>
              <a:t>endor</a:t>
            </a:r>
            <a:r>
              <a:rPr lang="fr-CA" dirty="0" smtClean="0"/>
              <a:t>: contient toutes les dépendances installées via composer</a:t>
            </a:r>
          </a:p>
          <a:p>
            <a:r>
              <a:rPr lang="fr-CA" dirty="0" smtClean="0"/>
              <a:t>.</a:t>
            </a:r>
            <a:r>
              <a:rPr lang="fr-CA" dirty="0" err="1" smtClean="0"/>
              <a:t>env</a:t>
            </a:r>
            <a:r>
              <a:rPr lang="fr-CA" dirty="0" smtClean="0"/>
              <a:t> : contient les information sensibles de l’application</a:t>
            </a:r>
          </a:p>
          <a:p>
            <a:r>
              <a:rPr lang="fr-CA" dirty="0"/>
              <a:t>a</a:t>
            </a:r>
            <a:r>
              <a:rPr lang="fr-CA" dirty="0" smtClean="0"/>
              <a:t>rtisan : va permettre de lancer des commandes</a:t>
            </a:r>
          </a:p>
          <a:p>
            <a:endParaRPr lang="fr-FR" dirty="0"/>
          </a:p>
        </p:txBody>
      </p:sp>
    </p:spTree>
    <p:extLst>
      <p:ext uri="{BB962C8B-B14F-4D97-AF65-F5344CB8AC3E}">
        <p14:creationId xmlns:p14="http://schemas.microsoft.com/office/powerpoint/2010/main" val="3164272564"/>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numéro de diapositive 2"/>
          <p:cNvSpPr>
            <a:spLocks noGrp="1"/>
          </p:cNvSpPr>
          <p:nvPr>
            <p:ph type="sldNum" sz="quarter" idx="12"/>
          </p:nvPr>
        </p:nvSpPr>
        <p:spPr/>
        <p:txBody>
          <a:bodyPr/>
          <a:lstStyle/>
          <a:p>
            <a:pPr>
              <a:defRPr/>
            </a:pPr>
            <a:fld id="{2587FB62-00FB-47AF-8468-6E513D457B45}" type="slidenum">
              <a:rPr lang="fr-FR" smtClean="0"/>
              <a:pPr>
                <a:defRPr/>
              </a:pPr>
              <a:t>206</a:t>
            </a:fld>
            <a:endParaRPr lang="fr-FR"/>
          </a:p>
        </p:txBody>
      </p:sp>
      <p:sp>
        <p:nvSpPr>
          <p:cNvPr id="4" name="Espace réservé du contenu 3"/>
          <p:cNvSpPr>
            <a:spLocks noGrp="1"/>
          </p:cNvSpPr>
          <p:nvPr>
            <p:ph sz="quarter" idx="1"/>
          </p:nvPr>
        </p:nvSpPr>
        <p:spPr/>
        <p:txBody>
          <a:bodyPr/>
          <a:lstStyle/>
          <a:p>
            <a:r>
              <a:rPr lang="fr-CA" dirty="0" err="1"/>
              <a:t>c</a:t>
            </a:r>
            <a:r>
              <a:rPr lang="fr-CA" dirty="0" err="1" smtClean="0"/>
              <a:t>omposer.json</a:t>
            </a:r>
            <a:r>
              <a:rPr lang="fr-CA" dirty="0" smtClean="0"/>
              <a:t> : contient les dépendances requises pour l’application</a:t>
            </a:r>
          </a:p>
          <a:p>
            <a:r>
              <a:rPr lang="fr-CA" dirty="0" smtClean="0"/>
              <a:t>phpUnit.xml :permet de lancer des tests unitaires</a:t>
            </a:r>
          </a:p>
          <a:p>
            <a:r>
              <a:rPr lang="fr-CA" dirty="0" err="1" smtClean="0"/>
              <a:t>server.php</a:t>
            </a:r>
            <a:r>
              <a:rPr lang="fr-CA" dirty="0" smtClean="0"/>
              <a:t> : pour lancer la commande </a:t>
            </a:r>
            <a:r>
              <a:rPr lang="fr-CA" dirty="0" err="1" smtClean="0"/>
              <a:t>php</a:t>
            </a:r>
            <a:r>
              <a:rPr lang="fr-CA" dirty="0" smtClean="0"/>
              <a:t> artisan </a:t>
            </a:r>
            <a:r>
              <a:rPr lang="fr-CA" dirty="0" err="1" smtClean="0"/>
              <a:t>serv</a:t>
            </a:r>
            <a:endParaRPr lang="fr-FR" dirty="0"/>
          </a:p>
        </p:txBody>
      </p:sp>
    </p:spTree>
    <p:extLst>
      <p:ext uri="{BB962C8B-B14F-4D97-AF65-F5344CB8AC3E}">
        <p14:creationId xmlns:p14="http://schemas.microsoft.com/office/powerpoint/2010/main" val="1803692073"/>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smtClean="0"/>
              <a:t>Présentation du projet :</a:t>
            </a:r>
            <a:endParaRPr lang="fr-FR" dirty="0"/>
          </a:p>
        </p:txBody>
      </p:sp>
      <p:sp>
        <p:nvSpPr>
          <p:cNvPr id="3" name="Espace réservé du numéro de diapositive 2"/>
          <p:cNvSpPr>
            <a:spLocks noGrp="1"/>
          </p:cNvSpPr>
          <p:nvPr>
            <p:ph type="sldNum" sz="quarter" idx="12"/>
          </p:nvPr>
        </p:nvSpPr>
        <p:spPr/>
        <p:txBody>
          <a:bodyPr/>
          <a:lstStyle/>
          <a:p>
            <a:pPr>
              <a:defRPr/>
            </a:pPr>
            <a:fld id="{2587FB62-00FB-47AF-8468-6E513D457B45}" type="slidenum">
              <a:rPr lang="fr-FR" smtClean="0"/>
              <a:pPr>
                <a:defRPr/>
              </a:pPr>
              <a:t>207</a:t>
            </a:fld>
            <a:endParaRPr lang="fr-FR"/>
          </a:p>
        </p:txBody>
      </p:sp>
      <p:sp>
        <p:nvSpPr>
          <p:cNvPr id="4" name="Espace réservé du contenu 3"/>
          <p:cNvSpPr>
            <a:spLocks noGrp="1"/>
          </p:cNvSpPr>
          <p:nvPr>
            <p:ph sz="quarter" idx="1"/>
          </p:nvPr>
        </p:nvSpPr>
        <p:spPr/>
        <p:txBody>
          <a:bodyPr/>
          <a:lstStyle/>
          <a:p>
            <a:endParaRPr lang="fr-FR"/>
          </a:p>
        </p:txBody>
      </p:sp>
    </p:spTree>
    <p:extLst>
      <p:ext uri="{BB962C8B-B14F-4D97-AF65-F5344CB8AC3E}">
        <p14:creationId xmlns:p14="http://schemas.microsoft.com/office/powerpoint/2010/main" val="1481874547"/>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55576" y="2780928"/>
            <a:ext cx="7772400" cy="1143000"/>
          </a:xfrm>
        </p:spPr>
        <p:txBody>
          <a:bodyPr>
            <a:normAutofit/>
          </a:bodyPr>
          <a:lstStyle/>
          <a:p>
            <a:r>
              <a:rPr lang="fr-CA" sz="6000" dirty="0" smtClean="0"/>
              <a:t>Les Fondamentaux</a:t>
            </a:r>
            <a:endParaRPr lang="fr-FR" sz="6000" dirty="0"/>
          </a:p>
        </p:txBody>
      </p:sp>
      <p:sp>
        <p:nvSpPr>
          <p:cNvPr id="3" name="Espace réservé du numéro de diapositive 2"/>
          <p:cNvSpPr>
            <a:spLocks noGrp="1"/>
          </p:cNvSpPr>
          <p:nvPr>
            <p:ph type="sldNum" sz="quarter" idx="12"/>
          </p:nvPr>
        </p:nvSpPr>
        <p:spPr/>
        <p:txBody>
          <a:bodyPr/>
          <a:lstStyle/>
          <a:p>
            <a:pPr>
              <a:defRPr/>
            </a:pPr>
            <a:fld id="{2587FB62-00FB-47AF-8468-6E513D457B45}" type="slidenum">
              <a:rPr lang="fr-FR" smtClean="0"/>
              <a:pPr>
                <a:defRPr/>
              </a:pPr>
              <a:t>208</a:t>
            </a:fld>
            <a:endParaRPr lang="fr-FR"/>
          </a:p>
        </p:txBody>
      </p:sp>
    </p:spTree>
    <p:extLst>
      <p:ext uri="{BB962C8B-B14F-4D97-AF65-F5344CB8AC3E}">
        <p14:creationId xmlns:p14="http://schemas.microsoft.com/office/powerpoint/2010/main" val="1905119480"/>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err="1" smtClean="0"/>
              <a:t>Routing</a:t>
            </a:r>
            <a:endParaRPr lang="fr-FR" dirty="0"/>
          </a:p>
        </p:txBody>
      </p:sp>
      <p:sp>
        <p:nvSpPr>
          <p:cNvPr id="3" name="Espace réservé du numéro de diapositive 2"/>
          <p:cNvSpPr>
            <a:spLocks noGrp="1"/>
          </p:cNvSpPr>
          <p:nvPr>
            <p:ph type="sldNum" sz="quarter" idx="12"/>
          </p:nvPr>
        </p:nvSpPr>
        <p:spPr/>
        <p:txBody>
          <a:bodyPr/>
          <a:lstStyle/>
          <a:p>
            <a:pPr>
              <a:defRPr/>
            </a:pPr>
            <a:fld id="{2587FB62-00FB-47AF-8468-6E513D457B45}" type="slidenum">
              <a:rPr lang="fr-FR" smtClean="0"/>
              <a:pPr>
                <a:defRPr/>
              </a:pPr>
              <a:t>209</a:t>
            </a:fld>
            <a:endParaRPr lang="fr-FR"/>
          </a:p>
        </p:txBody>
      </p:sp>
      <p:sp>
        <p:nvSpPr>
          <p:cNvPr id="4" name="Espace réservé du contenu 3"/>
          <p:cNvSpPr>
            <a:spLocks noGrp="1"/>
          </p:cNvSpPr>
          <p:nvPr>
            <p:ph sz="quarter" idx="1"/>
          </p:nvPr>
        </p:nvSpPr>
        <p:spPr/>
        <p:txBody>
          <a:bodyPr/>
          <a:lstStyle/>
          <a:p>
            <a:r>
              <a:rPr lang="fr-CA" dirty="0" smtClean="0"/>
              <a:t>Au niveau du fichier </a:t>
            </a:r>
            <a:r>
              <a:rPr lang="fr-CA" dirty="0" err="1" smtClean="0"/>
              <a:t>web,php</a:t>
            </a:r>
            <a:r>
              <a:rPr lang="fr-CA" dirty="0" smtClean="0"/>
              <a:t> du dossier routes</a:t>
            </a:r>
          </a:p>
          <a:p>
            <a:pPr marL="0" indent="0">
              <a:buNone/>
            </a:pPr>
            <a:r>
              <a:rPr lang="fr-CA" dirty="0" smtClean="0"/>
              <a:t>       Exemple :</a:t>
            </a:r>
          </a:p>
          <a:p>
            <a:pPr marL="0" indent="0">
              <a:buNone/>
            </a:pPr>
            <a:r>
              <a:rPr lang="en-US" dirty="0" smtClean="0"/>
              <a:t>Route</a:t>
            </a:r>
            <a:r>
              <a:rPr lang="en-US" dirty="0"/>
              <a:t>::</a:t>
            </a:r>
            <a:r>
              <a:rPr lang="en-US" b="1" dirty="0"/>
              <a:t>get</a:t>
            </a:r>
            <a:r>
              <a:rPr lang="en-US" dirty="0"/>
              <a:t>(</a:t>
            </a:r>
            <a:r>
              <a:rPr lang="en-US" b="1" dirty="0"/>
              <a:t>'/test'</a:t>
            </a:r>
            <a:r>
              <a:rPr lang="en-US" dirty="0"/>
              <a:t>, </a:t>
            </a:r>
            <a:r>
              <a:rPr lang="en-US" b="1" dirty="0"/>
              <a:t>function </a:t>
            </a:r>
            <a:r>
              <a:rPr lang="en-US" dirty="0"/>
              <a:t>() {</a:t>
            </a:r>
            <a:br>
              <a:rPr lang="en-US" dirty="0"/>
            </a:br>
            <a:r>
              <a:rPr lang="en-US" dirty="0"/>
              <a:t>    </a:t>
            </a:r>
            <a:r>
              <a:rPr lang="en-US" b="1" dirty="0"/>
              <a:t>return 'Hello'</a:t>
            </a:r>
            <a:r>
              <a:rPr lang="en-US" dirty="0"/>
              <a:t>;</a:t>
            </a:r>
            <a:br>
              <a:rPr lang="en-US" dirty="0"/>
            </a:br>
            <a:r>
              <a:rPr lang="en-US" dirty="0" smtClean="0"/>
              <a:t>});</a:t>
            </a:r>
          </a:p>
          <a:p>
            <a:pPr marL="0" indent="0">
              <a:buNone/>
            </a:pPr>
            <a:endParaRPr lang="en-US" dirty="0"/>
          </a:p>
          <a:p>
            <a:pPr marL="0" indent="0">
              <a:buNone/>
            </a:pPr>
            <a:r>
              <a:rPr lang="fr-FR" dirty="0"/>
              <a:t>Route::</a:t>
            </a:r>
            <a:r>
              <a:rPr lang="fr-FR" b="1" dirty="0" err="1"/>
              <a:t>Redirect</a:t>
            </a:r>
            <a:r>
              <a:rPr lang="fr-FR" dirty="0"/>
              <a:t>(</a:t>
            </a:r>
            <a:r>
              <a:rPr lang="fr-FR" b="1" dirty="0"/>
              <a:t>'/test'</a:t>
            </a:r>
            <a:r>
              <a:rPr lang="fr-FR" dirty="0"/>
              <a:t>,</a:t>
            </a:r>
            <a:r>
              <a:rPr lang="fr-FR" b="1" dirty="0"/>
              <a:t>'/'</a:t>
            </a:r>
            <a:r>
              <a:rPr lang="fr-FR" dirty="0"/>
              <a:t>);</a:t>
            </a:r>
          </a:p>
        </p:txBody>
      </p:sp>
      <p:cxnSp>
        <p:nvCxnSpPr>
          <p:cNvPr id="6" name="Connecteur droit avec flèche 5"/>
          <p:cNvCxnSpPr/>
          <p:nvPr/>
        </p:nvCxnSpPr>
        <p:spPr>
          <a:xfrm flipV="1">
            <a:off x="2195736" y="2060848"/>
            <a:ext cx="4032448" cy="5040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6372200" y="1844824"/>
            <a:ext cx="2448272" cy="12241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smtClean="0"/>
              <a:t>-post</a:t>
            </a:r>
          </a:p>
          <a:p>
            <a:pPr algn="ctr"/>
            <a:r>
              <a:rPr lang="fr-CA" dirty="0" smtClean="0"/>
              <a:t>-put</a:t>
            </a:r>
          </a:p>
          <a:p>
            <a:pPr algn="ctr"/>
            <a:r>
              <a:rPr lang="fr-CA" dirty="0" smtClean="0"/>
              <a:t>-</a:t>
            </a:r>
            <a:r>
              <a:rPr lang="fr-CA" dirty="0" err="1" smtClean="0"/>
              <a:t>delete</a:t>
            </a:r>
            <a:endParaRPr lang="fr-CA" dirty="0" smtClean="0"/>
          </a:p>
          <a:p>
            <a:pPr algn="ctr"/>
            <a:r>
              <a:rPr lang="fr-CA" dirty="0" smtClean="0"/>
              <a:t>-</a:t>
            </a:r>
            <a:r>
              <a:rPr lang="fr-CA" dirty="0" err="1" smtClean="0"/>
              <a:t>any</a:t>
            </a:r>
            <a:endParaRPr lang="fr-FR" dirty="0"/>
          </a:p>
        </p:txBody>
      </p:sp>
    </p:spTree>
    <p:extLst>
      <p:ext uri="{BB962C8B-B14F-4D97-AF65-F5344CB8AC3E}">
        <p14:creationId xmlns:p14="http://schemas.microsoft.com/office/powerpoint/2010/main" val="2333754628"/>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numéro de diapositive 2"/>
          <p:cNvSpPr>
            <a:spLocks noGrp="1"/>
          </p:cNvSpPr>
          <p:nvPr>
            <p:ph type="sldNum" sz="quarter" idx="12"/>
          </p:nvPr>
        </p:nvSpPr>
        <p:spPr/>
        <p:txBody>
          <a:bodyPr/>
          <a:lstStyle/>
          <a:p>
            <a:pPr>
              <a:defRPr/>
            </a:pPr>
            <a:fld id="{2587FB62-00FB-47AF-8468-6E513D457B45}" type="slidenum">
              <a:rPr lang="fr-FR" smtClean="0"/>
              <a:pPr>
                <a:defRPr/>
              </a:pPr>
              <a:t>210</a:t>
            </a:fld>
            <a:endParaRPr lang="fr-FR"/>
          </a:p>
        </p:txBody>
      </p:sp>
      <p:sp>
        <p:nvSpPr>
          <p:cNvPr id="4" name="Espace réservé du contenu 3"/>
          <p:cNvSpPr>
            <a:spLocks noGrp="1"/>
          </p:cNvSpPr>
          <p:nvPr>
            <p:ph sz="quarter" idx="1"/>
          </p:nvPr>
        </p:nvSpPr>
        <p:spPr/>
        <p:txBody>
          <a:bodyPr/>
          <a:lstStyle/>
          <a:p>
            <a:r>
              <a:rPr lang="fr-CA" dirty="0" smtClean="0"/>
              <a:t>Route dynamique :</a:t>
            </a:r>
          </a:p>
          <a:p>
            <a:endParaRPr lang="fr-CA" dirty="0"/>
          </a:p>
          <a:p>
            <a:pPr marL="0" indent="0">
              <a:buNone/>
            </a:pPr>
            <a:r>
              <a:rPr lang="fr-CA" dirty="0"/>
              <a:t> </a:t>
            </a:r>
            <a:r>
              <a:rPr lang="fr-CA" dirty="0" smtClean="0"/>
              <a:t>       Exemple :</a:t>
            </a:r>
          </a:p>
          <a:p>
            <a:pPr marL="0" indent="0">
              <a:buNone/>
            </a:pPr>
            <a:endParaRPr lang="en-US" dirty="0" smtClean="0"/>
          </a:p>
          <a:p>
            <a:pPr marL="0" indent="0">
              <a:buNone/>
            </a:pPr>
            <a:r>
              <a:rPr lang="fr-FR" dirty="0"/>
              <a:t>Route::</a:t>
            </a:r>
            <a:r>
              <a:rPr lang="fr-FR" b="1" dirty="0" err="1"/>
              <a:t>get</a:t>
            </a:r>
            <a:r>
              <a:rPr lang="fr-FR" dirty="0"/>
              <a:t>(</a:t>
            </a:r>
            <a:r>
              <a:rPr lang="fr-FR" b="1" dirty="0"/>
              <a:t>'/{id}/{group?}'</a:t>
            </a:r>
            <a:r>
              <a:rPr lang="fr-FR" dirty="0"/>
              <a:t>, </a:t>
            </a:r>
            <a:r>
              <a:rPr lang="fr-FR" b="1" dirty="0" err="1"/>
              <a:t>function</a:t>
            </a:r>
            <a:r>
              <a:rPr lang="fr-FR" b="1" dirty="0"/>
              <a:t> </a:t>
            </a:r>
            <a:r>
              <a:rPr lang="fr-FR" dirty="0"/>
              <a:t>($</a:t>
            </a:r>
            <a:r>
              <a:rPr lang="fr-FR" dirty="0" err="1"/>
              <a:t>id,$group</a:t>
            </a:r>
            <a:r>
              <a:rPr lang="fr-FR" dirty="0"/>
              <a:t>=</a:t>
            </a:r>
            <a:r>
              <a:rPr lang="fr-FR" b="1" dirty="0"/>
              <a:t>'G1'</a:t>
            </a:r>
            <a:r>
              <a:rPr lang="fr-FR" dirty="0"/>
              <a:t>)</a:t>
            </a:r>
            <a:br>
              <a:rPr lang="fr-FR" dirty="0"/>
            </a:br>
            <a:r>
              <a:rPr lang="fr-FR" dirty="0"/>
              <a:t>{ </a:t>
            </a:r>
            <a:r>
              <a:rPr lang="fr-FR" b="1" dirty="0"/>
              <a:t>return '</a:t>
            </a:r>
            <a:r>
              <a:rPr lang="fr-FR" b="1" dirty="0" err="1"/>
              <a:t>welcome</a:t>
            </a:r>
            <a:r>
              <a:rPr lang="fr-FR" b="1" dirty="0"/>
              <a:t>'</a:t>
            </a:r>
            <a:r>
              <a:rPr lang="fr-FR" dirty="0"/>
              <a:t>.$</a:t>
            </a:r>
            <a:r>
              <a:rPr lang="fr-FR" dirty="0" err="1"/>
              <a:t>id.</a:t>
            </a:r>
            <a:r>
              <a:rPr lang="fr-FR" b="1" dirty="0" err="1"/>
              <a:t>'group'</a:t>
            </a:r>
            <a:r>
              <a:rPr lang="fr-FR" dirty="0" err="1"/>
              <a:t>.$group</a:t>
            </a:r>
            <a:r>
              <a:rPr lang="fr-FR" dirty="0" smtClean="0"/>
              <a:t>;});</a:t>
            </a:r>
          </a:p>
          <a:p>
            <a:pPr marL="0" indent="0">
              <a:buNone/>
            </a:pPr>
            <a:endParaRPr lang="fr-FR" dirty="0"/>
          </a:p>
          <a:p>
            <a:pPr marL="0" indent="0">
              <a:buNone/>
            </a:pPr>
            <a:r>
              <a:rPr lang="en-US" dirty="0" smtClean="0"/>
              <a:t>? : </a:t>
            </a:r>
            <a:r>
              <a:rPr lang="en-US" dirty="0" err="1" smtClean="0"/>
              <a:t>Signifie</a:t>
            </a:r>
            <a:r>
              <a:rPr lang="en-US" dirty="0" smtClean="0"/>
              <a:t> </a:t>
            </a:r>
            <a:r>
              <a:rPr lang="en-US" dirty="0" err="1" smtClean="0"/>
              <a:t>que</a:t>
            </a:r>
            <a:r>
              <a:rPr lang="en-US" dirty="0" smtClean="0"/>
              <a:t> le </a:t>
            </a:r>
            <a:r>
              <a:rPr lang="en-US" dirty="0" err="1" smtClean="0"/>
              <a:t>parametre</a:t>
            </a:r>
            <a:r>
              <a:rPr lang="en-US" dirty="0" smtClean="0"/>
              <a:t> </a:t>
            </a:r>
            <a:r>
              <a:rPr lang="en-US" dirty="0" err="1" smtClean="0"/>
              <a:t>est</a:t>
            </a:r>
            <a:r>
              <a:rPr lang="en-US" dirty="0" smtClean="0"/>
              <a:t> </a:t>
            </a:r>
            <a:r>
              <a:rPr lang="en-US" dirty="0" err="1" smtClean="0"/>
              <a:t>optionnel</a:t>
            </a:r>
            <a:endParaRPr lang="fr-FR" dirty="0"/>
          </a:p>
        </p:txBody>
      </p:sp>
    </p:spTree>
    <p:extLst>
      <p:ext uri="{BB962C8B-B14F-4D97-AF65-F5344CB8AC3E}">
        <p14:creationId xmlns:p14="http://schemas.microsoft.com/office/powerpoint/2010/main" val="3144094437"/>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numéro de diapositive 2"/>
          <p:cNvSpPr>
            <a:spLocks noGrp="1"/>
          </p:cNvSpPr>
          <p:nvPr>
            <p:ph type="sldNum" sz="quarter" idx="12"/>
          </p:nvPr>
        </p:nvSpPr>
        <p:spPr/>
        <p:txBody>
          <a:bodyPr/>
          <a:lstStyle/>
          <a:p>
            <a:pPr>
              <a:defRPr/>
            </a:pPr>
            <a:fld id="{2587FB62-00FB-47AF-8468-6E513D457B45}" type="slidenum">
              <a:rPr lang="fr-FR" smtClean="0"/>
              <a:pPr>
                <a:defRPr/>
              </a:pPr>
              <a:t>211</a:t>
            </a:fld>
            <a:endParaRPr lang="fr-FR"/>
          </a:p>
        </p:txBody>
      </p:sp>
      <p:sp>
        <p:nvSpPr>
          <p:cNvPr id="4" name="Espace réservé du contenu 3"/>
          <p:cNvSpPr>
            <a:spLocks noGrp="1"/>
          </p:cNvSpPr>
          <p:nvPr>
            <p:ph sz="quarter" idx="1"/>
          </p:nvPr>
        </p:nvSpPr>
        <p:spPr/>
        <p:txBody>
          <a:bodyPr>
            <a:normAutofit fontScale="92500" lnSpcReduction="10000"/>
          </a:bodyPr>
          <a:lstStyle/>
          <a:p>
            <a:r>
              <a:rPr lang="fr-CA" dirty="0"/>
              <a:t>Route </a:t>
            </a:r>
            <a:r>
              <a:rPr lang="fr-CA" dirty="0" smtClean="0"/>
              <a:t>préfixée:</a:t>
            </a:r>
          </a:p>
          <a:p>
            <a:endParaRPr lang="fr-CA" dirty="0"/>
          </a:p>
          <a:p>
            <a:pPr marL="0" indent="0">
              <a:buNone/>
            </a:pPr>
            <a:r>
              <a:rPr lang="fr-FR" dirty="0" smtClean="0"/>
              <a:t> Route</a:t>
            </a:r>
            <a:r>
              <a:rPr lang="fr-FR" dirty="0"/>
              <a:t>::</a:t>
            </a:r>
            <a:r>
              <a:rPr lang="fr-FR" b="1" dirty="0" err="1"/>
              <a:t>prefix</a:t>
            </a:r>
            <a:r>
              <a:rPr lang="fr-FR" dirty="0"/>
              <a:t>(</a:t>
            </a:r>
            <a:r>
              <a:rPr lang="fr-FR" b="1" dirty="0"/>
              <a:t>'</a:t>
            </a:r>
            <a:r>
              <a:rPr lang="fr-FR" b="1" dirty="0" err="1"/>
              <a:t>admin</a:t>
            </a:r>
            <a:r>
              <a:rPr lang="fr-FR" b="1" dirty="0"/>
              <a:t>'</a:t>
            </a:r>
            <a:r>
              <a:rPr lang="fr-FR" dirty="0"/>
              <a:t>)-&gt;group (</a:t>
            </a:r>
            <a:r>
              <a:rPr lang="fr-FR" b="1" dirty="0" err="1"/>
              <a:t>function</a:t>
            </a:r>
            <a:r>
              <a:rPr lang="fr-FR" b="1" dirty="0"/>
              <a:t> </a:t>
            </a:r>
            <a:r>
              <a:rPr lang="fr-FR" dirty="0"/>
              <a:t>() {</a:t>
            </a:r>
            <a:br>
              <a:rPr lang="fr-FR" dirty="0"/>
            </a:br>
            <a:r>
              <a:rPr lang="fr-FR" dirty="0"/>
              <a:t/>
            </a:r>
            <a:br>
              <a:rPr lang="fr-FR" dirty="0"/>
            </a:br>
            <a:r>
              <a:rPr lang="fr-FR" dirty="0"/>
              <a:t>   </a:t>
            </a:r>
            <a:r>
              <a:rPr lang="fr-FR" dirty="0" smtClean="0"/>
              <a:t>         </a:t>
            </a:r>
            <a:r>
              <a:rPr lang="fr-FR" dirty="0"/>
              <a:t>Route::</a:t>
            </a:r>
            <a:r>
              <a:rPr lang="fr-FR" b="1" dirty="0" err="1"/>
              <a:t>get</a:t>
            </a:r>
            <a:r>
              <a:rPr lang="fr-FR" dirty="0"/>
              <a:t>(</a:t>
            </a:r>
            <a:r>
              <a:rPr lang="fr-FR" b="1" dirty="0"/>
              <a:t>'</a:t>
            </a:r>
            <a:r>
              <a:rPr lang="fr-FR" b="1" dirty="0" err="1"/>
              <a:t>categories</a:t>
            </a:r>
            <a:r>
              <a:rPr lang="fr-FR" b="1" dirty="0"/>
              <a:t>'</a:t>
            </a:r>
            <a:r>
              <a:rPr lang="fr-FR" dirty="0"/>
              <a:t>, </a:t>
            </a:r>
            <a:r>
              <a:rPr lang="fr-FR" b="1" dirty="0" err="1"/>
              <a:t>function</a:t>
            </a:r>
            <a:r>
              <a:rPr lang="fr-FR" b="1" dirty="0"/>
              <a:t> </a:t>
            </a:r>
            <a:r>
              <a:rPr lang="fr-FR" dirty="0"/>
              <a:t>() {</a:t>
            </a:r>
            <a:br>
              <a:rPr lang="fr-FR" dirty="0"/>
            </a:br>
            <a:r>
              <a:rPr lang="fr-FR" dirty="0" smtClean="0"/>
              <a:t>                        </a:t>
            </a:r>
            <a:r>
              <a:rPr lang="fr-FR" b="1" dirty="0" smtClean="0"/>
              <a:t>return </a:t>
            </a:r>
            <a:r>
              <a:rPr lang="fr-FR" b="1" dirty="0"/>
              <a:t>'</a:t>
            </a:r>
            <a:r>
              <a:rPr lang="fr-FR" b="1" dirty="0" err="1"/>
              <a:t>categories</a:t>
            </a:r>
            <a:r>
              <a:rPr lang="fr-FR" b="1" dirty="0"/>
              <a:t>'</a:t>
            </a:r>
            <a:r>
              <a:rPr lang="fr-FR" dirty="0"/>
              <a:t>;</a:t>
            </a:r>
            <a:br>
              <a:rPr lang="fr-FR" dirty="0"/>
            </a:br>
            <a:r>
              <a:rPr lang="fr-FR" dirty="0"/>
              <a:t>   </a:t>
            </a:r>
            <a:r>
              <a:rPr lang="fr-FR" dirty="0" smtClean="0"/>
              <a:t>                   </a:t>
            </a:r>
            <a:r>
              <a:rPr lang="fr-FR" dirty="0"/>
              <a:t>});</a:t>
            </a:r>
            <a:br>
              <a:rPr lang="fr-FR" dirty="0"/>
            </a:br>
            <a:r>
              <a:rPr lang="fr-FR" dirty="0"/>
              <a:t/>
            </a:r>
            <a:br>
              <a:rPr lang="fr-FR" dirty="0"/>
            </a:br>
            <a:r>
              <a:rPr lang="fr-FR" dirty="0"/>
              <a:t>   </a:t>
            </a:r>
            <a:r>
              <a:rPr lang="fr-FR" dirty="0" smtClean="0"/>
              <a:t>         </a:t>
            </a:r>
            <a:r>
              <a:rPr lang="fr-FR" dirty="0"/>
              <a:t>Route::</a:t>
            </a:r>
            <a:r>
              <a:rPr lang="fr-FR" b="1" dirty="0" err="1"/>
              <a:t>get</a:t>
            </a:r>
            <a:r>
              <a:rPr lang="fr-FR" dirty="0"/>
              <a:t>(</a:t>
            </a:r>
            <a:r>
              <a:rPr lang="fr-FR" b="1" dirty="0"/>
              <a:t>'articles'</a:t>
            </a:r>
            <a:r>
              <a:rPr lang="fr-FR" dirty="0"/>
              <a:t>, </a:t>
            </a:r>
            <a:r>
              <a:rPr lang="fr-FR" b="1" dirty="0" err="1"/>
              <a:t>function</a:t>
            </a:r>
            <a:r>
              <a:rPr lang="fr-FR" b="1" dirty="0"/>
              <a:t> </a:t>
            </a:r>
            <a:r>
              <a:rPr lang="fr-FR" dirty="0"/>
              <a:t>() {</a:t>
            </a:r>
            <a:br>
              <a:rPr lang="fr-FR" dirty="0"/>
            </a:br>
            <a:r>
              <a:rPr lang="fr-FR" dirty="0"/>
              <a:t>       </a:t>
            </a:r>
            <a:r>
              <a:rPr lang="fr-FR" dirty="0" smtClean="0"/>
              <a:t>                 </a:t>
            </a:r>
            <a:r>
              <a:rPr lang="fr-FR" b="1" dirty="0"/>
              <a:t>return </a:t>
            </a:r>
            <a:r>
              <a:rPr lang="fr-FR" dirty="0"/>
              <a:t>[</a:t>
            </a:r>
            <a:r>
              <a:rPr lang="fr-FR" b="1" dirty="0"/>
              <a:t>'a1'</a:t>
            </a:r>
            <a:r>
              <a:rPr lang="fr-FR" dirty="0"/>
              <a:t>,</a:t>
            </a:r>
            <a:r>
              <a:rPr lang="fr-FR" b="1" dirty="0"/>
              <a:t>'a2'</a:t>
            </a:r>
            <a:r>
              <a:rPr lang="fr-FR" dirty="0"/>
              <a:t>,</a:t>
            </a:r>
            <a:r>
              <a:rPr lang="fr-FR" b="1" dirty="0"/>
              <a:t>'a3'</a:t>
            </a:r>
            <a:r>
              <a:rPr lang="fr-FR" dirty="0"/>
              <a:t>];</a:t>
            </a:r>
            <a:r>
              <a:rPr lang="fr-FR" dirty="0" smtClean="0"/>
              <a:t>                     });</a:t>
            </a:r>
            <a:r>
              <a:rPr lang="fr-FR" dirty="0"/>
              <a:t/>
            </a:r>
            <a:br>
              <a:rPr lang="fr-FR" dirty="0"/>
            </a:br>
            <a:r>
              <a:rPr lang="fr-FR" dirty="0"/>
              <a:t/>
            </a:r>
            <a:br>
              <a:rPr lang="fr-FR" dirty="0"/>
            </a:br>
            <a:r>
              <a:rPr lang="fr-FR" dirty="0"/>
              <a:t>});</a:t>
            </a:r>
            <a:endParaRPr lang="fr-CA" dirty="0"/>
          </a:p>
          <a:p>
            <a:endParaRPr lang="fr-FR" dirty="0"/>
          </a:p>
        </p:txBody>
      </p:sp>
    </p:spTree>
    <p:extLst>
      <p:ext uri="{BB962C8B-B14F-4D97-AF65-F5344CB8AC3E}">
        <p14:creationId xmlns:p14="http://schemas.microsoft.com/office/powerpoint/2010/main" val="1200277782"/>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err="1" smtClean="0"/>
              <a:t>Responses</a:t>
            </a:r>
            <a:endParaRPr lang="fr-FR" dirty="0"/>
          </a:p>
        </p:txBody>
      </p:sp>
      <p:sp>
        <p:nvSpPr>
          <p:cNvPr id="3" name="Espace réservé du numéro de diapositive 2"/>
          <p:cNvSpPr>
            <a:spLocks noGrp="1"/>
          </p:cNvSpPr>
          <p:nvPr>
            <p:ph type="sldNum" sz="quarter" idx="12"/>
          </p:nvPr>
        </p:nvSpPr>
        <p:spPr/>
        <p:txBody>
          <a:bodyPr/>
          <a:lstStyle/>
          <a:p>
            <a:pPr>
              <a:defRPr/>
            </a:pPr>
            <a:fld id="{2587FB62-00FB-47AF-8468-6E513D457B45}" type="slidenum">
              <a:rPr lang="fr-FR" smtClean="0"/>
              <a:pPr>
                <a:defRPr/>
              </a:pPr>
              <a:t>212</a:t>
            </a:fld>
            <a:endParaRPr lang="fr-FR"/>
          </a:p>
        </p:txBody>
      </p:sp>
      <p:sp>
        <p:nvSpPr>
          <p:cNvPr id="4" name="Espace réservé du contenu 3"/>
          <p:cNvSpPr>
            <a:spLocks noGrp="1"/>
          </p:cNvSpPr>
          <p:nvPr>
            <p:ph sz="quarter" idx="1"/>
          </p:nvPr>
        </p:nvSpPr>
        <p:spPr/>
        <p:txBody>
          <a:bodyPr/>
          <a:lstStyle/>
          <a:p>
            <a:r>
              <a:rPr lang="en-US" dirty="0"/>
              <a:t>Route::</a:t>
            </a:r>
            <a:r>
              <a:rPr lang="en-US" b="1" dirty="0"/>
              <a:t>get</a:t>
            </a:r>
            <a:r>
              <a:rPr lang="en-US" dirty="0"/>
              <a:t>(</a:t>
            </a:r>
            <a:r>
              <a:rPr lang="en-US" b="1" dirty="0"/>
              <a:t>'/hello'</a:t>
            </a:r>
            <a:r>
              <a:rPr lang="en-US" dirty="0"/>
              <a:t>, </a:t>
            </a:r>
            <a:r>
              <a:rPr lang="en-US" b="1" dirty="0"/>
              <a:t>function </a:t>
            </a:r>
            <a:r>
              <a:rPr lang="en-US" dirty="0"/>
              <a:t>() {</a:t>
            </a:r>
            <a:br>
              <a:rPr lang="en-US" dirty="0"/>
            </a:br>
            <a:r>
              <a:rPr lang="en-US" dirty="0"/>
              <a:t>    </a:t>
            </a:r>
            <a:r>
              <a:rPr lang="en-US" b="1" dirty="0"/>
              <a:t>return </a:t>
            </a:r>
            <a:r>
              <a:rPr lang="en-US" dirty="0"/>
              <a:t>response(</a:t>
            </a:r>
            <a:r>
              <a:rPr lang="en-US" b="1" dirty="0"/>
              <a:t>'hello'</a:t>
            </a:r>
            <a:r>
              <a:rPr lang="en-US" dirty="0"/>
              <a:t>);</a:t>
            </a:r>
            <a:br>
              <a:rPr lang="en-US" dirty="0"/>
            </a:br>
            <a:r>
              <a:rPr lang="en-US" dirty="0" smtClean="0"/>
              <a:t>});</a:t>
            </a:r>
          </a:p>
          <a:p>
            <a:endParaRPr lang="en-US" dirty="0"/>
          </a:p>
          <a:p>
            <a:r>
              <a:rPr lang="fr-FR" dirty="0"/>
              <a:t>Route::</a:t>
            </a:r>
            <a:r>
              <a:rPr lang="fr-FR" b="1" dirty="0" err="1"/>
              <a:t>get</a:t>
            </a:r>
            <a:r>
              <a:rPr lang="fr-FR" dirty="0"/>
              <a:t>(</a:t>
            </a:r>
            <a:r>
              <a:rPr lang="fr-FR" b="1" dirty="0"/>
              <a:t>'/</a:t>
            </a:r>
            <a:r>
              <a:rPr lang="fr-FR" b="1" dirty="0" err="1"/>
              <a:t>json</a:t>
            </a:r>
            <a:r>
              <a:rPr lang="fr-FR" b="1" dirty="0"/>
              <a:t>'</a:t>
            </a:r>
            <a:r>
              <a:rPr lang="fr-FR" dirty="0"/>
              <a:t>, </a:t>
            </a:r>
            <a:r>
              <a:rPr lang="fr-FR" b="1" dirty="0" err="1"/>
              <a:t>function</a:t>
            </a:r>
            <a:r>
              <a:rPr lang="fr-FR" b="1" dirty="0"/>
              <a:t> </a:t>
            </a:r>
            <a:r>
              <a:rPr lang="fr-FR" dirty="0"/>
              <a:t>() {</a:t>
            </a:r>
            <a:br>
              <a:rPr lang="fr-FR" dirty="0"/>
            </a:br>
            <a:r>
              <a:rPr lang="fr-FR" dirty="0"/>
              <a:t>    </a:t>
            </a:r>
            <a:r>
              <a:rPr lang="fr-FR" b="1" dirty="0"/>
              <a:t>return </a:t>
            </a:r>
            <a:r>
              <a:rPr lang="fr-FR" dirty="0" err="1"/>
              <a:t>response</a:t>
            </a:r>
            <a:r>
              <a:rPr lang="fr-FR" dirty="0"/>
              <a:t>()-&gt;</a:t>
            </a:r>
            <a:r>
              <a:rPr lang="fr-FR" dirty="0" err="1"/>
              <a:t>json</a:t>
            </a:r>
            <a:r>
              <a:rPr lang="fr-FR" dirty="0"/>
              <a:t>([</a:t>
            </a:r>
            <a:r>
              <a:rPr lang="fr-FR" b="1" dirty="0"/>
              <a:t>'nom'</a:t>
            </a:r>
            <a:r>
              <a:rPr lang="fr-FR" dirty="0"/>
              <a:t>=&gt;</a:t>
            </a:r>
            <a:r>
              <a:rPr lang="fr-FR" b="1" dirty="0"/>
              <a:t>'</a:t>
            </a:r>
            <a:r>
              <a:rPr lang="fr-FR" b="1" dirty="0" err="1"/>
              <a:t>azeggouar</a:t>
            </a:r>
            <a:r>
              <a:rPr lang="fr-FR" b="1" dirty="0"/>
              <a:t>'</a:t>
            </a:r>
            <a:r>
              <a:rPr lang="fr-FR" dirty="0"/>
              <a:t>,</a:t>
            </a:r>
            <a:r>
              <a:rPr lang="fr-FR" b="1" dirty="0"/>
              <a:t>'</a:t>
            </a:r>
            <a:r>
              <a:rPr lang="fr-FR" b="1" dirty="0" err="1"/>
              <a:t>prenom</a:t>
            </a:r>
            <a:r>
              <a:rPr lang="fr-FR" b="1" dirty="0"/>
              <a:t>'</a:t>
            </a:r>
            <a:r>
              <a:rPr lang="fr-FR" dirty="0"/>
              <a:t>=&gt;</a:t>
            </a:r>
            <a:r>
              <a:rPr lang="fr-FR" b="1" dirty="0"/>
              <a:t>'</a:t>
            </a:r>
            <a:r>
              <a:rPr lang="fr-FR" b="1" dirty="0" err="1"/>
              <a:t>karim</a:t>
            </a:r>
            <a:r>
              <a:rPr lang="fr-FR" b="1" dirty="0"/>
              <a:t>'</a:t>
            </a:r>
            <a:r>
              <a:rPr lang="fr-FR" dirty="0"/>
              <a:t>]);</a:t>
            </a:r>
            <a:br>
              <a:rPr lang="fr-FR" dirty="0"/>
            </a:br>
            <a:r>
              <a:rPr lang="fr-FR" dirty="0"/>
              <a:t>});</a:t>
            </a:r>
          </a:p>
        </p:txBody>
      </p:sp>
    </p:spTree>
    <p:extLst>
      <p:ext uri="{BB962C8B-B14F-4D97-AF65-F5344CB8AC3E}">
        <p14:creationId xmlns:p14="http://schemas.microsoft.com/office/powerpoint/2010/main" val="171014234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apitaux">
  <a:themeElements>
    <a:clrScheme name="Capitaux">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pitaux">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apitaux">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64179</TotalTime>
  <Words>5955</Words>
  <Application>Microsoft Office PowerPoint</Application>
  <PresentationFormat>Affichage à l'écran (4:3)</PresentationFormat>
  <Paragraphs>1316</Paragraphs>
  <Slides>212</Slides>
  <Notes>11</Notes>
  <HiddenSlides>0</HiddenSlides>
  <MMClips>0</MMClips>
  <ScaleCrop>false</ScaleCrop>
  <HeadingPairs>
    <vt:vector size="4" baseType="variant">
      <vt:variant>
        <vt:lpstr>Thème</vt:lpstr>
      </vt:variant>
      <vt:variant>
        <vt:i4>1</vt:i4>
      </vt:variant>
      <vt:variant>
        <vt:lpstr>Titres des diapositives</vt:lpstr>
      </vt:variant>
      <vt:variant>
        <vt:i4>212</vt:i4>
      </vt:variant>
    </vt:vector>
  </HeadingPairs>
  <TitlesOfParts>
    <vt:vector size="213" baseType="lpstr">
      <vt:lpstr>Capitaux</vt:lpstr>
      <vt:lpstr>Programmation Web coté Serveur (PHP MySQL)</vt:lpstr>
      <vt:lpstr>Web statique </vt:lpstr>
      <vt:lpstr>Client dynamique </vt:lpstr>
      <vt:lpstr>Serveur dynamique </vt:lpstr>
      <vt:lpstr>Dev Web</vt:lpstr>
      <vt:lpstr>Exercice </vt:lpstr>
      <vt:lpstr>LE LANGAGE PHP</vt:lpstr>
      <vt:lpstr>WampServer : plateforme de développement web </vt:lpstr>
      <vt:lpstr>Première Page PHP</vt:lpstr>
      <vt:lpstr>Afficher du texte </vt:lpstr>
      <vt:lpstr>Les commentaires </vt:lpstr>
      <vt:lpstr>Les variables  </vt:lpstr>
      <vt:lpstr>les types de données </vt:lpstr>
      <vt:lpstr>Présentation PowerPoint</vt:lpstr>
      <vt:lpstr>Afficher des variables </vt:lpstr>
      <vt:lpstr>Les constantes</vt:lpstr>
      <vt:lpstr> Les opérateurs arithmétiques :</vt:lpstr>
      <vt:lpstr>Priorité des opérateurs:</vt:lpstr>
      <vt:lpstr>Les opérateurs logiques</vt:lpstr>
      <vt:lpstr>La structure If... else  </vt:lpstr>
      <vt:lpstr>La structure switch()</vt:lpstr>
      <vt:lpstr>Les ternaires </vt:lpstr>
      <vt:lpstr>Les boucles</vt:lpstr>
      <vt:lpstr>Présentation PowerPoint</vt:lpstr>
      <vt:lpstr>Présentation PowerPoint</vt:lpstr>
      <vt:lpstr>Exercie1:</vt:lpstr>
      <vt:lpstr>Exercie2:</vt:lpstr>
      <vt:lpstr>Exercice 3:</vt:lpstr>
      <vt:lpstr>Les fonctions  </vt:lpstr>
      <vt:lpstr>1-Définition d’une fonction </vt:lpstr>
      <vt:lpstr>2-appel d’une fonction</vt:lpstr>
      <vt:lpstr>Les fonctions nativesPHP </vt:lpstr>
      <vt:lpstr>Présentation PowerPoint</vt:lpstr>
      <vt:lpstr>Présentation PowerPoint</vt:lpstr>
      <vt:lpstr>Présentation PowerPoint</vt:lpstr>
      <vt:lpstr>Présentation PowerPoint</vt:lpstr>
      <vt:lpstr>Présentation PowerPoint</vt:lpstr>
      <vt:lpstr>Présentation PowerPoint</vt:lpstr>
      <vt:lpstr>Les tableaux</vt:lpstr>
      <vt:lpstr>I- Les tableaux numérotés </vt:lpstr>
      <vt:lpstr>Parcours d’un tableau numéroté for(    ;sizeof(ou bien count;      )</vt:lpstr>
      <vt:lpstr>Parcours avec foreach</vt:lpstr>
      <vt:lpstr>Trier un tableau  sort( )</vt:lpstr>
      <vt:lpstr>Chercher un élément dans un tableau</vt:lpstr>
      <vt:lpstr>Min et Max</vt:lpstr>
      <vt:lpstr>Supprimer un élément d’un tableau</vt:lpstr>
      <vt:lpstr>II Les tableaux associatifs </vt:lpstr>
      <vt:lpstr>Parcours d’un tableau associatif(foreach)</vt:lpstr>
      <vt:lpstr>Afficher rapidement un array avec print_r </vt:lpstr>
      <vt:lpstr>Exercice 1 </vt:lpstr>
      <vt:lpstr>solution : </vt:lpstr>
      <vt:lpstr>Exercice 2 </vt:lpstr>
      <vt:lpstr>solution : </vt:lpstr>
      <vt:lpstr>Exercice 3 </vt:lpstr>
      <vt:lpstr>Solution 1:</vt:lpstr>
      <vt:lpstr>Solution 2:</vt:lpstr>
      <vt:lpstr>Communication Entre Client Et Serveur</vt:lpstr>
      <vt:lpstr>Envoie d’une requête</vt:lpstr>
      <vt:lpstr>1-Données Text</vt:lpstr>
      <vt:lpstr>Les formulaires</vt:lpstr>
      <vt:lpstr>Présentation PowerPoint</vt:lpstr>
      <vt:lpstr>Liens Hypertext</vt:lpstr>
      <vt:lpstr>Méthodologie</vt:lpstr>
      <vt:lpstr>TP 1- Envoie des données Text</vt:lpstr>
      <vt:lpstr>Fichiers Text </vt:lpstr>
      <vt:lpstr>TP 2-Fichiers Text (Lecture/Ecriture)</vt:lpstr>
      <vt:lpstr>2-Envoyer des Fichiers</vt:lpstr>
      <vt:lpstr>TP 3-Hebergeur d’images</vt:lpstr>
      <vt:lpstr>TP 4-Fichiers</vt:lpstr>
      <vt:lpstr>TDMClassroom</vt:lpstr>
      <vt:lpstr>  accueil</vt:lpstr>
      <vt:lpstr>Nouveau</vt:lpstr>
      <vt:lpstr>Recherche</vt:lpstr>
      <vt:lpstr>Présentation PowerPoint</vt:lpstr>
      <vt:lpstr>$_SERVER</vt:lpstr>
      <vt:lpstr>$_REQUEST</vt:lpstr>
      <vt:lpstr>Ternary operator</vt:lpstr>
      <vt:lpstr>Coalescing Operator (PHP 7) </vt:lpstr>
      <vt:lpstr>Les Sessions</vt:lpstr>
      <vt:lpstr>conserver des variables  de page en pages (rendre des variables accéssibles dans plusieurs pages) </vt:lpstr>
      <vt:lpstr>Bonne solution :Les sessions</vt:lpstr>
      <vt:lpstr>Fonctionnement des sessions</vt:lpstr>
      <vt:lpstr>Utilisation en php</vt:lpstr>
      <vt:lpstr>Exemples courants de leur mise en application </vt:lpstr>
      <vt:lpstr>Les Cookies</vt:lpstr>
      <vt:lpstr>Authentification persistante </vt:lpstr>
      <vt:lpstr>Présentation PowerPoint</vt:lpstr>
      <vt:lpstr>Cas1 : si l’utilisateur clique sur submit</vt:lpstr>
      <vt:lpstr>Cas2 : sinon (au chargement de la page)</vt:lpstr>
      <vt:lpstr>Exercice 1:</vt:lpstr>
      <vt:lpstr>Programmation Orienté Objet</vt:lpstr>
      <vt:lpstr>1-Créer une classe</vt:lpstr>
      <vt:lpstr>Exemple :  Personnage</vt:lpstr>
      <vt:lpstr>Présentation PowerPoint</vt:lpstr>
      <vt:lpstr>Présentation PowerPoint</vt:lpstr>
      <vt:lpstr>Présentation PowerPoint</vt:lpstr>
      <vt:lpstr>Présentation PowerPoint</vt:lpstr>
      <vt:lpstr>Présentation PowerPoint</vt:lpstr>
      <vt:lpstr>Appel des méthodes:</vt:lpstr>
      <vt:lpstr>L’Héritage</vt:lpstr>
      <vt:lpstr>TP 5 panier de fruits</vt:lpstr>
      <vt:lpstr>TP E-Fruit</vt:lpstr>
      <vt:lpstr>Se connecter à une base de données </vt:lpstr>
      <vt:lpstr>I-Accès procédural</vt:lpstr>
      <vt:lpstr>II-Acces orienté objet :</vt:lpstr>
      <vt:lpstr>PDO</vt:lpstr>
      <vt:lpstr>Présentation PowerPoint</vt:lpstr>
      <vt:lpstr>Présentation PowerPoint</vt:lpstr>
      <vt:lpstr>Présentation PowerPoint</vt:lpstr>
      <vt:lpstr>Présentation PowerPoint</vt:lpstr>
      <vt:lpstr>Création d’une Class DataAccess</vt:lpstr>
      <vt:lpstr>Exercice 1:</vt:lpstr>
      <vt:lpstr>Exercice 2:</vt:lpstr>
      <vt:lpstr>Sécuriser ses données</vt:lpstr>
      <vt:lpstr>Exemple:</vt:lpstr>
      <vt:lpstr>htmlspecialchars</vt:lpstr>
      <vt:lpstr>TDMClassroom</vt:lpstr>
      <vt:lpstr>Table Student</vt:lpstr>
      <vt:lpstr>  accueil</vt:lpstr>
      <vt:lpstr>Nouveau</vt:lpstr>
      <vt:lpstr>Recherche</vt:lpstr>
      <vt:lpstr>Mise à jour</vt:lpstr>
      <vt:lpstr>Présentation PowerPoint</vt:lpstr>
      <vt:lpstr>E-Fruit (Admin)</vt:lpstr>
      <vt:lpstr>Admin use cases</vt:lpstr>
      <vt:lpstr>TP 6</vt:lpstr>
      <vt:lpstr>Diagramme use case</vt:lpstr>
      <vt:lpstr>Visiteur</vt:lpstr>
      <vt:lpstr>Acc.php</vt:lpstr>
      <vt:lpstr>Menu.php</vt:lpstr>
      <vt:lpstr>Integrer le plugin jquery(Zoombox)</vt:lpstr>
      <vt:lpstr>Login.php</vt:lpstr>
      <vt:lpstr>Inscription.php</vt:lpstr>
      <vt:lpstr>Gestion du Panier</vt:lpstr>
      <vt:lpstr>Présentation PowerPoint</vt:lpstr>
      <vt:lpstr>Présentation PowerPoint</vt:lpstr>
      <vt:lpstr>Transaction valider</vt:lpstr>
      <vt:lpstr>HTML2PDF</vt:lpstr>
      <vt:lpstr>Présentation PowerPoint</vt:lpstr>
      <vt:lpstr>Facture</vt:lpstr>
      <vt:lpstr>Admin</vt:lpstr>
      <vt:lpstr>index_Categories.php (Modifier/Supprimer)</vt:lpstr>
      <vt:lpstr>Insertcateg.php</vt:lpstr>
      <vt:lpstr>Page accueil_admin.php</vt:lpstr>
      <vt:lpstr>Page insert.php</vt:lpstr>
      <vt:lpstr>Page view.php</vt:lpstr>
      <vt:lpstr>Page delete.php</vt:lpstr>
      <vt:lpstr>Page update.php</vt:lpstr>
      <vt:lpstr>Graphique (Artichow) </vt:lpstr>
      <vt:lpstr>Exemple:</vt:lpstr>
      <vt:lpstr>Exercice:</vt:lpstr>
      <vt:lpstr>URL rewriting </vt:lpstr>
      <vt:lpstr>TP 7 </vt:lpstr>
      <vt:lpstr>Diagramme use case</vt:lpstr>
      <vt:lpstr>Présentation PowerPoint</vt:lpstr>
      <vt:lpstr>Présentation PowerPoint</vt:lpstr>
      <vt:lpstr>Présentation PowerPoint</vt:lpstr>
      <vt:lpstr>Présentation PowerPoint</vt:lpstr>
      <vt:lpstr>I-Retour HTML</vt:lpstr>
      <vt:lpstr> JSON:</vt:lpstr>
      <vt:lpstr>Caractéristiques de JSON: </vt:lpstr>
      <vt:lpstr>Types de données JSON </vt:lpstr>
      <vt:lpstr>Présentation PowerPoint</vt:lpstr>
      <vt:lpstr>Présentation PowerPoint</vt:lpstr>
      <vt:lpstr>Comment lire les différents types de structure JSON </vt:lpstr>
      <vt:lpstr>Présentation PowerPoint</vt:lpstr>
      <vt:lpstr>Présentation PowerPoint</vt:lpstr>
      <vt:lpstr>Exercice 1:</vt:lpstr>
      <vt:lpstr>Donner l'équivalence en JSON :</vt:lpstr>
      <vt:lpstr>TP- Lecteur Music</vt:lpstr>
      <vt:lpstr>Albume.json</vt:lpstr>
      <vt:lpstr>Sérialisation / Dessérialisation</vt:lpstr>
      <vt:lpstr>Fonctions</vt:lpstr>
      <vt:lpstr>II-Retour JSON</vt:lpstr>
      <vt:lpstr>TP 8 (JSON)</vt:lpstr>
      <vt:lpstr>TP 9 -Atlas Restaurant: "Gestion des Réservations" </vt:lpstr>
      <vt:lpstr>TP 10</vt:lpstr>
      <vt:lpstr>TP 11 (mini projet : TDM-Annonces)</vt:lpstr>
      <vt:lpstr>Présentation PowerPoint</vt:lpstr>
      <vt:lpstr>Définition</vt:lpstr>
      <vt:lpstr>Exemple </vt:lpstr>
      <vt:lpstr>Présentation PowerPoint</vt:lpstr>
      <vt:lpstr>Présentation PowerPoint</vt:lpstr>
      <vt:lpstr>Présentation PowerPoint</vt:lpstr>
      <vt:lpstr>Installer l’extension JSONformatter (Chrome)</vt:lpstr>
      <vt:lpstr>Présentation PowerPoint</vt:lpstr>
      <vt:lpstr>1-Declarer la source du service web : </vt:lpstr>
      <vt:lpstr>2-Lire le flux JSON</vt:lpstr>
      <vt:lpstr>3-Décoder le code JSON</vt:lpstr>
      <vt:lpstr>Exemple 1:</vt:lpstr>
      <vt:lpstr>E-commerce</vt:lpstr>
      <vt:lpstr>Définition</vt:lpstr>
      <vt:lpstr>caractéristiques</vt:lpstr>
      <vt:lpstr>Structure</vt:lpstr>
      <vt:lpstr>Présentation PowerPoint</vt:lpstr>
      <vt:lpstr>Sources du trafic</vt:lpstr>
      <vt:lpstr>terminologie</vt:lpstr>
      <vt:lpstr>COD - Dropshipping</vt:lpstr>
      <vt:lpstr>Laravel</vt:lpstr>
      <vt:lpstr>Qu’est ce qu’un Framework</vt:lpstr>
      <vt:lpstr>Le framework Laravel offre : </vt:lpstr>
      <vt:lpstr>Présentation PowerPoint</vt:lpstr>
      <vt:lpstr>Créer un Projet Laravel</vt:lpstr>
      <vt:lpstr>Architecture d’un projet Laravel:</vt:lpstr>
      <vt:lpstr>Présentation PowerPoint</vt:lpstr>
      <vt:lpstr>Présentation PowerPoint</vt:lpstr>
      <vt:lpstr>Présentation du projet :</vt:lpstr>
      <vt:lpstr>Les Fondamentaux</vt:lpstr>
      <vt:lpstr>Routing</vt:lpstr>
      <vt:lpstr>Présentation PowerPoint</vt:lpstr>
      <vt:lpstr>Présentation PowerPoint</vt:lpstr>
      <vt:lpstr>Responses</vt:lpstr>
    </vt:vector>
  </TitlesOfParts>
  <Company>ofppt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Programmation des sites web dynamiques (PHP MySQL)</dc:title>
  <dc:creator>karim</dc:creator>
  <cp:lastModifiedBy>Admin</cp:lastModifiedBy>
  <cp:revision>650</cp:revision>
  <dcterms:created xsi:type="dcterms:W3CDTF">2010-10-12T17:17:41Z</dcterms:created>
  <dcterms:modified xsi:type="dcterms:W3CDTF">2026-03-25T11:23:37Z</dcterms:modified>
</cp:coreProperties>
</file>